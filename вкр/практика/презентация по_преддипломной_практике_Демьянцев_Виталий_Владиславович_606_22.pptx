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87" r:id="rId6"/>
    <p:sldId id="260" r:id="rId7"/>
    <p:sldId id="283" r:id="rId8"/>
    <p:sldId id="288" r:id="rId9"/>
    <p:sldId id="293" r:id="rId10"/>
    <p:sldId id="284" r:id="rId11"/>
    <p:sldId id="264" r:id="rId12"/>
    <p:sldId id="266" r:id="rId13"/>
    <p:sldId id="290" r:id="rId14"/>
    <p:sldId id="291" r:id="rId15"/>
    <p:sldId id="294" r:id="rId16"/>
    <p:sldId id="289" r:id="rId17"/>
    <p:sldId id="280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EF1F35D-CE6B-ADDB-FDB9-CD9C55B407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B66112-651F-AEBD-6B85-767E04E75F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0263-EA9F-497A-96B0-1CCF8BC43BB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7B29B0-EAB6-0B0C-CB03-B9C3145293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958B48-5A14-EDA4-AC95-A317551274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B2736-D875-4BC4-8EB6-BA4CC5004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0271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A11-D777-4A21-A270-6F8A09B2D137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B6E01-9A66-45F7-9913-E47108469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04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6E196-4804-4F42-898A-0FC902D9B484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3C7D8F-2A26-4A8C-918C-F8DEED5C5692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9064" y="6521570"/>
            <a:ext cx="1124309" cy="3364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F38BAD-298E-4C7C-BB8A-26FD3D33ECCE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74C74B-F198-4F1D-A85F-7D813148100B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4B2F3-C8F7-4496-AB1D-5B712B52D4CC}" type="datetime1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17ECC-D4AC-4388-A12E-1F5EBDCBE0DE}" type="datetime1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ABE4D9-AEC4-4B77-B4CC-7FBE63FE841C}" type="datetime1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664E07-3D79-4A05-BB0B-898AD5671495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552C21-0914-4B44-973B-AE86C28FD0CC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5369D4-ACF4-452B-B065-8EB5038972C3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B40BE4-505E-422D-8FE2-7C14F619B5A8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7690" y="6521570"/>
            <a:ext cx="1124309" cy="336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mtClean="0"/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r>
              <a:rPr lang="ru-RU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ПРОИЗВОДСТВЕННАЯ ПРАКТИКА, ПРЕДДИПЛОМНАЯ ПРАКТИКА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студент группы 606-22 Демьянцев В.В.</a:t>
            </a:r>
          </a:p>
          <a:p>
            <a:pPr algn="r"/>
            <a:r>
              <a:rPr lang="ru-RU" dirty="0"/>
              <a:t>Руководитель практики: старший преподаватель </a:t>
            </a:r>
            <a:r>
              <a:rPr lang="ru-RU" dirty="0" err="1"/>
              <a:t>каф.АСОИУ</a:t>
            </a:r>
            <a:r>
              <a:rPr lang="ru-RU" dirty="0"/>
              <a:t> </a:t>
            </a:r>
            <a:r>
              <a:rPr lang="ru-RU" dirty="0" err="1"/>
              <a:t>Бурдыко</a:t>
            </a:r>
            <a:r>
              <a:rPr lang="ru-RU" dirty="0"/>
              <a:t> Т.Г.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26464"/>
            <a:ext cx="11530584" cy="4828031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Цель: Разработать программную часть системы распознавания эмоций человека на основе ИНС с использованием методов компьютерного зрения и глубокого обучения.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Задачи практики: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Описание средств и технологий разработки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Проработка видов обеспечения: информационное, программное</a:t>
            </a:r>
            <a:r>
              <a:rPr lang="ru-RU" sz="2000"/>
              <a:t>, алгоритмическое, </a:t>
            </a:r>
            <a:r>
              <a:rPr lang="ru-RU" sz="2000" dirty="0"/>
              <a:t>техническое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Реализация модуля анализа лица и эмоций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Реализация модуля распознавания речи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Разработка пользовательского интерфейса ПО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Интеграция модулей ИИ в единую систему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Подготовить отчёт по преддипломной практике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BD14C5-A728-280F-7BFA-0B641D24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/>
              <a:t>Рост значимости эмоционального интеллекта в HR: современные подходы к управлению персоналом подчеркивают важность учёта эмоционального состояния для повышения производительности и снижения текучести кадров.</a:t>
            </a:r>
          </a:p>
          <a:p>
            <a:pPr algn="just"/>
            <a:r>
              <a:rPr lang="ru-RU" dirty="0"/>
              <a:t>Ограниченность традиционных методов: субъективные оценки и анкетирование не обеспечивают высокой точности и оперативности, что затрудняет своевременное выявление профессионального выгорания.</a:t>
            </a:r>
          </a:p>
          <a:p>
            <a:pPr algn="just"/>
            <a:r>
              <a:rPr lang="ru-RU" dirty="0"/>
              <a:t>Развитие технологий ИИ: прогресс в области компьютерного зрения и обработки аудиосигналов создаёт основу для автоматизированного анализа эмоций в режиме, близком к реальному времени.</a:t>
            </a:r>
          </a:p>
          <a:p>
            <a:pPr algn="just"/>
            <a:r>
              <a:rPr lang="ru-RU" dirty="0"/>
              <a:t>Потребность в мультимодальном анализе: комплексный подход, объединяющий видео- и аудиоданные, позволяет учитывать взаимодополняющие признаки, повышая точность классификации.</a:t>
            </a:r>
          </a:p>
          <a:p>
            <a:pPr algn="just"/>
            <a:r>
              <a:rPr lang="ru-RU" dirty="0"/>
              <a:t>Автоматизация снижает нагрузку на HR-специалистов, обеспечивает объективность оценки и формирует количественные метрики для принятия управленческих решений.</a:t>
            </a:r>
          </a:p>
          <a:p>
            <a:pPr algn="just"/>
            <a:r>
              <a:rPr lang="ru-RU" dirty="0"/>
              <a:t>Актуальность обусловлена отсутствием доступных систем, адаптированных под задачи HR и соответствие требованиям ФЗ-152 о локализации и защите персональных данных сотрудников.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89" y="59192"/>
            <a:ext cx="10515600" cy="1325563"/>
          </a:xfrm>
        </p:spPr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2F14302-1BF2-E1DF-19A8-0E74AB6A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663" y="2120804"/>
            <a:ext cx="3699318" cy="138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339DE64-170F-3267-C6E5-0C47E9D93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76" y="1445684"/>
            <a:ext cx="1871472" cy="187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28767BEC-E43E-ABAE-D052-1CD818E5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82" y="3575536"/>
            <a:ext cx="2035466" cy="21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09F2891-D9F2-175C-53BA-BE3D9B22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75" y="3575535"/>
            <a:ext cx="2100602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56A00DD1-6DEC-2ED3-2ECC-A70C2009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11" y="1328398"/>
            <a:ext cx="2278570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3019EF-FE78-BCB1-DCCA-2ABAD458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98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Средства и технологии разработки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Искусственный интеллект (ИИ) — это направление компьютерных наук, нацеленное на создание систем, способных выполнять задачи, требующие человеческого интеллекта.</a:t>
            </a:r>
            <a:endParaRPr lang="en-US" dirty="0"/>
          </a:p>
          <a:p>
            <a:pPr algn="just"/>
            <a:r>
              <a:rPr lang="ru-RU" dirty="0" err="1"/>
              <a:t>Свёрточные</a:t>
            </a:r>
            <a:r>
              <a:rPr lang="ru-RU" dirty="0"/>
              <a:t> нейронные сети (CNN) – архитектура глубокого обучения, автоматически извлекающая иерархические признаки из изображений. Идеально подходит для анализа мимики и детекции объектов в видеопотоке без ручного выделения характеристик.</a:t>
            </a:r>
          </a:p>
          <a:p>
            <a:pPr algn="just"/>
            <a:r>
              <a:rPr lang="ru-RU" dirty="0"/>
              <a:t>Рекуррентные нейронные сети и трансформеры – модели, оптимизированные для работы с последовательностями данных. Применяются для анализа аудиопотока, распознавания речи и выявления просодических маркеров эмоционального состояния.</a:t>
            </a:r>
          </a:p>
          <a:p>
            <a:pPr algn="just"/>
            <a:r>
              <a:rPr lang="ru-RU" dirty="0"/>
              <a:t>Мультимодальный анализ – методология совместной обработки разнородных данных (видео, аудио, текст), позволяющая компенсировать ограничения отдельных модальностей и повысить надёжность классификации в реальных условиях.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957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71" y="898762"/>
            <a:ext cx="11339093" cy="40115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Основные этапы работы модуля: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захват кадров с веб-камеры через браузерные API;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детекция и локализация лица на изображении;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выравнивание и нормализация области лица;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извлечение признаков с использованием </a:t>
            </a:r>
            <a:r>
              <a:rPr lang="ru-RU" sz="2400" dirty="0" err="1"/>
              <a:t>предобученных</a:t>
            </a:r>
            <a:r>
              <a:rPr lang="ru-RU" sz="2400" dirty="0"/>
              <a:t> CNN-моделей;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классификация эмоционального состояния;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передача результатов аналитики в систему через </a:t>
            </a:r>
            <a:r>
              <a:rPr lang="ru-RU" sz="2400" dirty="0" err="1"/>
              <a:t>WebSocket</a:t>
            </a:r>
            <a:r>
              <a:rPr lang="ru-RU" sz="2400" dirty="0"/>
              <a:t>. </a:t>
            </a:r>
          </a:p>
          <a:p>
            <a:pPr marL="0" indent="0">
              <a:buNone/>
            </a:pPr>
            <a:r>
              <a:rPr lang="ru-RU" sz="2400" dirty="0"/>
              <a:t>Дополнительно система поддерживает: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обработку нескольких лиц одновременно;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отслеживание изменений эмоций во времени;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агрегацию результатов в аналитические события и отчёты.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1" y="103553"/>
            <a:ext cx="10515600" cy="673688"/>
          </a:xfrm>
        </p:spPr>
        <p:txBody>
          <a:bodyPr>
            <a:normAutofit/>
          </a:bodyPr>
          <a:lstStyle/>
          <a:p>
            <a:r>
              <a:rPr lang="ru-RU" sz="4000" dirty="0"/>
              <a:t>Модуль анализа лица и эмоций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C9E070-DAEE-B241-0A58-56DA4A87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MTCNN (Multi-</a:t>
            </a:r>
            <a:r>
              <a:rPr lang="ru-RU" sz="2400" dirty="0" err="1"/>
              <a:t>task</a:t>
            </a:r>
            <a:r>
              <a:rPr lang="ru-RU" sz="2400" dirty="0"/>
              <a:t> </a:t>
            </a:r>
            <a:r>
              <a:rPr lang="ru-RU" sz="2400" dirty="0" err="1"/>
              <a:t>Cascaded</a:t>
            </a:r>
            <a:r>
              <a:rPr lang="ru-RU" sz="2400" dirty="0"/>
              <a:t> CNN) – каскадная архитектура из трёх сетей, последовательно уточняющих положение лица и определяющих 5 ключевых точек. Обеспечивает высокую скорость детекции при сохранении точности даже при частичных перекрытиях.</a:t>
            </a:r>
          </a:p>
          <a:p>
            <a:pPr algn="just"/>
            <a:r>
              <a:rPr lang="ru-RU" sz="2400" dirty="0" err="1"/>
              <a:t>DeepFace</a:t>
            </a:r>
            <a:r>
              <a:rPr lang="ru-RU" sz="2400" dirty="0"/>
              <a:t> – мета-библиотека, предоставляющая доступ к </a:t>
            </a:r>
            <a:r>
              <a:rPr lang="ru-RU" sz="2400" dirty="0" err="1"/>
              <a:t>предобученным</a:t>
            </a:r>
            <a:r>
              <a:rPr lang="ru-RU" sz="2400" dirty="0"/>
              <a:t> моделям (VGG-Face, Facenet512, </a:t>
            </a:r>
            <a:r>
              <a:rPr lang="ru-RU" sz="2400" dirty="0" err="1"/>
              <a:t>EfficientNet</a:t>
            </a:r>
            <a:r>
              <a:rPr lang="ru-RU" sz="2400" dirty="0"/>
              <a:t>). Позволяет гибко выбирать архитектуру в зависимости от требований к точности и вычислительной нагрузке.</a:t>
            </a:r>
          </a:p>
          <a:p>
            <a:pPr algn="just"/>
            <a:r>
              <a:rPr lang="ru-RU" sz="2400" dirty="0" err="1"/>
              <a:t>OpenCV</a:t>
            </a:r>
            <a:r>
              <a:rPr lang="ru-RU" sz="2400" dirty="0"/>
              <a:t> – библиотека компьютерного зрения, используемая для предобработки кадров, изменения размера, конвертации форматов и наложения результатов анализа на видеопоток в реальном времени.</a:t>
            </a:r>
          </a:p>
          <a:p>
            <a:pPr marL="0" indent="0" algn="just">
              <a:buNone/>
            </a:pPr>
            <a:r>
              <a:rPr lang="ru-RU" sz="2400" dirty="0"/>
              <a:t>Комбинация данных инструментов реализует последовательный </a:t>
            </a:r>
            <a:r>
              <a:rPr lang="ru-RU" sz="2400" dirty="0" err="1"/>
              <a:t>pipeline</a:t>
            </a:r>
            <a:r>
              <a:rPr lang="ru-RU" sz="2400" dirty="0"/>
              <a:t> </a:t>
            </a:r>
            <a:r>
              <a:rPr lang="ru-RU" sz="2400" dirty="0" err="1"/>
              <a:t>обработки:детекция</a:t>
            </a:r>
            <a:r>
              <a:rPr lang="ru-RU" sz="2400" dirty="0"/>
              <a:t> лица → выравнивание → извлечение признаков → классификация эмоций.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9321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Библиотеки и модели компьютерного зрения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BC27D8-DE64-58D4-3124-30AD9D61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839485"/>
            <a:ext cx="10515600" cy="58396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Основные функции:</a:t>
            </a:r>
          </a:p>
          <a:p>
            <a:pPr algn="just"/>
            <a:r>
              <a:rPr lang="ru-RU" sz="2400" dirty="0"/>
              <a:t>Захват видеопотока через браузерные API без установки дополнительных плагинов</a:t>
            </a:r>
          </a:p>
          <a:p>
            <a:pPr algn="just"/>
            <a:r>
              <a:rPr lang="ru-RU" sz="2400" dirty="0"/>
              <a:t>Детекция лиц и классификация базовых эмоций в реальном времени</a:t>
            </a:r>
          </a:p>
          <a:p>
            <a:pPr algn="just"/>
            <a:r>
              <a:rPr lang="ru-RU" sz="2400" dirty="0"/>
              <a:t>Отслеживание изменения эмоционального состояния в течение сессии с фиксацией временных меток</a:t>
            </a:r>
          </a:p>
          <a:p>
            <a:pPr algn="just"/>
            <a:r>
              <a:rPr lang="ru-RU" sz="2400" dirty="0"/>
              <a:t>Адаптивная частота отправки кадров для балансировки нагрузки на сеть и сервер</a:t>
            </a:r>
          </a:p>
          <a:p>
            <a:pPr marL="0" indent="0" algn="just">
              <a:buNone/>
            </a:pPr>
            <a:r>
              <a:rPr lang="ru-RU" sz="2400" dirty="0"/>
              <a:t>Дополнительные функции:</a:t>
            </a:r>
          </a:p>
          <a:p>
            <a:pPr algn="just"/>
            <a:r>
              <a:rPr lang="ru-RU" sz="2400" dirty="0"/>
              <a:t>Вычисление метрик вовлечённости на основе частоты и интенсивности эмоциональных проявлений</a:t>
            </a:r>
          </a:p>
          <a:p>
            <a:pPr algn="just"/>
            <a:r>
              <a:rPr lang="ru-RU" sz="2400" dirty="0"/>
              <a:t>Фильтрация ложных срабатываний при отсутствии лиц в кадре или при низком качестве освещения</a:t>
            </a:r>
          </a:p>
          <a:p>
            <a:pPr algn="just"/>
            <a:r>
              <a:rPr lang="ru-RU" sz="2400" dirty="0"/>
              <a:t>Экспорт сырых данных анализа в формате JSON для последующей агрегации в отчётах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анализа видео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Основные функции:</a:t>
            </a:r>
          </a:p>
          <a:p>
            <a:pPr marL="0" indent="0" algn="just">
              <a:buNone/>
            </a:pPr>
            <a:r>
              <a:rPr lang="ru-RU" sz="2400" dirty="0"/>
              <a:t>• Захват аудиопотока с микрофона в режиме реального времени</a:t>
            </a:r>
          </a:p>
          <a:p>
            <a:pPr marL="0" indent="0" algn="just">
              <a:buNone/>
            </a:pPr>
            <a:r>
              <a:rPr lang="ru-RU" sz="2400" dirty="0"/>
              <a:t>• Преобразование речевого сигнала в текстовое представление</a:t>
            </a:r>
          </a:p>
          <a:p>
            <a:pPr marL="0" indent="0" algn="just">
              <a:buNone/>
            </a:pPr>
            <a:r>
              <a:rPr lang="ru-RU" sz="2400" dirty="0"/>
              <a:t>• Разделение реплик по участникам встречи с сохранением временных меток</a:t>
            </a:r>
          </a:p>
          <a:p>
            <a:pPr marL="0" indent="0" algn="just">
              <a:buNone/>
            </a:pPr>
            <a:r>
              <a:rPr lang="ru-RU" sz="2400" dirty="0"/>
              <a:t>• Передача промежуточных и финальных результатов </a:t>
            </a:r>
            <a:r>
              <a:rPr lang="ru-RU" sz="2400" dirty="0" err="1"/>
              <a:t>транскрибации</a:t>
            </a:r>
            <a:r>
              <a:rPr lang="ru-RU" sz="2400" dirty="0"/>
              <a:t> в интерфейс</a:t>
            </a:r>
          </a:p>
          <a:p>
            <a:pPr marL="0" indent="0" algn="just">
              <a:buNone/>
            </a:pPr>
            <a:r>
              <a:rPr lang="ru-RU" sz="2400" dirty="0"/>
              <a:t>Дополнительные функции:</a:t>
            </a:r>
          </a:p>
          <a:p>
            <a:pPr marL="0" indent="0" algn="just">
              <a:buNone/>
            </a:pPr>
            <a:r>
              <a:rPr lang="ru-RU" sz="2400" dirty="0"/>
              <a:t>• Оценка уверенности распознавания и определение языка речи</a:t>
            </a:r>
          </a:p>
          <a:p>
            <a:pPr marL="0" indent="0" algn="just">
              <a:buNone/>
            </a:pPr>
            <a:r>
              <a:rPr lang="ru-RU" sz="2400" dirty="0"/>
              <a:t>• Фильтрация фоновых шумов и адаптация к качеству аудиосигнала</a:t>
            </a:r>
          </a:p>
          <a:p>
            <a:pPr marL="0" indent="0" algn="just">
              <a:buNone/>
            </a:pPr>
            <a:r>
              <a:rPr lang="ru-RU" sz="2400" dirty="0"/>
              <a:t>• Экспорт текстовых данных для последующей агрегации в аналитических отчётах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23" y="4927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распознавания речи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FAD4C5-9485-CAD1-9E76-C0411C61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3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64" y="969118"/>
            <a:ext cx="4856924" cy="5839612"/>
          </a:xfrm>
        </p:spPr>
        <p:txBody>
          <a:bodyPr>
            <a:normAutofit/>
          </a:bodyPr>
          <a:lstStyle/>
          <a:p>
            <a:pPr algn="just"/>
            <a:r>
              <a:rPr lang="ru-RU" sz="1800" dirty="0"/>
              <a:t>В связи с необходимостью более детального анализа мимики и положения головы в пространстве, в систему интегрирована модель </a:t>
            </a:r>
            <a:r>
              <a:rPr lang="ru-RU" sz="1800" dirty="0" err="1"/>
              <a:t>MediaPipe</a:t>
            </a:r>
            <a:r>
              <a:rPr lang="ru-RU" sz="1800" dirty="0"/>
              <a:t> Face </a:t>
            </a:r>
            <a:r>
              <a:rPr lang="ru-RU" sz="1800" dirty="0" err="1"/>
              <a:t>Landmarker</a:t>
            </a:r>
            <a:r>
              <a:rPr lang="ru-RU" sz="1800" dirty="0"/>
              <a:t> от Google.</a:t>
            </a:r>
          </a:p>
          <a:p>
            <a:pPr algn="just"/>
            <a:r>
              <a:rPr lang="ru-RU" sz="1800" dirty="0"/>
              <a:t>На вход модели подаётся выровненное изображение лица. Модель строит плотную сетку из 468 трёхмерных ключевых точек, охватывающих контуры глаз, бровей, носа, губ и овала лица.</a:t>
            </a:r>
          </a:p>
          <a:p>
            <a:pPr algn="just"/>
            <a:r>
              <a:rPr lang="ru-RU" sz="1800" dirty="0"/>
              <a:t>На выходе формируются </a:t>
            </a:r>
            <a:r>
              <a:rPr lang="ru-RU" sz="1800" dirty="0" err="1"/>
              <a:t>blendshape</a:t>
            </a:r>
            <a:r>
              <a:rPr lang="ru-RU" sz="1800" dirty="0"/>
              <a:t>-коэффициенты (активность групп лицевых мышц), углы поворота головы (</a:t>
            </a:r>
            <a:r>
              <a:rPr lang="ru-RU" sz="1800" dirty="0" err="1"/>
              <a:t>yaw</a:t>
            </a:r>
            <a:r>
              <a:rPr lang="ru-RU" sz="1800" dirty="0"/>
              <a:t>, </a:t>
            </a:r>
            <a:r>
              <a:rPr lang="ru-RU" sz="1800" dirty="0" err="1"/>
              <a:t>pitch</a:t>
            </a:r>
            <a:r>
              <a:rPr lang="ru-RU" sz="1800" dirty="0"/>
              <a:t>, </a:t>
            </a:r>
            <a:r>
              <a:rPr lang="ru-RU" sz="1800" dirty="0" err="1"/>
              <a:t>roll</a:t>
            </a:r>
            <a:r>
              <a:rPr lang="ru-RU" sz="1800" dirty="0"/>
              <a:t>) и данные для отслеживания </a:t>
            </a:r>
            <a:r>
              <a:rPr lang="ru-RU" sz="1800" dirty="0" err="1"/>
              <a:t>микровыражений</a:t>
            </a:r>
            <a:r>
              <a:rPr lang="ru-RU" sz="1800" dirty="0"/>
              <a:t>.</a:t>
            </a:r>
          </a:p>
          <a:p>
            <a:pPr algn="just"/>
            <a:r>
              <a:rPr lang="ru-RU" sz="1800" dirty="0"/>
              <a:t>Модель перезаписывает и обогащает базовые данные классификации, позволяя системе учитывать не только статические эмоции, но и динамику мимики</a:t>
            </a:r>
            <a:r>
              <a:rPr lang="en-US" sz="1800" dirty="0"/>
              <a:t>.</a:t>
            </a:r>
            <a:endParaRPr lang="ru-RU" sz="1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64" y="103552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Модель </a:t>
            </a:r>
            <a:r>
              <a:rPr lang="en-US" sz="4000" dirty="0" err="1"/>
              <a:t>MediaPipe</a:t>
            </a:r>
            <a:r>
              <a:rPr lang="en-US" sz="4000" dirty="0"/>
              <a:t> Face </a:t>
            </a:r>
            <a:r>
              <a:rPr lang="en-US" sz="4000" dirty="0" err="1"/>
              <a:t>Landmarker</a:t>
            </a:r>
            <a:endParaRPr lang="en-US" sz="4000" dirty="0"/>
          </a:p>
        </p:txBody>
      </p:sp>
      <p:pic>
        <p:nvPicPr>
          <p:cNvPr id="7" name="Рисунок 6" descr="Задача &quot;Опорный знак на лице&quot;">
            <a:extLst>
              <a:ext uri="{FF2B5EF4-FFF2-40B4-BE49-F238E27FC236}">
                <a16:creationId xmlns:a16="http://schemas.microsoft.com/office/drawing/2014/main" id="{AC6A1973-8F20-E21C-8984-347E2211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11" y="1429115"/>
            <a:ext cx="5940425" cy="325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38FBF3-4A9B-D591-C9C7-E929397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378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AAD23-B9AF-47EB-97C4-C8F7C478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Средство разработки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5FAD0-980E-4610-98D5-906FF259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368"/>
            <a:ext cx="9613392" cy="452628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dirty="0" err="1"/>
              <a:t>React</a:t>
            </a:r>
            <a:r>
              <a:rPr lang="ru-RU" dirty="0"/>
              <a:t> 18 + </a:t>
            </a:r>
            <a:r>
              <a:rPr lang="ru-RU" dirty="0" err="1"/>
              <a:t>TypeScript</a:t>
            </a:r>
            <a:r>
              <a:rPr lang="ru-RU" dirty="0"/>
              <a:t> + </a:t>
            </a:r>
            <a:r>
              <a:rPr lang="ru-RU" dirty="0" err="1"/>
              <a:t>Vite</a:t>
            </a:r>
            <a:r>
              <a:rPr lang="ru-RU" dirty="0"/>
              <a:t> – современный стек для создания высокопроизводительных одностраничных приложений. Типизированный код повышает надёжность разработки и упрощает поддержку системы.</a:t>
            </a:r>
          </a:p>
          <a:p>
            <a:pPr algn="just"/>
            <a:r>
              <a:rPr lang="ru-RU" dirty="0"/>
              <a:t>Приложение состоит из клиентской части (отображение медиа, аналитики, управление сессиями) и серверной логики. Чёткое разделение ответственности ускоряет разработку и тестирование.</a:t>
            </a:r>
          </a:p>
          <a:p>
            <a:pPr algn="just"/>
            <a:r>
              <a:rPr lang="ru-RU" dirty="0"/>
              <a:t>Инструменты экосистемы обеспечивают минимизацию перерисовок, кэширование серверного состояния и автоматическое обновление данных в реальном времени.</a:t>
            </a:r>
          </a:p>
          <a:p>
            <a:pPr algn="just"/>
            <a:r>
              <a:rPr lang="ru-RU" dirty="0"/>
              <a:t>Адаптивная вёрстка и поддержка тем оформления гарантируют корректное отображение на десктопах и планшетах, что соответствует требованиям современных корпоративных платформ.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BEF2B6-39B9-162E-8066-79C12B92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1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Информационное обеспечение АСУ – совокупность системно-ориентированных данных, описывающих принятый в системе словарь базовых описаний, классификаторы и актуализируемых данных о состоянии информационной модели на всех этапах жизненного цикла.</a:t>
            </a:r>
          </a:p>
          <a:p>
            <a:pPr algn="just"/>
            <a:r>
              <a:rPr lang="ru-RU" dirty="0"/>
              <a:t>Информационным обеспечением системы является набор обученных нейросетевых моделей, конфигурационных файлов и алгоритмов агрегации, с которыми взаимодействует программный комплекс.</a:t>
            </a:r>
          </a:p>
          <a:p>
            <a:pPr algn="just"/>
            <a:r>
              <a:rPr lang="ru-RU" dirty="0"/>
              <a:t>Входной информацией является:</a:t>
            </a:r>
          </a:p>
          <a:p>
            <a:pPr lvl="1" algn="just"/>
            <a:r>
              <a:rPr lang="ru-RU" dirty="0"/>
              <a:t>Видеопоток с веб-камеры (640×480+, 15–30 кадров/с, формат JPEG через </a:t>
            </a:r>
            <a:r>
              <a:rPr lang="ru-RU" dirty="0" err="1"/>
              <a:t>WebSocket</a:t>
            </a:r>
            <a:r>
              <a:rPr lang="ru-RU" dirty="0"/>
              <a:t>)</a:t>
            </a:r>
          </a:p>
          <a:p>
            <a:pPr lvl="1" algn="just"/>
            <a:r>
              <a:rPr lang="ru-RU" dirty="0"/>
              <a:t>Аудиопоток с микрофона (16 кГц, моно, формат </a:t>
            </a:r>
            <a:r>
              <a:rPr lang="ru-RU" dirty="0" err="1"/>
              <a:t>WebM</a:t>
            </a:r>
            <a:r>
              <a:rPr lang="ru-RU" dirty="0"/>
              <a:t>/Opus)</a:t>
            </a:r>
          </a:p>
          <a:p>
            <a:pPr algn="just"/>
            <a:r>
              <a:rPr lang="ru-RU" dirty="0"/>
              <a:t>Данные поступают непрерывно, обрабатываются в изолированных AI-шлюзах и сохраняются в реляционной СУБД с использованием формата JSONB для гибкого хранения разнородных аналитических событий.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65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эмоций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pPr algn="just"/>
            <a:r>
              <a:rPr lang="ru-RU" dirty="0"/>
              <a:t>Для обучения и валидации моделей классификации эмоций использовались открытые датасеты FER-2013 (35 000 изображений), </a:t>
            </a:r>
            <a:r>
              <a:rPr lang="ru-RU" dirty="0" err="1"/>
              <a:t>AffectNet</a:t>
            </a:r>
            <a:r>
              <a:rPr lang="ru-RU" dirty="0"/>
              <a:t> (1 000 000+ размеченных кадров) и RAF-DB.</a:t>
            </a:r>
          </a:p>
          <a:p>
            <a:pPr algn="just"/>
            <a:r>
              <a:rPr lang="ru-RU" dirty="0"/>
              <a:t>Изображения прошли предварительную подготовку: нормализация размера, конвертация в градации серого, выравнивание геометрии лица на основе ключевых точек.</a:t>
            </a:r>
          </a:p>
          <a:p>
            <a:pPr algn="just"/>
            <a:r>
              <a:rPr lang="ru-RU" dirty="0"/>
              <a:t>Для повышения устойчивости модели к изменениям освещения и ракурсов применялось </a:t>
            </a:r>
            <a:r>
              <a:rPr lang="ru-RU" dirty="0" err="1"/>
              <a:t>аугментирование</a:t>
            </a:r>
            <a:r>
              <a:rPr lang="ru-RU" dirty="0"/>
              <a:t>: случайные повороты, сдвиги, изменение контрастности и добавление шума.</a:t>
            </a:r>
          </a:p>
          <a:p>
            <a:pPr algn="just"/>
            <a:r>
              <a:rPr lang="ru-RU" dirty="0"/>
              <a:t>Разметка осуществлялась по 7 категориям (6 базовых эмоций + нейтрально) с перекрёстной проверкой </a:t>
            </a:r>
            <a:r>
              <a:rPr lang="ru-RU" dirty="0" err="1"/>
              <a:t>аннотаторов</a:t>
            </a:r>
            <a:r>
              <a:rPr lang="ru-RU" dirty="0"/>
              <a:t> для минимизации ошибок в обучающей выборке.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FC8532-F45A-69C0-A2DF-8DF9C82C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091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распознавания речи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r>
              <a:rPr lang="ru-RU" dirty="0"/>
              <a:t>Для обучения и тонкой настройки модели распознавания речи использовались многоязычные датасеты </a:t>
            </a:r>
            <a:r>
              <a:rPr lang="ru-RU" dirty="0" err="1"/>
              <a:t>LibriSpeech</a:t>
            </a:r>
            <a:r>
              <a:rPr lang="ru-RU" dirty="0"/>
              <a:t> (1000 часов размеченной речи) и Mozilla Common Voice.</a:t>
            </a:r>
          </a:p>
          <a:p>
            <a:r>
              <a:rPr lang="ru-RU" dirty="0"/>
              <a:t>Аудиозаписи прошли предобработку: приведение к единой частоте дискретизации 16 кГц, нормализация громкости, фильтрация низкочастотных шумов и удаление сегментов с молчанием.</a:t>
            </a:r>
          </a:p>
          <a:p>
            <a:r>
              <a:rPr lang="ru-RU" dirty="0"/>
              <a:t>Для адаптации под русскоязычные HR-сценарии применялась дополнительная разметка профессиональной терминологии и коррекция фонетических особенностей речи.</a:t>
            </a:r>
          </a:p>
          <a:p>
            <a:r>
              <a:rPr lang="ru-RU" dirty="0"/>
              <a:t>Датасеты разделены на обучающую, </a:t>
            </a:r>
            <a:r>
              <a:rPr lang="ru-RU" dirty="0" err="1"/>
              <a:t>валидационную</a:t>
            </a:r>
            <a:r>
              <a:rPr lang="ru-RU" dirty="0"/>
              <a:t> и тестовую выборки для объективной оценки метрики WER (Word </a:t>
            </a:r>
            <a:r>
              <a:rPr lang="ru-RU" dirty="0" err="1"/>
              <a:t>Error</a:t>
            </a:r>
            <a:r>
              <a:rPr lang="ru-RU" dirty="0"/>
              <a:t> Rate) и предотвращения переобучения модели.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6FA01B-9A52-F89F-A16D-335822DC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345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502887"/>
            <a:ext cx="480634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Алгоритмическое обеспечение. Алгоритм работы программы</a:t>
            </a:r>
          </a:p>
        </p:txBody>
      </p:sp>
      <p:pic>
        <p:nvPicPr>
          <p:cNvPr id="14" name="Рисунок 13" descr="Изображение выглядит как текст, снимок экрана, Шрифт, круг&#10;&#10;Автоматически созданное описание">
            <a:extLst>
              <a:ext uri="{FF2B5EF4-FFF2-40B4-BE49-F238E27FC236}">
                <a16:creationId xmlns:a16="http://schemas.microsoft.com/office/drawing/2014/main" id="{64B798B7-B817-76FD-B22A-243899D54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98" y="93216"/>
            <a:ext cx="7577678" cy="645279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1DB20-C1C1-2C1C-3C13-1BAAD229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4590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240AF3-3AA3-3709-E167-D4F5A9CA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70743"/>
            <a:ext cx="10222992" cy="5224572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7468337-8816-F43C-CDDA-70151382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93216"/>
            <a:ext cx="10515600" cy="1325563"/>
          </a:xfrm>
        </p:spPr>
        <p:txBody>
          <a:bodyPr/>
          <a:lstStyle/>
          <a:p>
            <a:r>
              <a:rPr lang="ru-RU" dirty="0"/>
              <a:t>Интерфейс 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DA7844C-4845-591E-A755-51634616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925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92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В результате прохождения практики были изучены и описаны средства разработки: языки </a:t>
            </a:r>
            <a:r>
              <a:rPr lang="ru-RU" dirty="0" err="1"/>
              <a:t>TypeScript</a:t>
            </a:r>
            <a:r>
              <a:rPr lang="ru-RU" dirty="0"/>
              <a:t>, Go, Python, фреймворки </a:t>
            </a:r>
            <a:r>
              <a:rPr lang="ru-RU" dirty="0" err="1"/>
              <a:t>React</a:t>
            </a:r>
            <a:r>
              <a:rPr lang="ru-RU" dirty="0"/>
              <a:t>, </a:t>
            </a:r>
            <a:r>
              <a:rPr lang="ru-RU" dirty="0" err="1"/>
              <a:t>Gin</a:t>
            </a:r>
            <a:r>
              <a:rPr lang="ru-RU" dirty="0"/>
              <a:t>, </a:t>
            </a:r>
            <a:r>
              <a:rPr lang="ru-RU" dirty="0" err="1"/>
              <a:t>FastAPI</a:t>
            </a:r>
            <a:r>
              <a:rPr lang="ru-RU" dirty="0"/>
              <a:t>, </a:t>
            </a:r>
            <a:r>
              <a:rPr lang="ru-RU" dirty="0" err="1"/>
              <a:t>сверточные</a:t>
            </a:r>
            <a:r>
              <a:rPr lang="ru-RU" dirty="0"/>
              <a:t> и рекуррентные нейронные сети, библиотеки </a:t>
            </a:r>
            <a:r>
              <a:rPr lang="ru-RU" dirty="0" err="1"/>
              <a:t>OpenCV</a:t>
            </a:r>
            <a:r>
              <a:rPr lang="ru-RU" dirty="0"/>
              <a:t>, </a:t>
            </a:r>
            <a:r>
              <a:rPr lang="ru-RU" dirty="0" err="1"/>
              <a:t>DeepFace</a:t>
            </a:r>
            <a:r>
              <a:rPr lang="ru-RU" dirty="0"/>
              <a:t>, </a:t>
            </a:r>
            <a:r>
              <a:rPr lang="ru-RU" dirty="0" err="1"/>
              <a:t>MediaPipe</a:t>
            </a:r>
            <a:r>
              <a:rPr lang="ru-RU" dirty="0"/>
              <a:t>, </a:t>
            </a:r>
            <a:r>
              <a:rPr lang="ru-RU" dirty="0" err="1"/>
              <a:t>faster-whisper</a:t>
            </a:r>
            <a:r>
              <a:rPr lang="ru-RU" dirty="0"/>
              <a:t>, СУБД </a:t>
            </a:r>
            <a:r>
              <a:rPr lang="ru-RU" dirty="0" err="1"/>
              <a:t>PostgreSQL</a:t>
            </a:r>
            <a:r>
              <a:rPr lang="ru-RU" dirty="0"/>
              <a:t>, среда Draw.io.</a:t>
            </a:r>
          </a:p>
          <a:p>
            <a:pPr algn="just"/>
            <a:r>
              <a:rPr lang="ru-RU" dirty="0"/>
              <a:t>Проработаны виды обеспечения: информационное (видео/аудиопотоки, датасеты), программное (клиент-серверная архитектура, </a:t>
            </a:r>
            <a:r>
              <a:rPr lang="ru-RU" dirty="0" err="1"/>
              <a:t>микросервисы</a:t>
            </a:r>
            <a:r>
              <a:rPr lang="ru-RU" dirty="0"/>
              <a:t>), алгоритмическое (детекция, </a:t>
            </a:r>
            <a:r>
              <a:rPr lang="ru-RU" dirty="0" err="1"/>
              <a:t>транскрибация</a:t>
            </a:r>
            <a:r>
              <a:rPr lang="ru-RU" dirty="0"/>
              <a:t>, </a:t>
            </a:r>
            <a:r>
              <a:rPr lang="ru-RU" dirty="0" err="1"/>
              <a:t>late</a:t>
            </a:r>
            <a:r>
              <a:rPr lang="ru-RU" dirty="0"/>
              <a:t> </a:t>
            </a:r>
            <a:r>
              <a:rPr lang="ru-RU" dirty="0" err="1"/>
              <a:t>fusion</a:t>
            </a:r>
            <a:r>
              <a:rPr lang="ru-RU" dirty="0"/>
              <a:t>), математическое (метрики точности, WER).</a:t>
            </a:r>
          </a:p>
          <a:p>
            <a:pPr algn="just"/>
            <a:r>
              <a:rPr lang="ru-RU" dirty="0"/>
              <a:t>Реализованы модули анализа лица и эмоций на основе MTCNN и </a:t>
            </a:r>
            <a:r>
              <a:rPr lang="ru-RU" dirty="0" err="1"/>
              <a:t>предобученных</a:t>
            </a:r>
            <a:r>
              <a:rPr lang="ru-RU" dirty="0"/>
              <a:t> CNN, а также модуль распознавания речи </a:t>
            </a:r>
            <a:r>
              <a:rPr lang="ru-RU" dirty="0" err="1"/>
              <a:t>faster-whisper</a:t>
            </a:r>
            <a:r>
              <a:rPr lang="ru-RU" dirty="0"/>
              <a:t> с поддержкой </a:t>
            </a:r>
            <a:r>
              <a:rPr lang="ru-RU" dirty="0" err="1"/>
              <a:t>streaming</a:t>
            </a:r>
            <a:r>
              <a:rPr lang="ru-RU" dirty="0"/>
              <a:t>-обработки.</a:t>
            </a:r>
          </a:p>
          <a:p>
            <a:pPr algn="just"/>
            <a:r>
              <a:rPr lang="ru-RU" dirty="0"/>
              <a:t>Модули интегрированы в единую веб-платформу, протестированы в смоделированных HR-сценариях и готовы к внедрению с соблюдением требований ФЗ-152.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D63931-887F-15C8-43DC-CD5EEB99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1354</Words>
  <Application>Microsoft Office PowerPoint</Application>
  <PresentationFormat>Широкоэкранный</PresentationFormat>
  <Paragraphs>113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Тема Office</vt:lpstr>
      <vt:lpstr>ПРОИЗВОДСТВЕННАЯ ПРАКТИКА, ПРЕДДИПЛОМНАЯ ПРАКТИКА </vt:lpstr>
      <vt:lpstr>Цель и задачи практики</vt:lpstr>
      <vt:lpstr>Актуальность</vt:lpstr>
      <vt:lpstr>Средства и технологии разработки</vt:lpstr>
      <vt:lpstr>Средства и технологии разработки</vt:lpstr>
      <vt:lpstr>Модуль анализа лица и эмоций</vt:lpstr>
      <vt:lpstr>Библиотеки и модели компьютерного зрения</vt:lpstr>
      <vt:lpstr>Функции модуля анализа видео</vt:lpstr>
      <vt:lpstr>Функции модуля распознавания речи</vt:lpstr>
      <vt:lpstr>Модель MediaPipe Face Landmarker</vt:lpstr>
      <vt:lpstr>Средство разработки пользовательского интерфейса</vt:lpstr>
      <vt:lpstr>Информационное обеспечение</vt:lpstr>
      <vt:lpstr>Датасеты для обучения моделей эмоций</vt:lpstr>
      <vt:lpstr>Датасеты для обучения моделей распознавания речи</vt:lpstr>
      <vt:lpstr>Алгоритмическое обеспечение. Алгоритм работы программы</vt:lpstr>
      <vt:lpstr>Интерфейс системы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 </dc:title>
  <dc:creator>Роман Чирко</dc:creator>
  <cp:lastModifiedBy>Виталий Демьянцев</cp:lastModifiedBy>
  <cp:revision>159</cp:revision>
  <dcterms:created xsi:type="dcterms:W3CDTF">2024-05-28T15:56:43Z</dcterms:created>
  <dcterms:modified xsi:type="dcterms:W3CDTF">2026-05-22T02:56:24Z</dcterms:modified>
</cp:coreProperties>
</file>