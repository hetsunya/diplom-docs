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70" r:id="rId25"/>
    <p:sldId id="271" r:id="rId26"/>
    <p:sldId id="273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10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63F25-8401-4050-B9C0-1864FD91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158BF0-F39C-48A3-8E8A-C22EF5572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15F282-4ED1-4FED-82A5-D48D19717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EB9DB-94B2-4D97-AB29-D096994DA229}" type="datetimeFigureOut">
              <a:rPr lang="ru-RU" smtClean="0"/>
              <a:t>29.05.2024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A805AD-E84B-485F-BE45-31A48BA7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магистрант группы 606-21м Чирко Р.А.</a:t>
            </a:r>
          </a:p>
          <a:p>
            <a:pPr algn="r"/>
            <a:r>
              <a:rPr lang="ru-RU" dirty="0"/>
              <a:t>Научный руководитель: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Урманцева Н.Р.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Целью практики является подготовка 5,6,7 глав магистерской диссертации.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задачи практики входит: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описание средств и технологий разработки;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проработка видов обеспечения: информационное обеспечение, программное обеспечение, лингвистическое обеспечение, алгоритмическое обеспечение, математическое обеспечение, техническое обеспечение;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реализация голосового помощника </a:t>
            </a:r>
            <a:r>
              <a:rPr lang="ru-RU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Chat_Helper</a:t>
            </a: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для удобства работы с интеллектуальной системой;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пользовательского интерфейса ПО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принятие участия в конференции и публикация статьи;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подготовить отчет по преддипломной практике.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D8360-FA0F-440D-8156-2BF331DE0269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Проблематика заболеваний вен нижних конечностей </a:t>
            </a:r>
            <a:r>
              <a:rPr lang="ru-RU" b="1" dirty="0"/>
              <a:t>является серьезной и распространенной проблемой</a:t>
            </a:r>
            <a:r>
              <a:rPr lang="ru-RU" dirty="0"/>
              <a:t>. Венозные заболевания нижних конечностей могут привести к различным осложнениям и ухудшить качество жизни человека.</a:t>
            </a:r>
          </a:p>
          <a:p>
            <a:r>
              <a:rPr lang="ru-RU" dirty="0"/>
              <a:t>Прежде всего, следует отметить, что венозные заболевания нижних конечностей чаще всего возникают из-за нарушений кровообращения. Такая проблема может возникнуть из-за наследственности, недостаточной физической активности, ожирения, беременности или же из-за длительного стояния на ногах.</a:t>
            </a:r>
          </a:p>
          <a:p>
            <a:r>
              <a:rPr lang="ru-RU" dirty="0"/>
              <a:t>Кроме того, нейронные сети и искусственный интеллект могут быть использованы в прогнозировании результатов лечения и оптимизации индивидуализированных терапий для каждого пациента. </a:t>
            </a:r>
            <a:r>
              <a:rPr lang="ru-RU" b="1" dirty="0"/>
              <a:t>Алгоритмы машинного обучения могут анализировать медицинские данные и предсказывать вероятность успешного исхода лечения для конкретного человека. Это позволяет врачам принимать более обоснованные решения и улучшает результаты лечения</a:t>
            </a:r>
            <a:r>
              <a:rPr lang="ru-RU" dirty="0"/>
              <a:t>.</a:t>
            </a:r>
          </a:p>
          <a:p>
            <a:r>
              <a:rPr lang="ru-RU" b="1" dirty="0"/>
              <a:t>Голосовые помощники стали все более популярными в различных областях нашей жизни, включая медицину. </a:t>
            </a:r>
            <a:r>
              <a:rPr lang="ru-RU" dirty="0"/>
              <a:t>Их использование в этой сфере имеет большую актуальность и ценность благодаря ряду преимуществ, которые они могут принести.</a:t>
            </a:r>
          </a:p>
          <a:p>
            <a:r>
              <a:rPr lang="ru-RU" dirty="0"/>
              <a:t>Таким образом, </a:t>
            </a:r>
            <a:r>
              <a:rPr lang="ru-RU" b="1" dirty="0"/>
              <a:t>использование голосовых помощников в медицинской системе является актуальным и перспективным направлением развития</a:t>
            </a:r>
            <a:r>
              <a:rPr lang="ru-RU" dirty="0"/>
              <a:t>. Они способствуют </a:t>
            </a:r>
            <a:r>
              <a:rPr lang="ru-RU" b="1" dirty="0"/>
              <a:t>улучшению качества приема пациентов</a:t>
            </a:r>
            <a:r>
              <a:rPr lang="ru-RU" dirty="0"/>
              <a:t>, </a:t>
            </a:r>
            <a:r>
              <a:rPr lang="ru-RU" b="1" dirty="0"/>
              <a:t>оптимизации работы медицинского персонала и повышению эффективности системы здравоохранения в целом</a:t>
            </a:r>
            <a:r>
              <a:rPr lang="ru-RU" dirty="0"/>
              <a:t>.</a:t>
            </a:r>
          </a:p>
          <a:p>
            <a:r>
              <a:rPr lang="ru-RU" dirty="0"/>
              <a:t>Актуальность темы обусловлена тем, что на данный период времени </a:t>
            </a:r>
            <a:r>
              <a:rPr lang="ru-RU" b="1" dirty="0"/>
              <a:t>отсутствуют</a:t>
            </a:r>
            <a:r>
              <a:rPr lang="ru-RU" dirty="0"/>
              <a:t> системы, способные с помощью искусственного интеллекта анализировать и выдавать результат к DICOM снимкам нижней полой вены и фотографиям нижних конечностей пациента, а неправильная классификация заболевания приводит к оперативному вмешательству в тех случаях, когда необходимость в нем отсутствует.</a:t>
            </a:r>
          </a:p>
          <a:p>
            <a:r>
              <a:rPr lang="ru-RU" dirty="0"/>
              <a:t>Система поможет в процессе принятия решений и снизит загруженность врача.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1CC9F-A08B-4855-A038-008F06257CDA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D182C1-D99A-4CAC-9542-3094FF64E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80967E-EEF8-4112-AEC1-1A331A80CBC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684" y="2095349"/>
            <a:ext cx="5940425" cy="334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6608739-0B86-4F7F-B623-A52127D59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28" y="2095349"/>
            <a:ext cx="3354384" cy="3342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21D1AC-E48E-40DF-94EA-D6449A28C5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Интеллектуальная система (ИС)</a:t>
            </a:r>
            <a:r>
              <a:rPr lang="ru-RU" dirty="0"/>
              <a:t> – автоматизированная система, основанная на знаниях, или комплекс программных и лингвистических, логико-математических средств для реализации задачи – осуществления поддержки деятельности человека и поиска информации в режиме продвинутого диалога на естественном языке.</a:t>
            </a:r>
          </a:p>
          <a:p>
            <a:r>
              <a:rPr lang="ru-RU" b="1" dirty="0"/>
              <a:t>Искусственный интеллект </a:t>
            </a:r>
            <a:r>
              <a:rPr lang="ru-RU" dirty="0"/>
              <a:t>— это раздел компьютерных наук, занимающийся созданием машин или программ, которые могут думать и учиться, имитируя человеческий разум. </a:t>
            </a:r>
          </a:p>
          <a:p>
            <a:r>
              <a:rPr lang="ru-RU" dirty="0"/>
              <a:t>Искусственный интеллект сначала впитывает в себя всю информацию, которую ему дают люди, затем учится ее использовать и применяет в различных задачах. Например, решает примеры, пишет тексты или рисует изображения.</a:t>
            </a:r>
          </a:p>
          <a:p>
            <a:r>
              <a:rPr lang="ru-RU" b="1" dirty="0" err="1"/>
              <a:t>Сверточные</a:t>
            </a:r>
            <a:r>
              <a:rPr lang="ru-RU" b="1" dirty="0"/>
              <a:t> нейронные сети (CNN) </a:t>
            </a:r>
            <a:r>
              <a:rPr lang="ru-RU" dirty="0"/>
              <a:t>— это глубокие нейронные сети, которые получили широкое распространение </a:t>
            </a:r>
            <a:r>
              <a:rPr lang="ru-RU" b="1" dirty="0"/>
              <a:t>в задачах распознавания</a:t>
            </a:r>
            <a:r>
              <a:rPr lang="ru-RU" dirty="0"/>
              <a:t>, классификации и обработки изображений и видео. Основное их отличие от традиционных нейронных сетей в том, что они автоматически и эффективно могут выявлять важные признаки из изображений, не требуя ручного извлечения характеристик. Это делает CNN идеальными для таких задач, как распознавание лиц, автоматическое управление транспортом, медицинская диагностика и многих других.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Средства и технологии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598A4-2CEB-4A01-98CC-B4D5443A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87"/>
            <a:ext cx="10515600" cy="1325563"/>
          </a:xfrm>
        </p:spPr>
        <p:txBody>
          <a:bodyPr/>
          <a:lstStyle/>
          <a:p>
            <a:r>
              <a:rPr lang="ru-RU" dirty="0"/>
              <a:t>Голосовой помощник </a:t>
            </a:r>
            <a:r>
              <a:rPr lang="en-US" dirty="0" err="1"/>
              <a:t>Chat_Helper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8553F-6F10-47A7-90AD-8A548C4AE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0831"/>
            <a:ext cx="10515600" cy="559293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медицинских учреждениях голосовые помощники приходят на помощь врачам, администраторам, операторам. Задача технологии – </a:t>
            </a:r>
            <a:r>
              <a:rPr lang="ru-RU" b="1" dirty="0"/>
              <a:t>разгрузить персонал</a:t>
            </a:r>
            <a:r>
              <a:rPr lang="ru-RU" dirty="0"/>
              <a:t>, который осуществляет прием пациентов, обрабатывает входящие типовые запросы и сообщения. Это </a:t>
            </a:r>
            <a:r>
              <a:rPr lang="ru-RU" b="1" dirty="0"/>
              <a:t>экономит рабочее время</a:t>
            </a:r>
            <a:r>
              <a:rPr lang="ru-RU" dirty="0"/>
              <a:t>, </a:t>
            </a:r>
            <a:r>
              <a:rPr lang="ru-RU" b="1" dirty="0"/>
              <a:t>снижает влияние человеческого фактора при ведении записей</a:t>
            </a:r>
            <a:r>
              <a:rPr lang="ru-RU" dirty="0"/>
              <a:t>, </a:t>
            </a:r>
            <a:r>
              <a:rPr lang="ru-RU" b="1" dirty="0"/>
              <a:t>помогает повысить качество обслуживания пациентов</a:t>
            </a:r>
            <a:r>
              <a:rPr lang="ru-RU" dirty="0"/>
              <a:t>. Голосовой помощник способен выполнять до </a:t>
            </a:r>
            <a:r>
              <a:rPr lang="ru-RU" b="1" dirty="0"/>
              <a:t>90%</a:t>
            </a:r>
            <a:r>
              <a:rPr lang="ru-RU" dirty="0"/>
              <a:t> рутинных операций.</a:t>
            </a:r>
          </a:p>
          <a:p>
            <a:r>
              <a:rPr lang="ru-RU" dirty="0"/>
              <a:t>По подсчетам Департамента здравоохранения Москвы, технологии распознавания речи экономят до </a:t>
            </a:r>
            <a:r>
              <a:rPr lang="ru-RU" b="1" dirty="0"/>
              <a:t>20%</a:t>
            </a:r>
            <a:r>
              <a:rPr lang="ru-RU" dirty="0"/>
              <a:t> времени, необходимого на прием пациента. На данный момент </a:t>
            </a:r>
            <a:r>
              <a:rPr lang="ru-RU" b="1" dirty="0"/>
              <a:t>врачи вынуждены тратить </a:t>
            </a:r>
            <a:r>
              <a:rPr lang="ru-RU" dirty="0"/>
              <a:t>свои временные ресурсы на заполнение медицинской карты по итогам осмотра пациента, оформление протоколов по результатам обследований. Это приводит к тому, что время приема пациентов приходится </a:t>
            </a:r>
            <a:r>
              <a:rPr lang="ru-RU" b="1" dirty="0"/>
              <a:t>сокращать</a:t>
            </a:r>
            <a:r>
              <a:rPr lang="ru-RU" dirty="0"/>
              <a:t> ввиду заполнения различных документов.</a:t>
            </a:r>
            <a:endParaRPr lang="en-US" dirty="0"/>
          </a:p>
          <a:p>
            <a:r>
              <a:rPr lang="ru-RU" dirty="0"/>
              <a:t>Голосовой помощник — это цифровой помощник, который использует распознавание голоса, алгоритмы обработки языка и синтез голоса для прослушивания определенных голосовых команд и возврата соответствующей информации или выполнения определенных команд по запросу пользователя. На основе определенных команд, произнесенных пользователем, голосовые помощники могут возвращать соответствующую информацию, прослушивая определенные ключевые слова и фильтруя окружающий шум.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811B9-633B-4D7E-9477-717C2159737D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452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39CDE-94C1-4EB4-9224-7DA92A27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PyAudio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Speech Recognition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C388F7-4FCC-4EBE-9E97-E7A0CDF5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Pyaudio</a:t>
            </a:r>
            <a:r>
              <a:rPr lang="ru-RU" dirty="0"/>
              <a:t> — это пакет Python, который предоставляет привязки для библиотеки </a:t>
            </a:r>
            <a:r>
              <a:rPr lang="ru-RU" dirty="0" err="1"/>
              <a:t>PortAudio</a:t>
            </a:r>
            <a:r>
              <a:rPr lang="ru-RU" dirty="0"/>
              <a:t>. Другими словами, он позволяет программам Python получать доступ к аудиоустройствам на компьютере, таким как микрофоны и динамики, чтобы пользователи могли воспроизводить и записывать звук. В результате </a:t>
            </a:r>
            <a:r>
              <a:rPr lang="ru-RU" dirty="0" err="1"/>
              <a:t>PyAudio</a:t>
            </a:r>
            <a:r>
              <a:rPr lang="ru-RU" dirty="0"/>
              <a:t> позволяет разработчикам и специалистам по обработке данных интегрировать сложные функции простым и интуитивно понятным способом.</a:t>
            </a:r>
          </a:p>
          <a:p>
            <a:r>
              <a:rPr lang="ru-RU" b="1" dirty="0" err="1"/>
              <a:t>SpeechRecognition</a:t>
            </a:r>
            <a:r>
              <a:rPr lang="ru-RU" dirty="0"/>
              <a:t> – одна из самых популярных библиотек Python для распознавания речи. Она обеспечивает поддержку нескольких механизмов и API, таких как Google Web </a:t>
            </a:r>
            <a:r>
              <a:rPr lang="ru-RU" dirty="0" err="1"/>
              <a:t>Speech</a:t>
            </a:r>
            <a:r>
              <a:rPr lang="ru-RU" dirty="0"/>
              <a:t> API, распознавание голоса Microsoft </a:t>
            </a:r>
            <a:r>
              <a:rPr lang="ru-RU" dirty="0" err="1"/>
              <a:t>Bing</a:t>
            </a:r>
            <a:r>
              <a:rPr lang="ru-RU" dirty="0"/>
              <a:t> и IBM </a:t>
            </a:r>
            <a:r>
              <a:rPr lang="ru-RU" dirty="0" err="1"/>
              <a:t>Speech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Text. Библиотека известна своей простотой использования и гибкостью, что делает его отличным инструментом в руках разработчика.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45F7B-423C-432A-AB30-10FB23DEFF5A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439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F5D4F35-7FAE-4DFE-8A61-9AA30135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09" y="1963054"/>
            <a:ext cx="10515600" cy="4149572"/>
          </a:xfrm>
        </p:spPr>
        <p:txBody>
          <a:bodyPr/>
          <a:lstStyle/>
          <a:p>
            <a:r>
              <a:rPr lang="ru-RU" dirty="0"/>
              <a:t>В основные функции голосового помощника входит формирование протокола приема врача-флеболога, запись анамнеза пациента и рекомендаций по лечению в файл, выдача рекомендаций по лечению различных патологий вен СЕАР по запросу, поиск информации в интернете. </a:t>
            </a:r>
          </a:p>
          <a:p>
            <a:r>
              <a:rPr lang="ru-RU" dirty="0"/>
              <a:t>В дополнительные функции CH входит администрирование рабочего ПК врача (выключение, перезагрузка, вывод информации о загруженности системы, диска, создание папок и файлов), включение музыки, ведение заметок.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1CF55-B7B2-4D03-B1F6-6FD1552B065B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188B5-6040-E138-1B57-5FF464A8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Функции </a:t>
            </a:r>
            <a:r>
              <a:rPr lang="en-US" dirty="0" err="1"/>
              <a:t>Chat_Helper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1764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 err="1"/>
              <a:t>Silero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связи с тем, что при записи показаний пациента в файл протокола осмотра врача – флеболога голосовым помощником библиотека </a:t>
            </a:r>
            <a:r>
              <a:rPr lang="ru-RU" b="1" dirty="0" err="1"/>
              <a:t>Speech</a:t>
            </a:r>
            <a:r>
              <a:rPr lang="ru-RU" b="1" dirty="0"/>
              <a:t> </a:t>
            </a:r>
            <a:r>
              <a:rPr lang="ru-RU" b="1" dirty="0" err="1"/>
              <a:t>Recognition</a:t>
            </a:r>
            <a:r>
              <a:rPr lang="ru-RU" b="1" dirty="0"/>
              <a:t> не умеет работать с синтаксисом</a:t>
            </a:r>
            <a:r>
              <a:rPr lang="ru-RU" dirty="0"/>
              <a:t>, помечать необходимые буквы заглавными или строчными, было принято решение использовать </a:t>
            </a:r>
            <a:r>
              <a:rPr lang="ru-RU" b="1" dirty="0"/>
              <a:t>модель </a:t>
            </a:r>
            <a:r>
              <a:rPr lang="ru-RU" b="1" dirty="0" err="1"/>
              <a:t>Silero</a:t>
            </a:r>
            <a:r>
              <a:rPr lang="ru-RU" b="1" dirty="0"/>
              <a:t> </a:t>
            </a:r>
            <a:r>
              <a:rPr lang="ru-RU" dirty="0"/>
              <a:t>для восстановления пунктуации в протоколе. На вход в модель подается </a:t>
            </a:r>
            <a:r>
              <a:rPr lang="ru-RU" b="1" dirty="0"/>
              <a:t>протокол без расставленных знаков препинания</a:t>
            </a:r>
            <a:r>
              <a:rPr lang="ru-RU" dirty="0"/>
              <a:t>. Модель обрабатывает протокол, </a:t>
            </a:r>
            <a:r>
              <a:rPr lang="ru-RU" b="1" dirty="0"/>
              <a:t>расставляет знаки препинания</a:t>
            </a:r>
            <a:r>
              <a:rPr lang="ru-RU" dirty="0"/>
              <a:t>, </a:t>
            </a:r>
            <a:r>
              <a:rPr lang="ru-RU" b="1" dirty="0"/>
              <a:t>помечает необходимы буквы заглавными, и перезаписывает отчет с восстановленными синтаксисом</a:t>
            </a:r>
            <a:r>
              <a:rPr lang="ru-RU" dirty="0"/>
              <a:t>. В результате врач получает готовый протокол осмотра пациента, с записанными показаниями с помощью голосового помощника, классификацией ХЗВ, поставленных моделями НС DICOM и </a:t>
            </a:r>
            <a:r>
              <a:rPr lang="ru-RU" dirty="0" err="1"/>
              <a:t>Photo_Legs</a:t>
            </a:r>
            <a:r>
              <a:rPr lang="ru-RU" dirty="0"/>
              <a:t>, с восстановленной пунктуацией моделью </a:t>
            </a:r>
            <a:r>
              <a:rPr lang="ru-RU" dirty="0" err="1"/>
              <a:t>Silero</a:t>
            </a:r>
            <a:r>
              <a:rPr lang="ru-R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9155A-5477-428A-B594-4DE38D5D9805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9A0AA-10E7-4050-98DE-0F44F58F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443656-0DAB-4754-98A4-FD307F476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9" y="1825625"/>
            <a:ext cx="5500456" cy="435133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PyQt5</a:t>
            </a:r>
            <a:r>
              <a:rPr lang="ru-RU" dirty="0"/>
              <a:t> — это кроссплатформенный набор инструментов для разработки графического пользовательского интерфейса. С помощью данной библиотеки можно очень легко разработать интерактивное приложение благодаря имеющимся инструментам, предоставляемым этой библиотекой, и простоте их использования. Приложение с графическим интерфейсом состоит из Front-</a:t>
            </a:r>
            <a:r>
              <a:rPr lang="ru-RU" dirty="0" err="1"/>
              <a:t>end</a:t>
            </a:r>
            <a:r>
              <a:rPr lang="ru-RU" dirty="0"/>
              <a:t> части и Back-</a:t>
            </a:r>
            <a:r>
              <a:rPr lang="ru-RU" dirty="0" err="1"/>
              <a:t>end</a:t>
            </a:r>
            <a:r>
              <a:rPr lang="ru-RU" dirty="0"/>
              <a:t> части. PyQt5 имеет инструмент под названием «</a:t>
            </a:r>
            <a:r>
              <a:rPr lang="ru-RU" dirty="0" err="1"/>
              <a:t>QtDesigner</a:t>
            </a:r>
            <a:r>
              <a:rPr lang="ru-RU" dirty="0"/>
              <a:t>» для проектирования внешнего интерфейса методом перетаскивания окон, кнопок, текстовых форм и других элементов, чтобы разработка пользовательского интерфейса могла вестись быстрее и можно было уделять больше времени на написание внутренней логики приложения.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F4F0375-C74B-4744-8B4D-B12A33D63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517" y="1825625"/>
            <a:ext cx="5134527" cy="309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5D21C4-ABD9-41FB-B81E-16DC30531647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82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Информационное обеспечение АСУ </a:t>
            </a:r>
            <a:r>
              <a:rPr lang="ru-RU" dirty="0"/>
              <a:t>— совокупность системно-ориентированных данных, описывающих принятый в системе словарь базовых описаний (классификаторы, типовые модели, элементы автоматизации и т.д.), и актуализируемых данных о состоянии информационной модели объекта автоматизации (объекта управления) на всех этапах его жизненного цикла (ЖЦ).</a:t>
            </a:r>
          </a:p>
          <a:p>
            <a:pPr marL="0" indent="0">
              <a:buNone/>
            </a:pPr>
            <a:r>
              <a:rPr lang="ru-RU" dirty="0"/>
              <a:t>Информационным обеспечением интеллектуальной системы является обученные модели, с которыми работает программа. </a:t>
            </a:r>
          </a:p>
          <a:p>
            <a:pPr marL="0" indent="0">
              <a:buNone/>
            </a:pPr>
            <a:r>
              <a:rPr lang="ru-RU" dirty="0"/>
              <a:t>Входной информацией является:</a:t>
            </a:r>
          </a:p>
          <a:p>
            <a:r>
              <a:rPr lang="ru-RU" b="1" dirty="0"/>
              <a:t>DICOM снимок</a:t>
            </a:r>
            <a:r>
              <a:rPr lang="ru-RU" dirty="0"/>
              <a:t>;</a:t>
            </a:r>
          </a:p>
          <a:p>
            <a:r>
              <a:rPr lang="ru-RU" b="1" dirty="0"/>
              <a:t>фотография ног пациента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0098F-7052-48E4-A34F-402D8BB81F7F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DICOM </a:t>
            </a:r>
            <a:r>
              <a:rPr lang="ru-RU" dirty="0"/>
              <a:t>снимок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C84FC0-D965-4180-9E61-13CDF03E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8687"/>
            <a:ext cx="5012184" cy="513827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Для обучения модели DICOM было использовано порядка </a:t>
            </a:r>
            <a:r>
              <a:rPr lang="ru-RU" b="1" dirty="0"/>
              <a:t>1493</a:t>
            </a:r>
            <a:r>
              <a:rPr lang="ru-RU" dirty="0"/>
              <a:t> снимков разных пациентов. Для С1 – 183 снимка, для С2 – 960 снимка, для С3 – 110 снимков, для С4 – 70 снимков, для С5 – 74 снимка, для С6 – 96 снимков.</a:t>
            </a:r>
          </a:p>
          <a:p>
            <a:r>
              <a:rPr lang="ru-RU" dirty="0"/>
              <a:t>В обучении модели участвовали размеченные снимки.</a:t>
            </a:r>
          </a:p>
          <a:p>
            <a:r>
              <a:rPr lang="ru-RU" dirty="0"/>
              <a:t>Для улучшения точности распознавания снимков использовался </a:t>
            </a:r>
            <a:r>
              <a:rPr lang="ru-RU" b="1" dirty="0"/>
              <a:t>метод контрастности</a:t>
            </a:r>
            <a:r>
              <a:rPr lang="ru-RU" dirty="0"/>
              <a:t>.</a:t>
            </a:r>
          </a:p>
          <a:p>
            <a:r>
              <a:rPr lang="ru-RU" dirty="0"/>
              <a:t>Расширением файла является формат DICOM, расширением 600х900 точек, полученный в результате МРТ обследования пациента.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C61BCB-3083-4E64-8EBD-3683848A3C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618" y="1038687"/>
            <a:ext cx="45339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56DD11-6E19-4DE8-AAA6-BECB7A79B558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ru-RU" dirty="0"/>
              <a:t>2</a:t>
            </a:r>
            <a:r>
              <a:rPr lang="en-US" dirty="0"/>
              <a:t>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8647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815F8-363A-4FDD-BF3E-513F73DA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Фотография ног пациента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D09E6-48D2-4C1B-A424-71AEB12D0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обучения модели </a:t>
            </a:r>
            <a:r>
              <a:rPr lang="ru-RU" dirty="0" err="1"/>
              <a:t>Photo_Legs</a:t>
            </a:r>
            <a:r>
              <a:rPr lang="ru-RU" dirty="0"/>
              <a:t> было использовано порядка </a:t>
            </a:r>
            <a:r>
              <a:rPr lang="ru-RU" b="1" dirty="0"/>
              <a:t>559</a:t>
            </a:r>
            <a:r>
              <a:rPr lang="ru-RU" dirty="0"/>
              <a:t> обезличенных фотографий ног разных пациентов. Для С1 – 86 фотографий, для С2 – 103 фотографии, для С3 – 90 фотографий, для С4 – 96 фотографий, для С5 – 101 фотография, для С6 – 83 фотографии.</a:t>
            </a:r>
          </a:p>
          <a:p>
            <a:r>
              <a:rPr lang="ru-RU" dirty="0"/>
              <a:t>Для улучшения точности распознавания фотографий также </a:t>
            </a:r>
            <a:r>
              <a:rPr lang="ru-RU" b="1" dirty="0"/>
              <a:t>использовался метод ЧБ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01ADA-F907-446F-A529-8B6A4967B58D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17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BFD6B-99D2-42D5-806B-5AF98D60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40" y="758193"/>
            <a:ext cx="4905652" cy="149673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B44D79-5515-4847-B4B0-75CE2A1873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762" y="0"/>
            <a:ext cx="41636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068E4-64AA-4881-9003-243658ECFBBE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462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13EC04-C057-4FDF-AECE-D6D1AE1BCE2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3"/>
          <a:stretch>
            <a:fillRect/>
          </a:stretch>
        </p:blipFill>
        <p:spPr bwMode="auto">
          <a:xfrm>
            <a:off x="3123111" y="269388"/>
            <a:ext cx="7741328" cy="63192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ED1AB-11C4-48F5-BF70-1ACBA146FC6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15/22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7FE94C1-7119-09AA-1780-C0215FA1FB94}"/>
              </a:ext>
            </a:extLst>
          </p:cNvPr>
          <p:cNvSpPr txBox="1">
            <a:spLocks/>
          </p:cNvSpPr>
          <p:nvPr/>
        </p:nvSpPr>
        <p:spPr>
          <a:xfrm>
            <a:off x="223058" y="290010"/>
            <a:ext cx="3018905" cy="2292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Алгоритм работы голосового помощника</a:t>
            </a:r>
          </a:p>
        </p:txBody>
      </p:sp>
    </p:spTree>
    <p:extLst>
      <p:ext uri="{BB962C8B-B14F-4D97-AF65-F5344CB8AC3E}">
        <p14:creationId xmlns:p14="http://schemas.microsoft.com/office/powerpoint/2010/main" val="185056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3B7ED-CC57-49E9-84A2-D9248AB69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5" y="105052"/>
            <a:ext cx="4204317" cy="2176509"/>
          </a:xfrm>
        </p:spPr>
        <p:txBody>
          <a:bodyPr>
            <a:normAutofit/>
          </a:bodyPr>
          <a:lstStyle/>
          <a:p>
            <a:r>
              <a:rPr lang="ru-RU" sz="3600" dirty="0"/>
              <a:t>Интерфейс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1C95D9-5EB9-4B7E-AA72-AEC74995E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82890B-D4D0-418F-A019-54BBE97E63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75985" y="261937"/>
            <a:ext cx="6169660" cy="6334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95F111-5EAD-4700-80E6-067F170BC9FE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243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1C186-7415-4A96-95A0-6DE7440E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084BA6-C38D-4A3A-A500-7F86D23D9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577257-ADD0-4243-96F5-2E6945166C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739" y="163328"/>
            <a:ext cx="5558687" cy="652155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77148B-E99F-4D9A-8464-8E385838B1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1" y="163328"/>
            <a:ext cx="5888854" cy="6193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237B7F-BEE8-46E0-A1DC-B1A84BB4C270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16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743BB-EBDE-4E05-A1F3-DDE828A4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98" y="-132024"/>
            <a:ext cx="10515600" cy="1325563"/>
          </a:xfrm>
        </p:spPr>
        <p:txBody>
          <a:bodyPr/>
          <a:lstStyle/>
          <a:p>
            <a:r>
              <a:rPr lang="ru-RU" dirty="0"/>
              <a:t>Пример протокола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C9059B-5B0B-47B8-8780-398BA043D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D2035A-E2A8-4973-9D89-E84ECAE649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2297" y="959929"/>
            <a:ext cx="6201410" cy="54533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D0B95F-EBD0-4718-AEBF-DA1B2F3A6D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06068" y="959929"/>
            <a:ext cx="5593635" cy="5453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3F0CB6-C78C-4805-AEBB-AFF9D10A5577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4005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7B66D9-92CD-44F8-B08D-0220826BE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E9B358-7324-4FBB-8DDE-4EFC744991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00928" y="530757"/>
            <a:ext cx="6628050" cy="612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3ACA76-DC55-4EE2-B96E-8C8DD92607FB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19/22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D64F9D4-50F5-E5DE-1F6D-A6CCD663D908}"/>
              </a:ext>
            </a:extLst>
          </p:cNvPr>
          <p:cNvSpPr txBox="1">
            <a:spLocks/>
          </p:cNvSpPr>
          <p:nvPr/>
        </p:nvSpPr>
        <p:spPr>
          <a:xfrm>
            <a:off x="163498" y="-1320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Пример протокола</a:t>
            </a:r>
          </a:p>
        </p:txBody>
      </p:sp>
    </p:spTree>
    <p:extLst>
      <p:ext uri="{BB962C8B-B14F-4D97-AF65-F5344CB8AC3E}">
        <p14:creationId xmlns:p14="http://schemas.microsoft.com/office/powerpoint/2010/main" val="1230299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E834D-BA1C-423C-B8DA-6A0F8AC2B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61912"/>
            <a:ext cx="10515600" cy="1325563"/>
          </a:xfrm>
        </p:spPr>
        <p:txBody>
          <a:bodyPr/>
          <a:lstStyle/>
          <a:p>
            <a:r>
              <a:rPr lang="ru-RU" dirty="0"/>
              <a:t>Пример использования метода контрастности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428542-9DD6-4EC5-BADF-DC83E70E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40B887-DB28-405B-AE84-00E9A270471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50" y="1387475"/>
            <a:ext cx="5105400" cy="51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9309D-162E-4E05-B5AA-7B9E19CE42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87475"/>
            <a:ext cx="5153025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BDF25E-14FA-4C27-BE8E-DA973FD86FF3}"/>
              </a:ext>
            </a:extLst>
          </p:cNvPr>
          <p:cNvSpPr txBox="1"/>
          <p:nvPr/>
        </p:nvSpPr>
        <p:spPr>
          <a:xfrm>
            <a:off x="11196869" y="642868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0/22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607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C841A-0867-4019-9BBC-9C56A4D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62" y="-78759"/>
            <a:ext cx="10515600" cy="1325563"/>
          </a:xfrm>
        </p:spPr>
        <p:txBody>
          <a:bodyPr/>
          <a:lstStyle/>
          <a:p>
            <a:r>
              <a:rPr lang="ru-RU" dirty="0"/>
              <a:t>Пример использования метода ЧБ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0C088-18DE-4676-9A04-580BC2D3D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233948-1164-4C31-9127-42E34690B9A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7"/>
          <a:stretch/>
        </p:blipFill>
        <p:spPr bwMode="auto">
          <a:xfrm>
            <a:off x="389762" y="1156884"/>
            <a:ext cx="4271898" cy="5455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29AF56-BB43-4DFC-8D13-4291D4086231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9"/>
          <a:stretch/>
        </p:blipFill>
        <p:spPr bwMode="auto">
          <a:xfrm>
            <a:off x="6096000" y="1156884"/>
            <a:ext cx="4358936" cy="545577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F0514E-62CD-48E6-B917-B9620E25E681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1/22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680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результате прохождения производственной практики, преддипломной практики были изучены и описаны средства и технологии разработки, а именно: язык программирования Python, IDE </a:t>
            </a:r>
            <a:r>
              <a:rPr lang="ru-RU" dirty="0" err="1"/>
              <a:t>PyCharm</a:t>
            </a:r>
            <a:r>
              <a:rPr lang="ru-RU" dirty="0"/>
              <a:t>, </a:t>
            </a:r>
            <a:r>
              <a:rPr lang="ru-RU" dirty="0" err="1"/>
              <a:t>сверточная</a:t>
            </a:r>
            <a:r>
              <a:rPr lang="ru-RU" dirty="0"/>
              <a:t> нейронная сеть и принцип ее работы, библиотеки </a:t>
            </a:r>
            <a:r>
              <a:rPr lang="ru-RU" dirty="0" err="1"/>
              <a:t>PyAudio</a:t>
            </a:r>
            <a:r>
              <a:rPr lang="ru-RU" dirty="0"/>
              <a:t> и </a:t>
            </a:r>
            <a:r>
              <a:rPr lang="ru-RU" dirty="0" err="1"/>
              <a:t>Speech</a:t>
            </a:r>
            <a:r>
              <a:rPr lang="ru-RU" dirty="0"/>
              <a:t> </a:t>
            </a:r>
            <a:r>
              <a:rPr lang="ru-RU" dirty="0" err="1"/>
              <a:t>Recognition</a:t>
            </a:r>
            <a:r>
              <a:rPr lang="ru-RU" dirty="0"/>
              <a:t> для реализации голосового помощника </a:t>
            </a:r>
            <a:r>
              <a:rPr lang="ru-RU" dirty="0" err="1"/>
              <a:t>Chat_Helper</a:t>
            </a:r>
            <a:r>
              <a:rPr lang="ru-RU" dirty="0"/>
              <a:t>, модель </a:t>
            </a:r>
            <a:r>
              <a:rPr lang="ru-RU" dirty="0" err="1"/>
              <a:t>Silero</a:t>
            </a:r>
            <a:r>
              <a:rPr lang="ru-RU" dirty="0"/>
              <a:t>, библиотека PyQt5 для реализации пользовательского интерфейса интеллектуальной системы, программа Draw.io для проектирования системы и рабочих алгоритмов. </a:t>
            </a:r>
          </a:p>
          <a:p>
            <a:r>
              <a:rPr lang="ru-RU" dirty="0"/>
              <a:t>Также были проработаны виды обеспечения, сформулированы методы контрастности и ЧБ для улучшения распознавания медицинских изображений нейронными сетями DICOM и </a:t>
            </a:r>
            <a:r>
              <a:rPr lang="ru-RU" dirty="0" err="1"/>
              <a:t>Photo_Legs</a:t>
            </a:r>
            <a:r>
              <a:rPr lang="ru-RU" dirty="0"/>
              <a:t>.</a:t>
            </a:r>
          </a:p>
          <a:p>
            <a:r>
              <a:rPr lang="ru-RU" dirty="0"/>
              <a:t>Был реализован голосовой помощник </a:t>
            </a:r>
            <a:r>
              <a:rPr lang="ru-RU" dirty="0" err="1"/>
              <a:t>Chat_Helper</a:t>
            </a:r>
            <a:r>
              <a:rPr lang="ru-RU" dirty="0"/>
              <a:t> для удобства и автоматизации работы с интеллектуальной системой, НС </a:t>
            </a:r>
            <a:r>
              <a:rPr lang="ru-RU" dirty="0" err="1"/>
              <a:t>Silero</a:t>
            </a:r>
            <a:r>
              <a:rPr lang="ru-RU" dirty="0"/>
              <a:t> для восстановления пунктуации в протоколе осмотра врача – флеболога.</a:t>
            </a:r>
          </a:p>
          <a:p>
            <a:r>
              <a:rPr lang="ru-RU" dirty="0"/>
              <a:t>Голосовой помощник был интегрирован в интеллектуальную систему.</a:t>
            </a:r>
          </a:p>
          <a:p>
            <a:r>
              <a:rPr lang="ru-RU" dirty="0"/>
              <a:t>Голосовой помощник был представлен на конференции «Проблемы и решения автоматизации ХXI века» в рамках VII национальной научно – практической студенческой конференции </a:t>
            </a:r>
            <a:r>
              <a:rPr lang="ru-RU" dirty="0" err="1"/>
              <a:t>СурГУ</a:t>
            </a:r>
            <a:r>
              <a:rPr lang="ru-RU" dirty="0"/>
              <a:t>.</a:t>
            </a:r>
          </a:p>
          <a:p>
            <a:r>
              <a:rPr lang="ru-RU" dirty="0"/>
              <a:t>Цель и поставленные задачи были выполнены в полной мере.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0758E-ED01-4E2A-9F8C-4C0573556692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2/22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437A6-0F28-4FF7-97E0-66CC99FF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0" y="205327"/>
            <a:ext cx="10515600" cy="1325563"/>
          </a:xfrm>
        </p:spPr>
        <p:txBody>
          <a:bodyPr/>
          <a:lstStyle/>
          <a:p>
            <a:r>
              <a:rPr lang="ru-RU"/>
              <a:t>Приложение 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D3C0FF-6F29-4B9C-B371-5D7506FF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E430DA-FD68-48C5-A6D8-E771A8C168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96792" y="2219"/>
            <a:ext cx="5317724" cy="6791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1EB6C-2693-4DFF-848A-2262ABDBD54E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6/26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353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88EEB-E01C-45D8-ACE3-F06F7175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625" y="213518"/>
            <a:ext cx="10515600" cy="1325563"/>
          </a:xfrm>
        </p:spPr>
        <p:txBody>
          <a:bodyPr/>
          <a:lstStyle/>
          <a:p>
            <a:r>
              <a:rPr lang="ru-RU" dirty="0"/>
              <a:t>Алгоритмы обучения нейронных сетей по классификации изображений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DB1EC4-BF05-4DB8-A394-5E0B821B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1D61C2-4658-4E3A-A38F-4949873A479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85" y="1774577"/>
            <a:ext cx="5521170" cy="3960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447259-CFEB-4705-B0A7-7DF5856E6D6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305" y="1539081"/>
            <a:ext cx="5521171" cy="47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F452F1-494C-42FE-9985-8433461B0648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15/26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0821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C359E-E4BB-4112-9E95-CE120165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06483" cy="1325563"/>
          </a:xfrm>
        </p:spPr>
        <p:txBody>
          <a:bodyPr/>
          <a:lstStyle/>
          <a:p>
            <a:r>
              <a:rPr lang="ru-RU" dirty="0"/>
              <a:t>Алгоритм работы голосового помощника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1D625B-36EA-4EE7-88D4-F401E4D5C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A4F06A-4C38-4D6F-B649-3C2CE44440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284" y="365125"/>
            <a:ext cx="1153160" cy="61067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50737-4C14-445C-8088-B7DCBA8CF8E1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16/26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5877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09258-9C79-497D-AFC9-5385C4C6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64" y="452630"/>
            <a:ext cx="4235389" cy="257465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Алгоритмы методов обработки обучающих </a:t>
            </a:r>
            <a:r>
              <a:rPr lang="ru-RU" dirty="0" err="1"/>
              <a:t>датасетов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CA0BA0-C606-4DC6-9BA2-33096A960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BD55DC-46D1-49D9-BA11-A113CAD548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13"/>
          <a:stretch>
            <a:fillRect/>
          </a:stretch>
        </p:blipFill>
        <p:spPr bwMode="auto">
          <a:xfrm>
            <a:off x="4497705" y="253048"/>
            <a:ext cx="1743297" cy="6067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7FC210-DD43-4B80-86A3-D6CD5CD484E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0"/>
          <a:stretch>
            <a:fillRect/>
          </a:stretch>
        </p:blipFill>
        <p:spPr bwMode="auto">
          <a:xfrm>
            <a:off x="6889073" y="253047"/>
            <a:ext cx="2024108" cy="606785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04848-84E4-4967-A776-EF4003BBF841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18/26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67513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1593</Words>
  <Application>Microsoft Office PowerPoint</Application>
  <PresentationFormat>Широкоэкранный</PresentationFormat>
  <Paragraphs>97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Symbol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Голосовой помощник Chat_Helper</vt:lpstr>
      <vt:lpstr>PyAudio и Speech Recognition</vt:lpstr>
      <vt:lpstr>Функции Chat_Helper</vt:lpstr>
      <vt:lpstr>Модель Silero</vt:lpstr>
      <vt:lpstr>Средство разработки пользовательского интерфейса</vt:lpstr>
      <vt:lpstr>Информационное обеспечение</vt:lpstr>
      <vt:lpstr>DICOM снимок</vt:lpstr>
      <vt:lpstr>Фотография ног пациента</vt:lpstr>
      <vt:lpstr>Алгоритмическое обеспечение. Алгоритм работы программы</vt:lpstr>
      <vt:lpstr>Презентация PowerPoint</vt:lpstr>
      <vt:lpstr>Интерфейс системы</vt:lpstr>
      <vt:lpstr>Презентация PowerPoint</vt:lpstr>
      <vt:lpstr>Пример протокола</vt:lpstr>
      <vt:lpstr>Презентация PowerPoint</vt:lpstr>
      <vt:lpstr>Пример использования метода контрастности</vt:lpstr>
      <vt:lpstr>Пример использования метода ЧБ</vt:lpstr>
      <vt:lpstr>Заключение</vt:lpstr>
      <vt:lpstr>Приложение 1</vt:lpstr>
      <vt:lpstr>Алгоритмы обучения нейронных сетей по классификации изображений</vt:lpstr>
      <vt:lpstr>Алгоритм работы голосового помощника</vt:lpstr>
      <vt:lpstr>Алгоритмы методов обработки обучающих датасетов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Роман Чирко</cp:lastModifiedBy>
  <cp:revision>55</cp:revision>
  <dcterms:created xsi:type="dcterms:W3CDTF">2024-05-28T15:56:43Z</dcterms:created>
  <dcterms:modified xsi:type="dcterms:W3CDTF">2024-05-29T04:45:14Z</dcterms:modified>
</cp:coreProperties>
</file>