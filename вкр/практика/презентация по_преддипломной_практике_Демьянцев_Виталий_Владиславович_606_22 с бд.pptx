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20"/>
  </p:notesMasterIdLst>
  <p:handoutMasterIdLst>
    <p:handoutMasterId r:id="rId21"/>
  </p:handoutMasterIdLst>
  <p:sldIdLst>
    <p:sldId id="256" r:id="rId2"/>
    <p:sldId id="257" r:id="rId3"/>
    <p:sldId id="258" r:id="rId4"/>
    <p:sldId id="259" r:id="rId5"/>
    <p:sldId id="287" r:id="rId6"/>
    <p:sldId id="260" r:id="rId7"/>
    <p:sldId id="283" r:id="rId8"/>
    <p:sldId id="288" r:id="rId9"/>
    <p:sldId id="293" r:id="rId10"/>
    <p:sldId id="284" r:id="rId11"/>
    <p:sldId id="264" r:id="rId12"/>
    <p:sldId id="266" r:id="rId13"/>
    <p:sldId id="295" r:id="rId14"/>
    <p:sldId id="290" r:id="rId15"/>
    <p:sldId id="291" r:id="rId16"/>
    <p:sldId id="294" r:id="rId17"/>
    <p:sldId id="289" r:id="rId18"/>
    <p:sldId id="280" r:id="rId19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>
            <a:extLst>
              <a:ext uri="{FF2B5EF4-FFF2-40B4-BE49-F238E27FC236}">
                <a16:creationId xmlns:a16="http://schemas.microsoft.com/office/drawing/2014/main" id="{6EF1F35D-CE6B-ADDB-FDB9-CD9C55B407A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88B66112-651F-AEBD-6B85-767E04E75FE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7640263-EA9F-497A-96B0-1CCF8BC43BB1}" type="datetimeFigureOut">
              <a:rPr lang="ru-RU" smtClean="0"/>
              <a:t>22.05.2026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797B29B0-EAB6-0B0C-CB03-B9C31452932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22958B48-5A14-EDA4-AC95-A317551274B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5FB2736-D875-4BC4-8EB6-BA4CC5004DC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0702713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6574A11-D777-4A21-A270-6F8A09B2D137}" type="datetimeFigureOut">
              <a:rPr lang="ru-RU" smtClean="0"/>
              <a:t>22.05.2026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DDB6E01-9A66-45F7-9913-E4710846909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517041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2C8BE10-CF6A-433B-A665-B07A0F5F131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7F2B8DFD-3DE7-4FBB-9379-4CA65BD5286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E9C10B6-9AD9-48F7-8A51-653EBDA6B07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916E196-4804-4F42-898A-0FC902D9B484}" type="datetime1">
              <a:rPr lang="ru-RU" smtClean="0"/>
              <a:t>22.05.2026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D95CF36-2944-4819-9146-7A1DED1EA1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5C57A1D-78F6-4A51-BE24-BBABD28DC0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9DB6E4-81A8-48FA-A111-413E3E85E76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009269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E171673-A45B-40E8-8606-A35A0D982B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E615B0D-2B65-4A3B-9210-B8D32D10BC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4644779-8B0E-4870-BE22-68D8EC4E515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03C7D8F-2A26-4A8C-918C-F8DEED5C5692}" type="datetime1">
              <a:rPr lang="ru-RU" smtClean="0"/>
              <a:t>22.05.2026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B9BE05C-2C3A-41C6-8170-5C715265AD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55380D7-1212-4185-8C9F-DA456C4DC4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59064" y="6521570"/>
            <a:ext cx="1124309" cy="33643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F9DB6E4-81A8-48FA-A111-413E3E85E768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5842648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00B186F-FA08-4D4E-967C-1F799E3163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E971C260-AFB2-4F3F-9F9D-D70FCC9CA8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56EF3DB-C509-46F4-A47B-CB52ED4287D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7F38BAD-298E-4C7C-BB8A-26FD3D33ECCE}" type="datetime1">
              <a:rPr lang="ru-RU" smtClean="0"/>
              <a:t>22.05.2026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E7B894F-8017-40E9-BE58-EE2B32DC78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1885ACA-E8F7-448C-92B8-76FCF2F515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9DB6E4-81A8-48FA-A111-413E3E85E76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508643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A49F36F-C100-425F-A6D4-442C831C90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F1CB49F-A20E-4BC1-B7B9-AB2678E66D5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8F6BDC06-E41E-45A8-92F3-F23B09C876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EDC4B84D-F0BD-41AC-B75E-7ED71D51958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F74C74B-F198-4F1D-A85F-7D813148100B}" type="datetime1">
              <a:rPr lang="ru-RU" smtClean="0"/>
              <a:t>22.05.2026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77D1283D-6573-461F-BE8C-92BE392CF8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135D11FB-AD6E-4F64-BA97-F9B790FCD4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9DB6E4-81A8-48FA-A111-413E3E85E76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868731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EE3FE31-F08D-4F78-BB13-D092EA9DD5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87FB431-4874-4F08-BB5A-F0A67B68B2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058FB0E6-7B7E-4DA1-879B-E5DD6EACC7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C53BC42D-0B1D-40F8-957F-3259926153F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2668AD02-CE5C-405A-B4AB-47C8A3E9F5A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5ADF9323-1E59-422D-B5E1-53CEED96493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BB4B2F3-C8F7-4496-AB1D-5B712B52D4CC}" type="datetime1">
              <a:rPr lang="ru-RU" smtClean="0"/>
              <a:t>22.05.2026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DCBBE23A-C69D-4BC4-A044-7DE420DFBB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E9FAECF8-2DB3-483A-A51A-72E3F321C3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9DB6E4-81A8-48FA-A111-413E3E85E76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130619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8525297-E1DF-4F49-844C-B5004B497D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668D61B0-571E-4634-820D-BE8C43CDCCD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9017ECC-D4AC-4388-A12E-1F5EBDCBE0DE}" type="datetime1">
              <a:rPr lang="ru-RU" smtClean="0"/>
              <a:t>22.05.2026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DC9AB50D-DED9-4F09-B633-0D1A479CCF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8AA73912-C4BB-4DEC-8A81-A4DC61ABE3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9DB6E4-81A8-48FA-A111-413E3E85E76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575750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2768E753-EE03-4932-B563-6CB3695FB51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7ABE4D9-AEC4-4B77-B4CC-7FBE63FE841C}" type="datetime1">
              <a:rPr lang="ru-RU" smtClean="0"/>
              <a:t>22.05.2026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374E1FC9-E731-4E2E-A678-2EAC238D36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88D96B6-73F8-42DC-9693-AEA5C147F8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9DB6E4-81A8-48FA-A111-413E3E85E76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017005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D8F7A58-7B76-41EA-8ED3-277621617D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BDCBBDE-E02C-456B-AFF6-4B3969FB4F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3713A34A-7160-46D2-B526-1ABBF48DDE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2CD33588-48BF-4723-90C0-34EB6673A15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1664E07-3D79-4A05-BB0B-898AD5671495}" type="datetime1">
              <a:rPr lang="ru-RU" smtClean="0"/>
              <a:t>22.05.2026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24FBFF21-15CB-4547-87C3-5DF872D3A5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CAA8FAE0-BB62-42BB-832B-D94B813F2C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9DB6E4-81A8-48FA-A111-413E3E85E76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230108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F6DFCD8-53BB-4463-BF82-6C7CA9DAB2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D955AB4A-951B-4140-B839-C72779208F7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D61F6312-54B5-4ADE-81FB-8EBE6FDA7D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14805582-3CBF-48EF-8D6B-EF8C6060F79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9552C21-0914-4B44-973B-AE86C28FD0CC}" type="datetime1">
              <a:rPr lang="ru-RU" smtClean="0"/>
              <a:t>22.05.2026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3290B654-3B75-40D0-83FE-24DFB98C55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2DCD482-790B-436A-A99F-2E534C50EE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9DB6E4-81A8-48FA-A111-413E3E85E76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49106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09B58C2-21EA-44AA-B7F3-4E258A3FD8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7BB08977-A57D-4110-80B2-538505DEF5C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7FB0C64-00AF-4066-9CEE-B34830B9F5A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65369D4-ACF4-452B-B065-8EB5038972C3}" type="datetime1">
              <a:rPr lang="ru-RU" smtClean="0"/>
              <a:t>22.05.2026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0415E4B-6CBF-47BB-BE97-CAE8A940B9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3A9E350-9987-4E2A-A7EC-08500BFBDD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9DB6E4-81A8-48FA-A111-413E3E85E76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603713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59CAE9B5-8DBF-43B5-9DE5-AF658E080FD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C72826EE-6F4D-4E7B-93E9-708EE53AB8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E69952D-ECC0-4EE7-AD58-1F630F8427D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1B40BE4-505E-422D-8FE2-7C14F619B5A8}" type="datetime1">
              <a:rPr lang="ru-RU" smtClean="0"/>
              <a:t>22.05.2026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DA583EC-4F2A-427F-8F43-695E9CE544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FB9DE81-5F8C-488E-89F3-E93A1361AF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9DB6E4-81A8-48FA-A111-413E3E85E76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607847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8C1D08D-9EC8-40DB-9B46-669208259D4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67690" y="6521570"/>
            <a:ext cx="1124309" cy="33643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ru-RU" smtClean="0"/>
            </a:lvl1pPr>
          </a:lstStyle>
          <a:p>
            <a:fld id="{5F9DB6E4-81A8-48FA-A111-413E3E85E768}" type="slidenum">
              <a:rPr lang="ru-RU" smtClean="0"/>
              <a:pPr/>
              <a:t>‹#›</a:t>
            </a:fld>
            <a:r>
              <a:rPr lang="ru-RU" dirty="0"/>
              <a:t>/12</a:t>
            </a:r>
          </a:p>
        </p:txBody>
      </p:sp>
    </p:spTree>
    <p:extLst>
      <p:ext uri="{BB962C8B-B14F-4D97-AF65-F5344CB8AC3E}">
        <p14:creationId xmlns:p14="http://schemas.microsoft.com/office/powerpoint/2010/main" val="18359569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jpe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874B1E9-7B85-41C6-AC8B-242A6B603E1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ПРОИЗВОДСТВЕННАЯ ПРАКТИКА, ПРЕДДИПЛОМНАЯ ПРАКТИКА</a:t>
            </a:r>
            <a:br>
              <a:rPr lang="ru-RU" dirty="0"/>
            </a:br>
            <a:endParaRPr lang="ru-RU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2CE82BE8-E71E-47E7-B354-024530FDD71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r"/>
            <a:r>
              <a:rPr lang="ru-RU" dirty="0"/>
              <a:t>Выполнил: студент группы 606-22 Демьянцев В.В.</a:t>
            </a:r>
          </a:p>
          <a:p>
            <a:pPr algn="r"/>
            <a:r>
              <a:rPr lang="ru-RU" dirty="0"/>
              <a:t>Руководитель практики: старший преподаватель </a:t>
            </a:r>
            <a:r>
              <a:rPr lang="ru-RU" dirty="0" err="1"/>
              <a:t>каф.АСОИУ</a:t>
            </a:r>
            <a:r>
              <a:rPr lang="ru-RU" dirty="0"/>
              <a:t> </a:t>
            </a:r>
            <a:r>
              <a:rPr lang="ru-RU" dirty="0" err="1"/>
              <a:t>Бурдыко</a:t>
            </a:r>
            <a:r>
              <a:rPr lang="ru-RU" dirty="0"/>
              <a:t> Т.Г.</a:t>
            </a:r>
          </a:p>
        </p:txBody>
      </p:sp>
    </p:spTree>
    <p:extLst>
      <p:ext uri="{BB962C8B-B14F-4D97-AF65-F5344CB8AC3E}">
        <p14:creationId xmlns:p14="http://schemas.microsoft.com/office/powerpoint/2010/main" val="23147736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D263BA0-F9D7-4AEB-A9F7-D9E30D49B8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Цель и задачи практики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29CC613-FDC1-4225-B204-891E0DB45E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6344" y="1426464"/>
            <a:ext cx="11530584" cy="4828031"/>
          </a:xfrm>
        </p:spPr>
        <p:txBody>
          <a:bodyPr>
            <a:noAutofit/>
          </a:bodyPr>
          <a:lstStyle/>
          <a:p>
            <a:pPr indent="0" algn="just">
              <a:lnSpc>
                <a:spcPct val="150000"/>
              </a:lnSpc>
              <a:spcBef>
                <a:spcPts val="0"/>
              </a:spcBef>
              <a:buNone/>
            </a:pPr>
            <a:r>
              <a:rPr lang="ru-RU" sz="2000" dirty="0"/>
              <a:t>Цель: Разработать программную часть системы распознавания эмоций человека на основе ИНС с использованием методов компьютерного зрения и глубокого обучения.</a:t>
            </a:r>
          </a:p>
          <a:p>
            <a:pPr indent="0" algn="just">
              <a:lnSpc>
                <a:spcPct val="150000"/>
              </a:lnSpc>
              <a:spcBef>
                <a:spcPts val="0"/>
              </a:spcBef>
              <a:buNone/>
            </a:pPr>
            <a:r>
              <a:rPr lang="ru-RU" sz="2000" dirty="0"/>
              <a:t>Задачи практики:</a:t>
            </a:r>
          </a:p>
          <a:p>
            <a:pPr marL="514350" indent="0" algn="just">
              <a:lnSpc>
                <a:spcPct val="150000"/>
              </a:lnSpc>
              <a:spcBef>
                <a:spcPts val="0"/>
              </a:spcBef>
            </a:pPr>
            <a:r>
              <a:rPr lang="ru-RU" sz="2000" dirty="0"/>
              <a:t>Описание средств и технологий разработки</a:t>
            </a:r>
          </a:p>
          <a:p>
            <a:pPr marL="514350" indent="0" algn="just">
              <a:lnSpc>
                <a:spcPct val="150000"/>
              </a:lnSpc>
              <a:spcBef>
                <a:spcPts val="0"/>
              </a:spcBef>
            </a:pPr>
            <a:r>
              <a:rPr lang="ru-RU" sz="2000" dirty="0"/>
              <a:t>Проработка видов обеспечения: информационное, программное</a:t>
            </a:r>
            <a:r>
              <a:rPr lang="ru-RU" sz="2000"/>
              <a:t>, алгоритмическое, </a:t>
            </a:r>
            <a:r>
              <a:rPr lang="ru-RU" sz="2000" dirty="0"/>
              <a:t>техническое</a:t>
            </a:r>
          </a:p>
          <a:p>
            <a:pPr marL="514350" indent="0" algn="just">
              <a:lnSpc>
                <a:spcPct val="150000"/>
              </a:lnSpc>
              <a:spcBef>
                <a:spcPts val="0"/>
              </a:spcBef>
            </a:pPr>
            <a:r>
              <a:rPr lang="ru-RU" sz="2000" dirty="0"/>
              <a:t>Реализация модуля анализа лица и эмоций</a:t>
            </a:r>
          </a:p>
          <a:p>
            <a:pPr marL="514350" indent="0" algn="just">
              <a:lnSpc>
                <a:spcPct val="150000"/>
              </a:lnSpc>
              <a:spcBef>
                <a:spcPts val="0"/>
              </a:spcBef>
            </a:pPr>
            <a:r>
              <a:rPr lang="ru-RU" sz="2000" dirty="0"/>
              <a:t>Реализация модуля распознавания речи</a:t>
            </a:r>
          </a:p>
          <a:p>
            <a:pPr marL="514350" indent="0" algn="just">
              <a:lnSpc>
                <a:spcPct val="150000"/>
              </a:lnSpc>
              <a:spcBef>
                <a:spcPts val="0"/>
              </a:spcBef>
            </a:pPr>
            <a:r>
              <a:rPr lang="ru-RU" sz="2000" dirty="0"/>
              <a:t>Разработка пользовательского интерфейса ПО</a:t>
            </a:r>
          </a:p>
          <a:p>
            <a:pPr marL="514350" indent="0" algn="just">
              <a:lnSpc>
                <a:spcPct val="150000"/>
              </a:lnSpc>
              <a:spcBef>
                <a:spcPts val="0"/>
              </a:spcBef>
            </a:pPr>
            <a:r>
              <a:rPr lang="ru-RU" sz="2000" dirty="0"/>
              <a:t>Интеграция модулей ИИ в единую систему</a:t>
            </a:r>
          </a:p>
          <a:p>
            <a:pPr marL="514350" indent="0" algn="just">
              <a:lnSpc>
                <a:spcPct val="150000"/>
              </a:lnSpc>
              <a:spcBef>
                <a:spcPts val="0"/>
              </a:spcBef>
            </a:pPr>
            <a:r>
              <a:rPr lang="ru-RU" sz="2000" dirty="0"/>
              <a:t>Подготовить отчёт по преддипломной практике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EFBD14C5-A728-280F-7BFA-0B641D24C7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9DB6E4-81A8-48FA-A111-413E3E85E768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804140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F89600A-14F2-4F8C-96F2-69CA1CCBAC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4317" y="68231"/>
            <a:ext cx="10515600" cy="1325563"/>
          </a:xfrm>
        </p:spPr>
        <p:txBody>
          <a:bodyPr/>
          <a:lstStyle/>
          <a:p>
            <a:r>
              <a:rPr lang="ru-RU" dirty="0"/>
              <a:t>Актуальность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0F3E649-ADA8-4250-87FF-0757785BBB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3783" y="1118586"/>
            <a:ext cx="10830017" cy="5513033"/>
          </a:xfrm>
        </p:spPr>
        <p:txBody>
          <a:bodyPr>
            <a:normAutofit fontScale="85000" lnSpcReduction="20000"/>
          </a:bodyPr>
          <a:lstStyle/>
          <a:p>
            <a:pPr algn="just"/>
            <a:r>
              <a:rPr lang="ru-RU" dirty="0"/>
              <a:t>Рост значимости эмоционального интеллекта в HR: современные подходы к управлению персоналом подчеркивают важность учёта эмоционального состояния для повышения производительности и снижения текучести кадров.</a:t>
            </a:r>
          </a:p>
          <a:p>
            <a:pPr algn="just"/>
            <a:r>
              <a:rPr lang="ru-RU" dirty="0"/>
              <a:t>Ограниченность традиционных методов: субъективные оценки и анкетирование не обеспечивают высокой точности и оперативности, что затрудняет своевременное выявление профессионального выгорания.</a:t>
            </a:r>
          </a:p>
          <a:p>
            <a:pPr algn="just"/>
            <a:r>
              <a:rPr lang="ru-RU" dirty="0"/>
              <a:t>Развитие технологий ИИ: прогресс в области компьютерного зрения и обработки аудиосигналов создаёт основу для автоматизированного анализа эмоций в режиме, близком к реальному времени.</a:t>
            </a:r>
          </a:p>
          <a:p>
            <a:pPr algn="just"/>
            <a:r>
              <a:rPr lang="ru-RU" dirty="0"/>
              <a:t>Потребность в мультимодальном анализе: комплексный подход, объединяющий видео- и аудиоданные, позволяет учитывать взаимодополняющие признаки, повышая точность классификации.</a:t>
            </a:r>
          </a:p>
          <a:p>
            <a:pPr algn="just"/>
            <a:r>
              <a:rPr lang="ru-RU" dirty="0"/>
              <a:t>Автоматизация снижает нагрузку на HR-специалистов, обеспечивает объективность оценки и формирует количественные метрики для принятия управленческих решений.</a:t>
            </a:r>
          </a:p>
          <a:p>
            <a:pPr algn="just"/>
            <a:r>
              <a:rPr lang="ru-RU" dirty="0"/>
              <a:t>Актуальность обусловлена отсутствием доступных систем, адаптированных под задачи HR и соответствие требованиям ФЗ-152 о локализации и защите персональных данных сотрудников.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61A45460-A723-7A87-8308-C202F8B17C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9DB6E4-81A8-48FA-A111-413E3E85E768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863010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E8DEFDC-A437-4C47-B07D-6342E196D0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89" y="59192"/>
            <a:ext cx="10515600" cy="1325563"/>
          </a:xfrm>
        </p:spPr>
        <p:txBody>
          <a:bodyPr/>
          <a:lstStyle/>
          <a:p>
            <a:r>
              <a:rPr lang="ru-RU" dirty="0"/>
              <a:t>Средства и технологии разработки</a:t>
            </a:r>
          </a:p>
        </p:txBody>
      </p:sp>
      <p:pic>
        <p:nvPicPr>
          <p:cNvPr id="1028" name="Picture 4" descr="Picture background">
            <a:extLst>
              <a:ext uri="{FF2B5EF4-FFF2-40B4-BE49-F238E27FC236}">
                <a16:creationId xmlns:a16="http://schemas.microsoft.com/office/drawing/2014/main" id="{82F14302-1BF2-E1DF-19A8-0E74AB6A70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79663" y="2120804"/>
            <a:ext cx="3699318" cy="13814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Picture background">
            <a:extLst>
              <a:ext uri="{FF2B5EF4-FFF2-40B4-BE49-F238E27FC236}">
                <a16:creationId xmlns:a16="http://schemas.microsoft.com/office/drawing/2014/main" id="{A339DE64-170F-3267-C6E5-0C47E9D936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47176" y="1445684"/>
            <a:ext cx="1871472" cy="18714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Picture background">
            <a:extLst>
              <a:ext uri="{FF2B5EF4-FFF2-40B4-BE49-F238E27FC236}">
                <a16:creationId xmlns:a16="http://schemas.microsoft.com/office/drawing/2014/main" id="{28767BEC-E43E-ABAE-D052-1CD818E5D7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3382" y="3575536"/>
            <a:ext cx="2035466" cy="2100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Picture background">
            <a:extLst>
              <a:ext uri="{FF2B5EF4-FFF2-40B4-BE49-F238E27FC236}">
                <a16:creationId xmlns:a16="http://schemas.microsoft.com/office/drawing/2014/main" id="{809F2891-D9F2-175C-53BA-BE3D9B2271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96875" y="3575535"/>
            <a:ext cx="2100602" cy="21006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 descr="Picture background">
            <a:extLst>
              <a:ext uri="{FF2B5EF4-FFF2-40B4-BE49-F238E27FC236}">
                <a16:creationId xmlns:a16="http://schemas.microsoft.com/office/drawing/2014/main" id="{56A00DD1-6DEC-2ED3-2ECC-A70C200901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0411" y="1328398"/>
            <a:ext cx="2278570" cy="21006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703019EF-FE78-BCB1-DCCA-2ABAD45848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9DB6E4-81A8-48FA-A111-413E3E85E768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789823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F89600A-14F2-4F8C-96F2-69CA1CCBAC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4317" y="68231"/>
            <a:ext cx="10515600" cy="1325563"/>
          </a:xfrm>
        </p:spPr>
        <p:txBody>
          <a:bodyPr/>
          <a:lstStyle/>
          <a:p>
            <a:r>
              <a:rPr lang="ru-RU" sz="4400" dirty="0"/>
              <a:t>Средства и технологии разработки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0F3E649-ADA8-4250-87FF-0757785BBB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3783" y="1118586"/>
            <a:ext cx="10830017" cy="5513033"/>
          </a:xfrm>
        </p:spPr>
        <p:txBody>
          <a:bodyPr>
            <a:normAutofit fontScale="92500" lnSpcReduction="10000"/>
          </a:bodyPr>
          <a:lstStyle/>
          <a:p>
            <a:pPr algn="just"/>
            <a:r>
              <a:rPr lang="ru-RU" dirty="0"/>
              <a:t>Искусственный интеллект (ИИ) — это направление компьютерных наук, нацеленное на создание систем, способных выполнять задачи, требующие человеческого интеллекта.</a:t>
            </a:r>
            <a:endParaRPr lang="en-US" dirty="0"/>
          </a:p>
          <a:p>
            <a:pPr algn="just"/>
            <a:r>
              <a:rPr lang="ru-RU" dirty="0" err="1"/>
              <a:t>Свёрточные</a:t>
            </a:r>
            <a:r>
              <a:rPr lang="ru-RU" dirty="0"/>
              <a:t> нейронные сети (CNN) – архитектура глубокого обучения, автоматически извлекающая иерархические признаки из изображений. Идеально подходит для анализа мимики и детекции объектов в видеопотоке без ручного выделения характеристик.</a:t>
            </a:r>
          </a:p>
          <a:p>
            <a:pPr algn="just"/>
            <a:r>
              <a:rPr lang="ru-RU" dirty="0"/>
              <a:t>Рекуррентные нейронные сети и трансформеры – модели, оптимизированные для работы с последовательностями данных. Применяются для анализа аудиопотока, распознавания речи и выявления просодических маркеров эмоционального состояния.</a:t>
            </a:r>
          </a:p>
          <a:p>
            <a:pPr algn="just"/>
            <a:r>
              <a:rPr lang="ru-RU" dirty="0"/>
              <a:t>Мультимодальный анализ – методология совместной обработки разнородных данных (видео, аудио, текст), позволяющая компенсировать ограничения отдельных модальностей и повысить надёжность классификации в реальных условиях.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05FBF554-F197-8F3F-ACC5-5580642F62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9DB6E4-81A8-48FA-A111-413E3E85E768}" type="slidenum">
              <a:rPr lang="ru-RU" smtClean="0"/>
              <a:t>5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2895788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C9F7A7BF-345D-4464-BA61-1943803CE2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4371" y="898762"/>
            <a:ext cx="11339093" cy="401156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ru-RU" sz="2400" dirty="0"/>
              <a:t>Основные этапы работы модуля: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2400" dirty="0"/>
              <a:t>захват кадров с веб-камеры через браузерные API;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2400" dirty="0"/>
              <a:t>детекция и локализация лица на изображении;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2400" dirty="0"/>
              <a:t>выравнивание и нормализация области лица;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2400" dirty="0"/>
              <a:t>извлечение признаков с использованием </a:t>
            </a:r>
            <a:r>
              <a:rPr lang="ru-RU" sz="2400" dirty="0" err="1"/>
              <a:t>предобученных</a:t>
            </a:r>
            <a:r>
              <a:rPr lang="ru-RU" sz="2400" dirty="0"/>
              <a:t> CNN-моделей;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2400" dirty="0"/>
              <a:t>классификация эмоционального состояния;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2400" dirty="0"/>
              <a:t>передача результатов аналитики в систему через </a:t>
            </a:r>
            <a:r>
              <a:rPr lang="ru-RU" sz="2400" dirty="0" err="1"/>
              <a:t>WebSocket</a:t>
            </a:r>
            <a:r>
              <a:rPr lang="ru-RU" sz="2400" dirty="0"/>
              <a:t>. </a:t>
            </a:r>
          </a:p>
          <a:p>
            <a:pPr marL="0" indent="0">
              <a:buNone/>
            </a:pPr>
            <a:r>
              <a:rPr lang="ru-RU" sz="2400" dirty="0"/>
              <a:t>Дополнительно система поддерживает: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2400" dirty="0"/>
              <a:t>обработку нескольких лиц одновременно;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2400" dirty="0"/>
              <a:t>отслеживание изменений эмоций во времени;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2400" dirty="0"/>
              <a:t>агрегацию результатов в аналитические события и отчёты.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B58CB9A-86AF-B0B7-3E9B-73D4909088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4371" y="103553"/>
            <a:ext cx="10515600" cy="673688"/>
          </a:xfrm>
        </p:spPr>
        <p:txBody>
          <a:bodyPr>
            <a:normAutofit/>
          </a:bodyPr>
          <a:lstStyle/>
          <a:p>
            <a:r>
              <a:rPr lang="ru-RU" sz="4000" dirty="0"/>
              <a:t>Модуль анализа лица и эмоций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6AC9E070-DAEE-B241-0A58-56DA4A87F8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9DB6E4-81A8-48FA-A111-413E3E85E768}" type="slidenum">
              <a:rPr lang="ru-RU" smtClean="0"/>
              <a:t>6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768788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C9F7A7BF-345D-4464-BA61-1943803CE2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69118"/>
            <a:ext cx="10515600" cy="5839612"/>
          </a:xfrm>
        </p:spPr>
        <p:txBody>
          <a:bodyPr>
            <a:normAutofit/>
          </a:bodyPr>
          <a:lstStyle/>
          <a:p>
            <a:pPr algn="just"/>
            <a:r>
              <a:rPr lang="ru-RU" sz="2400" dirty="0"/>
              <a:t>MTCNN (Multi-</a:t>
            </a:r>
            <a:r>
              <a:rPr lang="ru-RU" sz="2400" dirty="0" err="1"/>
              <a:t>task</a:t>
            </a:r>
            <a:r>
              <a:rPr lang="ru-RU" sz="2400" dirty="0"/>
              <a:t> </a:t>
            </a:r>
            <a:r>
              <a:rPr lang="ru-RU" sz="2400" dirty="0" err="1"/>
              <a:t>Cascaded</a:t>
            </a:r>
            <a:r>
              <a:rPr lang="ru-RU" sz="2400" dirty="0"/>
              <a:t> CNN) – каскадная архитектура из трёх сетей, последовательно уточняющих положение лица и определяющих 5 ключевых точек. Обеспечивает высокую скорость детекции при сохранении точности даже при частичных перекрытиях.</a:t>
            </a:r>
          </a:p>
          <a:p>
            <a:pPr algn="just"/>
            <a:r>
              <a:rPr lang="ru-RU" sz="2400" dirty="0" err="1"/>
              <a:t>DeepFace</a:t>
            </a:r>
            <a:r>
              <a:rPr lang="ru-RU" sz="2400" dirty="0"/>
              <a:t> – мета-библиотека, предоставляющая доступ к </a:t>
            </a:r>
            <a:r>
              <a:rPr lang="ru-RU" sz="2400" dirty="0" err="1"/>
              <a:t>предобученным</a:t>
            </a:r>
            <a:r>
              <a:rPr lang="ru-RU" sz="2400" dirty="0"/>
              <a:t> моделям (VGG-Face, Facenet512, </a:t>
            </a:r>
            <a:r>
              <a:rPr lang="ru-RU" sz="2400" dirty="0" err="1"/>
              <a:t>EfficientNet</a:t>
            </a:r>
            <a:r>
              <a:rPr lang="ru-RU" sz="2400" dirty="0"/>
              <a:t>). Позволяет гибко выбирать архитектуру в зависимости от требований к точности и вычислительной нагрузке.</a:t>
            </a:r>
          </a:p>
          <a:p>
            <a:pPr algn="just"/>
            <a:r>
              <a:rPr lang="ru-RU" sz="2400" dirty="0" err="1"/>
              <a:t>OpenCV</a:t>
            </a:r>
            <a:r>
              <a:rPr lang="ru-RU" sz="2400" dirty="0"/>
              <a:t> – библиотека компьютерного зрения, используемая для предобработки кадров, изменения размера, конвертации форматов и наложения результатов анализа на видеопоток в реальном времени.</a:t>
            </a:r>
          </a:p>
          <a:p>
            <a:pPr marL="0" indent="0" algn="just">
              <a:buNone/>
            </a:pPr>
            <a:r>
              <a:rPr lang="ru-RU" sz="2400" dirty="0"/>
              <a:t>Комбинация данных инструментов реализует последовательный </a:t>
            </a:r>
            <a:r>
              <a:rPr lang="ru-RU" sz="2400" dirty="0" err="1"/>
              <a:t>pipeline</a:t>
            </a:r>
            <a:r>
              <a:rPr lang="ru-RU" sz="2400" dirty="0"/>
              <a:t> </a:t>
            </a:r>
            <a:r>
              <a:rPr lang="ru-RU" sz="2400" dirty="0" err="1"/>
              <a:t>обработки:детекция</a:t>
            </a:r>
            <a:r>
              <a:rPr lang="ru-RU" sz="2400" dirty="0"/>
              <a:t> лица → выравнивание → извлечение признаков → классификация эмоций.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B58CB9A-86AF-B0B7-3E9B-73D4909088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4955" y="93216"/>
            <a:ext cx="10515600" cy="1325563"/>
          </a:xfrm>
        </p:spPr>
        <p:txBody>
          <a:bodyPr>
            <a:normAutofit/>
          </a:bodyPr>
          <a:lstStyle/>
          <a:p>
            <a:r>
              <a:rPr lang="ru-RU" sz="4000" dirty="0"/>
              <a:t>Библиотеки и модели компьютерного зрения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03BC27D8-DE64-58D4-3124-30AD9D6185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9DB6E4-81A8-48FA-A111-413E3E85E768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0838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C9F7A7BF-345D-4464-BA61-1943803CE2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7032" y="839485"/>
            <a:ext cx="10515600" cy="5839612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ru-RU" sz="2400" dirty="0"/>
              <a:t>Основные функции:</a:t>
            </a:r>
          </a:p>
          <a:p>
            <a:pPr algn="just"/>
            <a:r>
              <a:rPr lang="ru-RU" sz="2400" dirty="0"/>
              <a:t>Захват видеопотока через браузерные API без установки дополнительных плагинов</a:t>
            </a:r>
          </a:p>
          <a:p>
            <a:pPr algn="just"/>
            <a:r>
              <a:rPr lang="ru-RU" sz="2400" dirty="0"/>
              <a:t>Детекция лиц и классификация базовых эмоций в реальном времени</a:t>
            </a:r>
          </a:p>
          <a:p>
            <a:pPr algn="just"/>
            <a:r>
              <a:rPr lang="ru-RU" sz="2400" dirty="0"/>
              <a:t>Отслеживание изменения эмоционального состояния в течение сессии с фиксацией временных меток</a:t>
            </a:r>
          </a:p>
          <a:p>
            <a:pPr algn="just"/>
            <a:r>
              <a:rPr lang="ru-RU" sz="2400" dirty="0"/>
              <a:t>Адаптивная частота отправки кадров для балансировки нагрузки на сеть и сервер</a:t>
            </a:r>
          </a:p>
          <a:p>
            <a:pPr marL="0" indent="0" algn="just">
              <a:buNone/>
            </a:pPr>
            <a:r>
              <a:rPr lang="ru-RU" sz="2400" dirty="0"/>
              <a:t>Дополнительные функции:</a:t>
            </a:r>
          </a:p>
          <a:p>
            <a:pPr algn="just"/>
            <a:r>
              <a:rPr lang="ru-RU" sz="2400" dirty="0"/>
              <a:t>Вычисление метрик вовлечённости на основе частоты и интенсивности эмоциональных проявлений</a:t>
            </a:r>
          </a:p>
          <a:p>
            <a:pPr algn="just"/>
            <a:r>
              <a:rPr lang="ru-RU" sz="2400" dirty="0"/>
              <a:t>Фильтрация ложных срабатываний при отсутствии лиц в кадре или при низком качестве освещения</a:t>
            </a:r>
          </a:p>
          <a:p>
            <a:pPr algn="just"/>
            <a:r>
              <a:rPr lang="ru-RU" sz="2400" dirty="0"/>
              <a:t>Экспорт сырых данных анализа в формате JSON для последующей агрегации в отчётах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B58CB9A-86AF-B0B7-3E9B-73D4909088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811" y="176704"/>
            <a:ext cx="10515600" cy="1325563"/>
          </a:xfrm>
        </p:spPr>
        <p:txBody>
          <a:bodyPr>
            <a:normAutofit/>
          </a:bodyPr>
          <a:lstStyle/>
          <a:p>
            <a:r>
              <a:rPr lang="ru-RU" sz="4000" dirty="0"/>
              <a:t>Функции модуля анализа видео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20F5E886-65AE-3D29-A128-93D0A6C755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9DB6E4-81A8-48FA-A111-413E3E85E768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18315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C9F7A7BF-345D-4464-BA61-1943803CE2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69118"/>
            <a:ext cx="10515600" cy="5839612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ru-RU" sz="2400" dirty="0"/>
              <a:t>Основные функции:</a:t>
            </a:r>
          </a:p>
          <a:p>
            <a:pPr marL="0" indent="0" algn="just">
              <a:buNone/>
            </a:pPr>
            <a:r>
              <a:rPr lang="ru-RU" sz="2400" dirty="0"/>
              <a:t>• Захват аудиопотока с микрофона в режиме реального времени</a:t>
            </a:r>
          </a:p>
          <a:p>
            <a:pPr marL="0" indent="0" algn="just">
              <a:buNone/>
            </a:pPr>
            <a:r>
              <a:rPr lang="ru-RU" sz="2400" dirty="0"/>
              <a:t>• Преобразование речевого сигнала в текстовое представление</a:t>
            </a:r>
          </a:p>
          <a:p>
            <a:pPr marL="0" indent="0" algn="just">
              <a:buNone/>
            </a:pPr>
            <a:r>
              <a:rPr lang="ru-RU" sz="2400" dirty="0"/>
              <a:t>• Разделение реплик по участникам встречи с сохранением временных меток</a:t>
            </a:r>
          </a:p>
          <a:p>
            <a:pPr marL="0" indent="0" algn="just">
              <a:buNone/>
            </a:pPr>
            <a:r>
              <a:rPr lang="ru-RU" sz="2400" dirty="0"/>
              <a:t>• Передача промежуточных и финальных результатов </a:t>
            </a:r>
            <a:r>
              <a:rPr lang="ru-RU" sz="2400" dirty="0" err="1"/>
              <a:t>транскрибации</a:t>
            </a:r>
            <a:r>
              <a:rPr lang="ru-RU" sz="2400" dirty="0"/>
              <a:t> в интерфейс</a:t>
            </a:r>
          </a:p>
          <a:p>
            <a:pPr marL="0" indent="0" algn="just">
              <a:buNone/>
            </a:pPr>
            <a:r>
              <a:rPr lang="ru-RU" sz="2400" dirty="0"/>
              <a:t>Дополнительные функции:</a:t>
            </a:r>
          </a:p>
          <a:p>
            <a:pPr marL="0" indent="0" algn="just">
              <a:buNone/>
            </a:pPr>
            <a:r>
              <a:rPr lang="ru-RU" sz="2400" dirty="0"/>
              <a:t>• Оценка уверенности распознавания и определение языка речи</a:t>
            </a:r>
          </a:p>
          <a:p>
            <a:pPr marL="0" indent="0" algn="just">
              <a:buNone/>
            </a:pPr>
            <a:r>
              <a:rPr lang="ru-RU" sz="2400" dirty="0"/>
              <a:t>• Фильтрация фоновых шумов и адаптация к качеству аудиосигнала</a:t>
            </a:r>
          </a:p>
          <a:p>
            <a:pPr marL="0" indent="0" algn="just">
              <a:buNone/>
            </a:pPr>
            <a:r>
              <a:rPr lang="ru-RU" sz="2400" dirty="0"/>
              <a:t>• Экспорт текстовых данных для последующей агрегации в аналитических отчётах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B58CB9A-86AF-B0B7-3E9B-73D4909088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7523" y="49270"/>
            <a:ext cx="10515600" cy="1325563"/>
          </a:xfrm>
        </p:spPr>
        <p:txBody>
          <a:bodyPr>
            <a:normAutofit/>
          </a:bodyPr>
          <a:lstStyle/>
          <a:p>
            <a:r>
              <a:rPr lang="ru-RU" sz="4000" dirty="0"/>
              <a:t>Функции модуля распознавания речи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EAFAD4C5-9485-CAD1-9E76-C0411C6184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9DB6E4-81A8-48FA-A111-413E3E85E768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93393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C9F7A7BF-345D-4464-BA61-1943803CE2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9164" y="969118"/>
            <a:ext cx="4856924" cy="5839612"/>
          </a:xfrm>
        </p:spPr>
        <p:txBody>
          <a:bodyPr>
            <a:normAutofit/>
          </a:bodyPr>
          <a:lstStyle/>
          <a:p>
            <a:pPr algn="just"/>
            <a:r>
              <a:rPr lang="ru-RU" sz="1800" dirty="0"/>
              <a:t>В связи с необходимостью более детального анализа мимики и положения головы в пространстве, в систему интегрирована модель </a:t>
            </a:r>
            <a:r>
              <a:rPr lang="ru-RU" sz="1800" dirty="0" err="1"/>
              <a:t>MediaPipe</a:t>
            </a:r>
            <a:r>
              <a:rPr lang="ru-RU" sz="1800" dirty="0"/>
              <a:t> Face </a:t>
            </a:r>
            <a:r>
              <a:rPr lang="ru-RU" sz="1800" dirty="0" err="1"/>
              <a:t>Landmarker</a:t>
            </a:r>
            <a:r>
              <a:rPr lang="ru-RU" sz="1800" dirty="0"/>
              <a:t> от Google.</a:t>
            </a:r>
          </a:p>
          <a:p>
            <a:pPr algn="just"/>
            <a:r>
              <a:rPr lang="ru-RU" sz="1800" dirty="0"/>
              <a:t>На вход модели подаётся выровненное изображение лица. Модель строит плотную сетку из 468 трёхмерных ключевых точек, охватывающих контуры глаз, бровей, носа, губ и овала лица.</a:t>
            </a:r>
          </a:p>
          <a:p>
            <a:pPr algn="just"/>
            <a:r>
              <a:rPr lang="ru-RU" sz="1800" dirty="0"/>
              <a:t>На выходе формируются </a:t>
            </a:r>
            <a:r>
              <a:rPr lang="ru-RU" sz="1800" dirty="0" err="1"/>
              <a:t>blendshape</a:t>
            </a:r>
            <a:r>
              <a:rPr lang="ru-RU" sz="1800" dirty="0"/>
              <a:t>-коэффициенты (активность групп лицевых мышц), углы поворота головы (</a:t>
            </a:r>
            <a:r>
              <a:rPr lang="ru-RU" sz="1800" dirty="0" err="1"/>
              <a:t>yaw</a:t>
            </a:r>
            <a:r>
              <a:rPr lang="ru-RU" sz="1800" dirty="0"/>
              <a:t>, </a:t>
            </a:r>
            <a:r>
              <a:rPr lang="ru-RU" sz="1800" dirty="0" err="1"/>
              <a:t>pitch</a:t>
            </a:r>
            <a:r>
              <a:rPr lang="ru-RU" sz="1800" dirty="0"/>
              <a:t>, </a:t>
            </a:r>
            <a:r>
              <a:rPr lang="ru-RU" sz="1800" dirty="0" err="1"/>
              <a:t>roll</a:t>
            </a:r>
            <a:r>
              <a:rPr lang="ru-RU" sz="1800" dirty="0"/>
              <a:t>) и данные для отслеживания </a:t>
            </a:r>
            <a:r>
              <a:rPr lang="ru-RU" sz="1800" dirty="0" err="1"/>
              <a:t>микровыражений</a:t>
            </a:r>
            <a:r>
              <a:rPr lang="ru-RU" sz="1800" dirty="0"/>
              <a:t>.</a:t>
            </a:r>
          </a:p>
          <a:p>
            <a:pPr algn="just"/>
            <a:r>
              <a:rPr lang="ru-RU" sz="1800" dirty="0"/>
              <a:t>Модель перезаписывает и обогащает базовые данные классификации, позволяя системе учитывать не только статические эмоции, но и динамику мимики</a:t>
            </a:r>
            <a:r>
              <a:rPr lang="en-US" sz="1800" dirty="0"/>
              <a:t>.</a:t>
            </a:r>
            <a:endParaRPr lang="ru-RU" sz="1800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B58CB9A-86AF-B0B7-3E9B-73D4909088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64" y="103552"/>
            <a:ext cx="10515600" cy="1325563"/>
          </a:xfrm>
        </p:spPr>
        <p:txBody>
          <a:bodyPr>
            <a:normAutofit/>
          </a:bodyPr>
          <a:lstStyle/>
          <a:p>
            <a:r>
              <a:rPr lang="ru-RU" sz="4000" dirty="0"/>
              <a:t>Модель </a:t>
            </a:r>
            <a:r>
              <a:rPr lang="en-US" sz="4000" dirty="0" err="1"/>
              <a:t>MediaPipe</a:t>
            </a:r>
            <a:r>
              <a:rPr lang="en-US" sz="4000" dirty="0"/>
              <a:t> Face </a:t>
            </a:r>
            <a:r>
              <a:rPr lang="en-US" sz="4000" dirty="0" err="1"/>
              <a:t>Landmarker</a:t>
            </a:r>
            <a:endParaRPr lang="en-US" sz="4000" dirty="0"/>
          </a:p>
        </p:txBody>
      </p:sp>
      <p:pic>
        <p:nvPicPr>
          <p:cNvPr id="7" name="Рисунок 6" descr="Задача &quot;Опорный знак на лице&quot;">
            <a:extLst>
              <a:ext uri="{FF2B5EF4-FFF2-40B4-BE49-F238E27FC236}">
                <a16:creationId xmlns:a16="http://schemas.microsoft.com/office/drawing/2014/main" id="{AC6A1973-8F20-E21C-8984-347E2211098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32411" y="1429115"/>
            <a:ext cx="5940425" cy="325628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C938FBF3-4A9B-D591-C9C7-E929397E9F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9DB6E4-81A8-48FA-A111-413E3E85E768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413781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EBAAD23-B9AF-47EB-97C4-C8F7C47862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Средство разработки пользовательского интерфейса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A95FAD0-980E-4610-98D5-906FF259B0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01368"/>
            <a:ext cx="9613392" cy="4526280"/>
          </a:xfrm>
        </p:spPr>
        <p:txBody>
          <a:bodyPr>
            <a:normAutofit fontScale="85000" lnSpcReduction="10000"/>
          </a:bodyPr>
          <a:lstStyle/>
          <a:p>
            <a:pPr algn="just"/>
            <a:r>
              <a:rPr lang="ru-RU" dirty="0" err="1"/>
              <a:t>React</a:t>
            </a:r>
            <a:r>
              <a:rPr lang="ru-RU" dirty="0"/>
              <a:t> 18 + </a:t>
            </a:r>
            <a:r>
              <a:rPr lang="ru-RU" dirty="0" err="1"/>
              <a:t>TypeScript</a:t>
            </a:r>
            <a:r>
              <a:rPr lang="ru-RU" dirty="0"/>
              <a:t> + </a:t>
            </a:r>
            <a:r>
              <a:rPr lang="ru-RU" dirty="0" err="1"/>
              <a:t>Vite</a:t>
            </a:r>
            <a:r>
              <a:rPr lang="ru-RU" dirty="0"/>
              <a:t> – современный стек для создания высокопроизводительных одностраничных приложений. Типизированный код повышает надёжность разработки и упрощает поддержку системы.</a:t>
            </a:r>
          </a:p>
          <a:p>
            <a:pPr algn="just"/>
            <a:r>
              <a:rPr lang="ru-RU" dirty="0"/>
              <a:t>Приложение состоит из клиентской части (отображение медиа, аналитики, управление сессиями) и серверной логики. Чёткое разделение ответственности ускоряет разработку и тестирование.</a:t>
            </a:r>
          </a:p>
          <a:p>
            <a:pPr algn="just"/>
            <a:r>
              <a:rPr lang="ru-RU" dirty="0"/>
              <a:t>Инструменты экосистемы обеспечивают минимизацию перерисовок, кэширование серверного состояния и автоматическое обновление данных в реальном времени.</a:t>
            </a:r>
          </a:p>
          <a:p>
            <a:pPr algn="just"/>
            <a:r>
              <a:rPr lang="ru-RU" dirty="0"/>
              <a:t>Адаптивная вёрстка и поддержка тем оформления гарантируют корректное отображение на десктопах и планшетах, что соответствует требованиям современных корпоративных платформ.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E9BEF2B6-39B9-162E-8066-79C12B92C3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9DB6E4-81A8-48FA-A111-413E3E85E768}" type="slidenum">
              <a:rPr lang="ru-RU" smtClean="0"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69136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54A4237-7384-4D65-B40A-9F7802E2C2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Информационное обеспечение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03513E5-CE54-4AB7-8986-EBEFE16031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6656" y="1690688"/>
            <a:ext cx="10677144" cy="4802187"/>
          </a:xfrm>
        </p:spPr>
        <p:txBody>
          <a:bodyPr>
            <a:normAutofit fontScale="92500" lnSpcReduction="20000"/>
          </a:bodyPr>
          <a:lstStyle/>
          <a:p>
            <a:pPr algn="just"/>
            <a:r>
              <a:rPr lang="ru-RU" dirty="0"/>
              <a:t>Информационное обеспечение АСУ – совокупность системно-ориентированных данных, описывающих принятый в системе словарь базовых описаний, классификаторы и актуализируемых данных о состоянии информационной модели на всех этапах жизненного цикла.</a:t>
            </a:r>
          </a:p>
          <a:p>
            <a:pPr algn="just"/>
            <a:r>
              <a:rPr lang="ru-RU" dirty="0"/>
              <a:t>Информационным обеспечением системы является набор обученных нейросетевых моделей, конфигурационных файлов и алгоритмов агрегации, с которыми взаимодействует программный комплекс.</a:t>
            </a:r>
          </a:p>
          <a:p>
            <a:pPr algn="just"/>
            <a:r>
              <a:rPr lang="ru-RU" dirty="0"/>
              <a:t>Входной информацией является:</a:t>
            </a:r>
          </a:p>
          <a:p>
            <a:pPr lvl="1" algn="just"/>
            <a:r>
              <a:rPr lang="ru-RU" dirty="0"/>
              <a:t>Видеопоток с веб-камеры (640×480+, 15–30 кадров/с, формат JPEG через </a:t>
            </a:r>
            <a:r>
              <a:rPr lang="ru-RU" dirty="0" err="1"/>
              <a:t>WebSocket</a:t>
            </a:r>
            <a:r>
              <a:rPr lang="ru-RU" dirty="0"/>
              <a:t>)</a:t>
            </a:r>
          </a:p>
          <a:p>
            <a:pPr lvl="1" algn="just"/>
            <a:r>
              <a:rPr lang="ru-RU" dirty="0"/>
              <a:t>Аудиопоток с микрофона (16 кГц, моно, формат </a:t>
            </a:r>
            <a:r>
              <a:rPr lang="ru-RU" dirty="0" err="1"/>
              <a:t>WebM</a:t>
            </a:r>
            <a:r>
              <a:rPr lang="ru-RU" dirty="0"/>
              <a:t>/Opus)</a:t>
            </a:r>
          </a:p>
          <a:p>
            <a:pPr algn="just"/>
            <a:r>
              <a:rPr lang="ru-RU" dirty="0"/>
              <a:t>Данные поступают непрерывно, обрабатываются в изолированных AI-шлюзах и сохраняются в реляционной СУБД с использованием формата JSONB для гибкого хранения разнородных аналитических событий.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CC5BD3B4-94D6-9BF1-6ED5-AA71E42B8A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9DB6E4-81A8-48FA-A111-413E3E85E768}" type="slidenum">
              <a:rPr lang="ru-RU" smtClean="0"/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876535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54A4237-7384-4D65-B40A-9F7802E2C2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Логическая модель базы данных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CC5BD3B4-94D6-9BF1-6ED5-AA71E42B8A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9DB6E4-81A8-48FA-A111-413E3E85E768}" type="slidenum">
              <a:rPr lang="ru-RU" smtClean="0"/>
              <a:t>13</a:t>
            </a:fld>
            <a:endParaRPr lang="ru-RU"/>
          </a:p>
        </p:txBody>
      </p:sp>
      <p:pic>
        <p:nvPicPr>
          <p:cNvPr id="8" name="Рисунок 7" descr="Изображение выглядит как снимок экрана, текст, Шрифт, дизайн&#10;&#10;Автоматически созданное описание">
            <a:extLst>
              <a:ext uri="{FF2B5EF4-FFF2-40B4-BE49-F238E27FC236}">
                <a16:creationId xmlns:a16="http://schemas.microsoft.com/office/drawing/2014/main" id="{96269F99-8B72-9FE2-47EC-9B6A8605045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8329" y="952874"/>
            <a:ext cx="8803170" cy="55686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333516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54A4237-7384-4D65-B40A-9F7802E2C2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Датасеты для обучения моделей эмоций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03513E5-CE54-4AB7-8986-EBEFE16031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6656" y="1690688"/>
            <a:ext cx="10677144" cy="4802187"/>
          </a:xfrm>
        </p:spPr>
        <p:txBody>
          <a:bodyPr>
            <a:normAutofit fontScale="92500"/>
          </a:bodyPr>
          <a:lstStyle/>
          <a:p>
            <a:pPr algn="just"/>
            <a:r>
              <a:rPr lang="ru-RU" dirty="0"/>
              <a:t>Для обучения и валидации моделей классификации эмоций использовались открытые датасеты FER-2013 (35 000 изображений), </a:t>
            </a:r>
            <a:r>
              <a:rPr lang="ru-RU" dirty="0" err="1"/>
              <a:t>AffectNet</a:t>
            </a:r>
            <a:r>
              <a:rPr lang="ru-RU" dirty="0"/>
              <a:t> (1 000 000+ размеченных кадров) и RAF-DB.</a:t>
            </a:r>
          </a:p>
          <a:p>
            <a:pPr algn="just"/>
            <a:r>
              <a:rPr lang="ru-RU" dirty="0"/>
              <a:t>Изображения прошли предварительную подготовку: нормализация размера, конвертация в градации серого, выравнивание геометрии лица на основе ключевых точек.</a:t>
            </a:r>
          </a:p>
          <a:p>
            <a:pPr algn="just"/>
            <a:r>
              <a:rPr lang="ru-RU" dirty="0"/>
              <a:t>Для повышения устойчивости модели к изменениям освещения и ракурсов применялось </a:t>
            </a:r>
            <a:r>
              <a:rPr lang="ru-RU" dirty="0" err="1"/>
              <a:t>аугментирование</a:t>
            </a:r>
            <a:r>
              <a:rPr lang="ru-RU" dirty="0"/>
              <a:t>: случайные повороты, сдвиги, изменение контрастности и добавление шума.</a:t>
            </a:r>
          </a:p>
          <a:p>
            <a:pPr algn="just"/>
            <a:r>
              <a:rPr lang="ru-RU" dirty="0"/>
              <a:t>Разметка осуществлялась по 7 категориям (6 базовых эмоций + нейтрально) с перекрёстной проверкой </a:t>
            </a:r>
            <a:r>
              <a:rPr lang="ru-RU" dirty="0" err="1"/>
              <a:t>аннотаторов</a:t>
            </a:r>
            <a:r>
              <a:rPr lang="ru-RU" dirty="0"/>
              <a:t> для минимизации ошибок в обучающей выборке.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BEFC8532-F45A-69C0-A2DF-8DF9C82CCC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9DB6E4-81A8-48FA-A111-413E3E85E768}" type="slidenum">
              <a:rPr lang="ru-RU" smtClean="0"/>
              <a:t>14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5209109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54A4237-7384-4D65-B40A-9F7802E2C2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Датасеты для обучения моделей распознавания речи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03513E5-CE54-4AB7-8986-EBEFE16031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6656" y="1690688"/>
            <a:ext cx="10677144" cy="4802187"/>
          </a:xfrm>
        </p:spPr>
        <p:txBody>
          <a:bodyPr>
            <a:normAutofit fontScale="92500"/>
          </a:bodyPr>
          <a:lstStyle/>
          <a:p>
            <a:r>
              <a:rPr lang="ru-RU" dirty="0"/>
              <a:t>Для обучения и тонкой настройки модели распознавания речи использовались многоязычные датасеты </a:t>
            </a:r>
            <a:r>
              <a:rPr lang="ru-RU" dirty="0" err="1"/>
              <a:t>LibriSpeech</a:t>
            </a:r>
            <a:r>
              <a:rPr lang="ru-RU" dirty="0"/>
              <a:t> (1000 часов размеченной речи) и Mozilla Common Voice.</a:t>
            </a:r>
          </a:p>
          <a:p>
            <a:r>
              <a:rPr lang="ru-RU" dirty="0"/>
              <a:t>Аудиозаписи прошли предобработку: приведение к единой частоте дискретизации 16 кГц, нормализация громкости, фильтрация низкочастотных шумов и удаление сегментов с молчанием.</a:t>
            </a:r>
          </a:p>
          <a:p>
            <a:r>
              <a:rPr lang="ru-RU" dirty="0"/>
              <a:t>Для адаптации под русскоязычные HR-сценарии применялась дополнительная разметка профессиональной терминологии и коррекция фонетических особенностей речи.</a:t>
            </a:r>
          </a:p>
          <a:p>
            <a:r>
              <a:rPr lang="ru-RU" dirty="0"/>
              <a:t>Датасеты разделены на обучающую, </a:t>
            </a:r>
            <a:r>
              <a:rPr lang="ru-RU" dirty="0" err="1"/>
              <a:t>валидационную</a:t>
            </a:r>
            <a:r>
              <a:rPr lang="ru-RU" dirty="0"/>
              <a:t> и тестовую выборки для объективной оценки метрики WER (Word </a:t>
            </a:r>
            <a:r>
              <a:rPr lang="ru-RU" dirty="0" err="1"/>
              <a:t>Error</a:t>
            </a:r>
            <a:r>
              <a:rPr lang="ru-RU" dirty="0"/>
              <a:t> Rate) и предотвращения переобучения модели.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876FA01B-9A52-F89F-A16D-335822DC56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9DB6E4-81A8-48FA-A111-413E3E85E768}" type="slidenum">
              <a:rPr lang="ru-RU"/>
              <a:t>15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9234588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AE47E73-D877-4497-A30F-9D6C2A4702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720" y="502887"/>
            <a:ext cx="4806346" cy="1325563"/>
          </a:xfrm>
        </p:spPr>
        <p:txBody>
          <a:bodyPr>
            <a:normAutofit fontScale="90000"/>
          </a:bodyPr>
          <a:lstStyle/>
          <a:p>
            <a:r>
              <a:rPr lang="ru-RU" dirty="0"/>
              <a:t>Алгоритмическое обеспечение. Алгоритм работы программы</a:t>
            </a:r>
          </a:p>
        </p:txBody>
      </p:sp>
      <p:pic>
        <p:nvPicPr>
          <p:cNvPr id="14" name="Рисунок 13" descr="Изображение выглядит как текст, снимок экрана, Шрифт, круг&#10;&#10;Автоматически созданное описание">
            <a:extLst>
              <a:ext uri="{FF2B5EF4-FFF2-40B4-BE49-F238E27FC236}">
                <a16:creationId xmlns:a16="http://schemas.microsoft.com/office/drawing/2014/main" id="{64B798B7-B817-76FD-B22A-243899D54FC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88898" y="93216"/>
            <a:ext cx="7577678" cy="6452798"/>
          </a:xfrm>
          <a:prstGeom prst="rect">
            <a:avLst/>
          </a:prstGeom>
        </p:spPr>
      </p:pic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7F01DB20-C1C1-2C1C-3C13-1BAAD2296A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9DB6E4-81A8-48FA-A111-413E3E85E768}" type="slidenum">
              <a:rPr lang="ru-RU" smtClean="0"/>
              <a:t>16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3459020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3A240AF3-3AA3-3709-E167-D4F5A9CA4F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1570743"/>
            <a:ext cx="10222992" cy="5224572"/>
          </a:xfrm>
          <a:prstGeom prst="rect">
            <a:avLst/>
          </a:prstGeom>
        </p:spPr>
      </p:pic>
      <p:sp>
        <p:nvSpPr>
          <p:cNvPr id="9" name="Заголовок 8">
            <a:extLst>
              <a:ext uri="{FF2B5EF4-FFF2-40B4-BE49-F238E27FC236}">
                <a16:creationId xmlns:a16="http://schemas.microsoft.com/office/drawing/2014/main" id="{97468337-8816-F43C-CDDA-7015138208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4" y="93216"/>
            <a:ext cx="10515600" cy="1325563"/>
          </a:xfrm>
        </p:spPr>
        <p:txBody>
          <a:bodyPr/>
          <a:lstStyle/>
          <a:p>
            <a:r>
              <a:rPr lang="ru-RU" dirty="0"/>
              <a:t>Интерфейс системы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2DA7844C-4845-591E-A755-516346161C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9DB6E4-81A8-48FA-A111-413E3E85E768}" type="slidenum">
              <a:rPr lang="ru-RU" smtClean="0"/>
              <a:t>17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9592504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E4679AE-9695-41ED-964A-F63B6DC860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1992"/>
            <a:ext cx="10515600" cy="1325563"/>
          </a:xfrm>
        </p:spPr>
        <p:txBody>
          <a:bodyPr/>
          <a:lstStyle/>
          <a:p>
            <a:r>
              <a:rPr lang="ru-RU" dirty="0"/>
              <a:t>Заключение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DA6D676-1DC8-4A9C-81A7-79527C288A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67162"/>
            <a:ext cx="10515600" cy="5308846"/>
          </a:xfrm>
        </p:spPr>
        <p:txBody>
          <a:bodyPr>
            <a:normAutofit fontScale="92500" lnSpcReduction="10000"/>
          </a:bodyPr>
          <a:lstStyle/>
          <a:p>
            <a:pPr algn="just"/>
            <a:r>
              <a:rPr lang="ru-RU" dirty="0"/>
              <a:t>В результате прохождения практики были изучены и описаны средства разработки: языки </a:t>
            </a:r>
            <a:r>
              <a:rPr lang="ru-RU" dirty="0" err="1"/>
              <a:t>TypeScript</a:t>
            </a:r>
            <a:r>
              <a:rPr lang="ru-RU" dirty="0"/>
              <a:t>, Go, Python, фреймворки </a:t>
            </a:r>
            <a:r>
              <a:rPr lang="ru-RU" dirty="0" err="1"/>
              <a:t>React</a:t>
            </a:r>
            <a:r>
              <a:rPr lang="ru-RU" dirty="0"/>
              <a:t>, </a:t>
            </a:r>
            <a:r>
              <a:rPr lang="ru-RU" dirty="0" err="1"/>
              <a:t>Gin</a:t>
            </a:r>
            <a:r>
              <a:rPr lang="ru-RU" dirty="0"/>
              <a:t>, </a:t>
            </a:r>
            <a:r>
              <a:rPr lang="ru-RU" dirty="0" err="1"/>
              <a:t>FastAPI</a:t>
            </a:r>
            <a:r>
              <a:rPr lang="ru-RU" dirty="0"/>
              <a:t>, </a:t>
            </a:r>
            <a:r>
              <a:rPr lang="ru-RU" dirty="0" err="1"/>
              <a:t>сверточные</a:t>
            </a:r>
            <a:r>
              <a:rPr lang="ru-RU" dirty="0"/>
              <a:t> и рекуррентные нейронные сети, библиотеки </a:t>
            </a:r>
            <a:r>
              <a:rPr lang="ru-RU" dirty="0" err="1"/>
              <a:t>OpenCV</a:t>
            </a:r>
            <a:r>
              <a:rPr lang="ru-RU" dirty="0"/>
              <a:t>, </a:t>
            </a:r>
            <a:r>
              <a:rPr lang="ru-RU" dirty="0" err="1"/>
              <a:t>DeepFace</a:t>
            </a:r>
            <a:r>
              <a:rPr lang="ru-RU" dirty="0"/>
              <a:t>, </a:t>
            </a:r>
            <a:r>
              <a:rPr lang="ru-RU" dirty="0" err="1"/>
              <a:t>MediaPipe</a:t>
            </a:r>
            <a:r>
              <a:rPr lang="ru-RU" dirty="0"/>
              <a:t>, </a:t>
            </a:r>
            <a:r>
              <a:rPr lang="ru-RU" dirty="0" err="1"/>
              <a:t>faster-whisper</a:t>
            </a:r>
            <a:r>
              <a:rPr lang="ru-RU" dirty="0"/>
              <a:t>, СУБД </a:t>
            </a:r>
            <a:r>
              <a:rPr lang="ru-RU" dirty="0" err="1"/>
              <a:t>PostgreSQL</a:t>
            </a:r>
            <a:r>
              <a:rPr lang="ru-RU" dirty="0"/>
              <a:t>, среда Draw.io.</a:t>
            </a:r>
          </a:p>
          <a:p>
            <a:pPr algn="just"/>
            <a:r>
              <a:rPr lang="ru-RU" dirty="0"/>
              <a:t>Проработаны виды обеспечения: информационное (видео/аудиопотоки, датасеты), программное (клиент-серверная архитектура, </a:t>
            </a:r>
            <a:r>
              <a:rPr lang="ru-RU" dirty="0" err="1"/>
              <a:t>микросервисы</a:t>
            </a:r>
            <a:r>
              <a:rPr lang="ru-RU" dirty="0"/>
              <a:t>), алгоритмическое (детекция, </a:t>
            </a:r>
            <a:r>
              <a:rPr lang="ru-RU" dirty="0" err="1"/>
              <a:t>транскрибация</a:t>
            </a:r>
            <a:r>
              <a:rPr lang="ru-RU" dirty="0"/>
              <a:t>, </a:t>
            </a:r>
            <a:r>
              <a:rPr lang="ru-RU" dirty="0" err="1"/>
              <a:t>late</a:t>
            </a:r>
            <a:r>
              <a:rPr lang="ru-RU" dirty="0"/>
              <a:t> </a:t>
            </a:r>
            <a:r>
              <a:rPr lang="ru-RU" dirty="0" err="1"/>
              <a:t>fusion</a:t>
            </a:r>
            <a:r>
              <a:rPr lang="ru-RU" dirty="0"/>
              <a:t>), математическое (метрики точности, WER).</a:t>
            </a:r>
          </a:p>
          <a:p>
            <a:pPr algn="just"/>
            <a:r>
              <a:rPr lang="ru-RU" dirty="0"/>
              <a:t>Реализованы модули анализа лица и эмоций на основе MTCNN и </a:t>
            </a:r>
            <a:r>
              <a:rPr lang="ru-RU" dirty="0" err="1"/>
              <a:t>предобученных</a:t>
            </a:r>
            <a:r>
              <a:rPr lang="ru-RU" dirty="0"/>
              <a:t> CNN, а также модуль распознавания речи </a:t>
            </a:r>
            <a:r>
              <a:rPr lang="ru-RU" dirty="0" err="1"/>
              <a:t>faster-whisper</a:t>
            </a:r>
            <a:r>
              <a:rPr lang="ru-RU" dirty="0"/>
              <a:t> с поддержкой </a:t>
            </a:r>
            <a:r>
              <a:rPr lang="ru-RU" dirty="0" err="1"/>
              <a:t>streaming</a:t>
            </a:r>
            <a:r>
              <a:rPr lang="ru-RU" dirty="0"/>
              <a:t>-обработки.</a:t>
            </a:r>
          </a:p>
          <a:p>
            <a:pPr algn="just"/>
            <a:r>
              <a:rPr lang="ru-RU" dirty="0"/>
              <a:t>Модули интегрированы в единую веб-платформу, протестированы в смоделированных HR-сценариях и готовы к внедрению с соблюдением требований ФЗ-152.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09D63931-887F-15C8-43DC-CD5EEB9906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9DB6E4-81A8-48FA-A111-413E3E85E768}" type="slidenum">
              <a:rPr lang="ru-RU" smtClean="0"/>
              <a:t>18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86821950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262</TotalTime>
  <Words>1359</Words>
  <Application>Microsoft Office PowerPoint</Application>
  <PresentationFormat>Широкоэкранный</PresentationFormat>
  <Paragraphs>115</Paragraphs>
  <Slides>18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18</vt:i4>
      </vt:variant>
    </vt:vector>
  </HeadingPairs>
  <TitlesOfParts>
    <vt:vector size="22" baseType="lpstr">
      <vt:lpstr>Aptos</vt:lpstr>
      <vt:lpstr>Arial</vt:lpstr>
      <vt:lpstr>Calibri</vt:lpstr>
      <vt:lpstr>Тема Office</vt:lpstr>
      <vt:lpstr>ПРОИЗВОДСТВЕННАЯ ПРАКТИКА, ПРЕДДИПЛОМНАЯ ПРАКТИКА </vt:lpstr>
      <vt:lpstr>Цель и задачи практики</vt:lpstr>
      <vt:lpstr>Актуальность</vt:lpstr>
      <vt:lpstr>Средства и технологии разработки</vt:lpstr>
      <vt:lpstr>Средства и технологии разработки</vt:lpstr>
      <vt:lpstr>Модуль анализа лица и эмоций</vt:lpstr>
      <vt:lpstr>Библиотеки и модели компьютерного зрения</vt:lpstr>
      <vt:lpstr>Функции модуля анализа видео</vt:lpstr>
      <vt:lpstr>Функции модуля распознавания речи</vt:lpstr>
      <vt:lpstr>Модель MediaPipe Face Landmarker</vt:lpstr>
      <vt:lpstr>Средство разработки пользовательского интерфейса</vt:lpstr>
      <vt:lpstr>Информационное обеспечение</vt:lpstr>
      <vt:lpstr>Логическая модель базы данных</vt:lpstr>
      <vt:lpstr>Датасеты для обучения моделей эмоций</vt:lpstr>
      <vt:lpstr>Датасеты для обучения моделей распознавания речи</vt:lpstr>
      <vt:lpstr>Алгоритмическое обеспечение. Алгоритм работы программы</vt:lpstr>
      <vt:lpstr>Интерфейс системы</vt:lpstr>
      <vt:lpstr>Заключение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ПРОИЗВОДСТВЕННАЯ ПРАКТИКА, ПРЕДДИПЛОМНАЯ ПРАКТИКА </dc:title>
  <dc:creator>Роман Чирко</dc:creator>
  <cp:lastModifiedBy>Виталий Демьянцев</cp:lastModifiedBy>
  <cp:revision>160</cp:revision>
  <dcterms:created xsi:type="dcterms:W3CDTF">2024-05-28T15:56:43Z</dcterms:created>
  <dcterms:modified xsi:type="dcterms:W3CDTF">2026-05-22T03:19:42Z</dcterms:modified>
</cp:coreProperties>
</file>