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removePersonalInfoOnSave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57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73" r:id="rId18"/>
    <p:sldId id="274" r:id="rId19"/>
  </p:sldIdLst>
  <p:sldSz cx="12192000" cy="6858000"/>
  <p:notesSz cx="6858000" cy="12192000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6B72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6" autoAdjust="0"/>
    <p:restoredTop sz="96247" autoAdjust="0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05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05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58A85D1-8DFF-4301-9440-8BCD59808AB0}" type="slidenum">
              <a:rPr lang="en-US" altLang="ru-RU">
                <a:latin typeface="Aptos" pitchFamily="34" charset="0"/>
              </a:rPr>
              <a:pPr eaLnBrk="1" hangingPunct="1"/>
              <a:t>0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409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410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E6B3213-1187-4B80-9F82-839F6DAFC8D3}" type="slidenum">
              <a:rPr lang="en-US" altLang="ru-RU">
                <a:latin typeface="Aptos" pitchFamily="34" charset="0"/>
              </a:rPr>
              <a:pPr eaLnBrk="1" hangingPunct="1"/>
              <a:t>1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614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614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613786FB-8534-4608-BD7B-584FEFC7F2C1}" type="slidenum">
              <a:rPr lang="en-US" altLang="ru-RU">
                <a:latin typeface="Aptos" pitchFamily="34" charset="0"/>
              </a:rPr>
              <a:pPr eaLnBrk="1" hangingPunct="1"/>
              <a:t>2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819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819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C8F747E-3650-438F-BD7B-B303F8AD9628}" type="slidenum">
              <a:rPr lang="en-US" altLang="ru-RU">
                <a:latin typeface="Aptos" pitchFamily="34" charset="0"/>
              </a:rPr>
              <a:pPr eaLnBrk="1" hangingPunct="1"/>
              <a:t>3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024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024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8A3BEAB-1711-480B-BD04-F089EC3A7E29}" type="slidenum">
              <a:rPr lang="en-US" altLang="ru-RU">
                <a:latin typeface="Aptos" pitchFamily="34" charset="0"/>
              </a:rPr>
              <a:pPr eaLnBrk="1" hangingPunct="1"/>
              <a:t>4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229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229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6ED6373-010C-4CD9-863D-37F7999E55BD}" type="slidenum">
              <a:rPr lang="en-US" altLang="ru-RU">
                <a:latin typeface="Aptos" pitchFamily="34" charset="0"/>
              </a:rPr>
              <a:pPr eaLnBrk="1" hangingPunct="1"/>
              <a:t>5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433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434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1AD8B52-BE60-4AEB-ADA6-144AB56DC9D2}" type="slidenum">
              <a:rPr lang="en-US" altLang="ru-RU">
                <a:latin typeface="Aptos" pitchFamily="34" charset="0"/>
              </a:rPr>
              <a:pPr eaLnBrk="1" hangingPunct="1"/>
              <a:t>6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638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638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25F957-E084-4A3F-AF48-A105291F8EDF}" type="slidenum">
              <a:rPr lang="en-US" altLang="ru-RU">
                <a:latin typeface="Aptos" pitchFamily="34" charset="0"/>
              </a:rPr>
              <a:pPr eaLnBrk="1" hangingPunct="1"/>
              <a:t>7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843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843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0B7D855-1083-4F63-B536-66312E8D27DF}" type="slidenum">
              <a:rPr lang="en-US" altLang="ru-RU">
                <a:latin typeface="Aptos" pitchFamily="34" charset="0"/>
              </a:rPr>
              <a:pPr eaLnBrk="1" hangingPunct="1"/>
              <a:t>8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048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048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86AEBC5-0402-40E7-A9D1-7DA2A810FD44}" type="slidenum">
              <a:rPr lang="en-US" altLang="ru-RU">
                <a:latin typeface="Aptos" pitchFamily="34" charset="0"/>
              </a:rPr>
              <a:pPr eaLnBrk="1" hangingPunct="1"/>
              <a:t>9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253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253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5E2C7F59-1294-421D-AF95-33427F9C80E4}" type="slidenum">
              <a:rPr lang="en-US" altLang="ru-RU">
                <a:latin typeface="Aptos" pitchFamily="34" charset="0"/>
              </a:rPr>
              <a:pPr eaLnBrk="1" hangingPunct="1"/>
              <a:t>10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457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458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23D0849-8216-45DE-B160-C63F00466113}" type="slidenum">
              <a:rPr lang="en-US" altLang="ru-RU">
                <a:latin typeface="Aptos" pitchFamily="34" charset="0"/>
              </a:rPr>
              <a:pPr eaLnBrk="1" hangingPunct="1"/>
              <a:t>11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662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662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A7BCAAC-D7AE-4852-9812-29E2DA1B84CD}" type="slidenum">
              <a:rPr lang="en-US" altLang="ru-RU">
                <a:latin typeface="Aptos" pitchFamily="34" charset="0"/>
              </a:rPr>
              <a:pPr eaLnBrk="1" hangingPunct="1"/>
              <a:t>12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867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867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D50B774-DF0B-414B-9DA7-B061C6CA5AA3}" type="slidenum">
              <a:rPr lang="en-US" altLang="ru-RU">
                <a:latin typeface="Aptos" pitchFamily="34" charset="0"/>
              </a:rPr>
              <a:pPr eaLnBrk="1" hangingPunct="1"/>
              <a:t>13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072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072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59D7D69-008D-471B-8AB8-B0EA6444AD40}" type="slidenum">
              <a:rPr lang="en-US" altLang="ru-RU">
                <a:latin typeface="Aptos" pitchFamily="34" charset="0"/>
              </a:rPr>
              <a:pPr eaLnBrk="1" hangingPunct="1"/>
              <a:t>14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277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277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6B46F1A-DB36-46C2-A70A-AB9785C319E7}" type="slidenum">
              <a:rPr lang="en-US" altLang="ru-RU">
                <a:latin typeface="Aptos" pitchFamily="34" charset="0"/>
              </a:rPr>
              <a:pPr eaLnBrk="1" hangingPunct="1"/>
              <a:t>15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481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482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88044F8F-6B3D-4720-B8BD-1F45806D499C}" type="slidenum">
              <a:rPr lang="en-US" altLang="ru-RU">
                <a:latin typeface="Aptos" pitchFamily="34" charset="0"/>
              </a:rPr>
              <a:pPr eaLnBrk="1" hangingPunct="1"/>
              <a:t>16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686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686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ADD78EF2-58B1-4BD4-A5F1-EAC0A1332984}" type="slidenum">
              <a:rPr lang="en-US" altLang="ru-RU">
                <a:latin typeface="Aptos" pitchFamily="34" charset="0"/>
              </a:rPr>
              <a:pPr eaLnBrk="1" hangingPunct="1"/>
              <a:t>17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4350E10-41CA-D562-80F2-41C9DEFE1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657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E830666-8143-BBC2-1528-638B2C13E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06548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5232343-10DB-D5C9-04DB-17C3C6FF1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hape 0"/>
          <p:cNvSpPr>
            <a:spLocks noChangeArrowheads="1"/>
          </p:cNvSpPr>
          <p:nvPr/>
        </p:nvSpPr>
        <p:spPr bwMode="auto">
          <a:xfrm>
            <a:off x="0" y="0"/>
            <a:ext cx="182563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027" name="Text 1"/>
          <p:cNvSpPr>
            <a:spLocks noChangeArrowheads="1"/>
          </p:cNvSpPr>
          <p:nvPr/>
        </p:nvSpPr>
        <p:spPr bwMode="auto">
          <a:xfrm>
            <a:off x="0" y="227013"/>
            <a:ext cx="12192000" cy="105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Бюджетное учреждение высшего образования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Ханты-Мансийского автономного округа – Югры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«Сургутский государственный университет»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Политехнический институт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Кафедра автоматизированных систем обработки информации и управления</a:t>
            </a:r>
            <a:endParaRPr lang="en-US" altLang="ru-RU" sz="1400"/>
          </a:p>
        </p:txBody>
      </p:sp>
      <p:sp>
        <p:nvSpPr>
          <p:cNvPr id="1028" name="Shape 2"/>
          <p:cNvSpPr>
            <a:spLocks noChangeShapeType="1"/>
          </p:cNvSpPr>
          <p:nvPr/>
        </p:nvSpPr>
        <p:spPr bwMode="auto">
          <a:xfrm>
            <a:off x="1965325" y="1390650"/>
            <a:ext cx="8321675" cy="0"/>
          </a:xfrm>
          <a:prstGeom prst="line">
            <a:avLst/>
          </a:prstGeom>
          <a:noFill/>
          <a:ln w="1524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9" name="Text 4"/>
          <p:cNvSpPr>
            <a:spLocks noChangeArrowheads="1"/>
          </p:cNvSpPr>
          <p:nvPr/>
        </p:nvSpPr>
        <p:spPr bwMode="auto">
          <a:xfrm>
            <a:off x="914400" y="2266950"/>
            <a:ext cx="10423525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54" tIns="254" rIns="254" bIns="254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800" b="1">
                <a:solidFill>
                  <a:srgbClr val="17323A"/>
                </a:solidFill>
                <a:cs typeface="Arial" panose="020B0604020202020204" pitchFamily="34" charset="0"/>
              </a:rPr>
              <a:t>СИСТЕМА РАСПОЗНАВАНИЯ ЭМОЦИЙ ЧЕЛОВЕКА НА ОСНОВЕ ИСКУССТВЕННОЙ НЕЙРОННОЙ СЕТИ</a:t>
            </a:r>
            <a:endParaRPr lang="en-US" altLang="ru-RU" sz="2800"/>
          </a:p>
        </p:txBody>
      </p:sp>
      <p:sp>
        <p:nvSpPr>
          <p:cNvPr id="1030" name="Shape 5"/>
          <p:cNvSpPr>
            <a:spLocks noChangeShapeType="1"/>
          </p:cNvSpPr>
          <p:nvPr/>
        </p:nvSpPr>
        <p:spPr bwMode="auto">
          <a:xfrm>
            <a:off x="4160838" y="3676650"/>
            <a:ext cx="3886200" cy="0"/>
          </a:xfrm>
          <a:prstGeom prst="line">
            <a:avLst/>
          </a:prstGeom>
          <a:noFill/>
          <a:ln w="2540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1" name="Text 6"/>
          <p:cNvSpPr>
            <a:spLocks noChangeArrowheads="1"/>
          </p:cNvSpPr>
          <p:nvPr/>
        </p:nvSpPr>
        <p:spPr bwMode="auto">
          <a:xfrm>
            <a:off x="6583363" y="4508500"/>
            <a:ext cx="5565775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Выполнил: </a:t>
            </a:r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Демьянцев Виталий Владиславович</a:t>
            </a:r>
            <a:endParaRPr lang="en-US" altLang="ru-RU" sz="1600"/>
          </a:p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Группа: </a:t>
            </a:r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606-22</a:t>
            </a:r>
            <a:endParaRPr lang="en-US" altLang="ru-RU" sz="1600"/>
          </a:p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Научный руководитель: старший преподаватель</a:t>
            </a:r>
            <a:endParaRPr lang="en-US" altLang="ru-RU" sz="1600"/>
          </a:p>
          <a:p>
            <a:pPr eaLnBrk="1" hangingPunct="1"/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Горбунов Дмитрий Владимирович</a:t>
            </a:r>
            <a:endParaRPr lang="en-US" altLang="ru-RU" sz="1600"/>
          </a:p>
        </p:txBody>
      </p:sp>
      <p:sp>
        <p:nvSpPr>
          <p:cNvPr id="1032" name="Text 7"/>
          <p:cNvSpPr>
            <a:spLocks noChangeArrowheads="1"/>
          </p:cNvSpPr>
          <p:nvPr/>
        </p:nvSpPr>
        <p:spPr bwMode="auto">
          <a:xfrm>
            <a:off x="914400" y="6235700"/>
            <a:ext cx="9875838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ru-RU" sz="1200">
                <a:solidFill>
                  <a:srgbClr val="0B3F4C"/>
                </a:solidFill>
                <a:cs typeface="Arial" panose="020B0604020202020204" pitchFamily="34" charset="0"/>
              </a:rPr>
              <a:t>2026</a:t>
            </a:r>
            <a:endParaRPr lang="en-US" altLang="ru-RU" sz="1200"/>
          </a:p>
        </p:txBody>
      </p:sp>
      <p:sp>
        <p:nvSpPr>
          <p:cNvPr id="1033" name="Text 8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endParaRPr lang="en-US" altLang="ru-RU" sz="800"/>
          </a:p>
        </p:txBody>
      </p:sp>
      <p:pic>
        <p:nvPicPr>
          <p:cNvPr id="1034" name="Рисунок 1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3438" y="31750"/>
            <a:ext cx="1101725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07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07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8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ПОСТАНОВКА ЗАДАЧИ</a:t>
            </a:r>
            <a:endParaRPr lang="en-US" altLang="ru-RU" sz="2500"/>
          </a:p>
        </p:txBody>
      </p:sp>
      <p:sp>
        <p:nvSpPr>
          <p:cNvPr id="3079" name="Text 7"/>
          <p:cNvSpPr>
            <a:spLocks noChangeArrowheads="1"/>
          </p:cNvSpPr>
          <p:nvPr/>
        </p:nvSpPr>
        <p:spPr bwMode="auto">
          <a:xfrm>
            <a:off x="503238" y="1633538"/>
            <a:ext cx="5732462" cy="352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43180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Изучить предметную область и аналоги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Сформировать функциональные требования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Выбрать модели искусственных нейронных сетей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Спроектировать функциональную модель системы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Выбрать средства разработки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Реализовать и протестировать программный комплекс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B27220C-B200-81F1-F3EF-F7021FF3B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</a:t>
            </a:fld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512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512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ru-RU" altLang="ru-RU" sz="2400" b="1">
                <a:solidFill>
                  <a:srgbClr val="17323A"/>
                </a:solidFill>
                <a:cs typeface="Arial" panose="020B0604020202020204" pitchFamily="34" charset="0"/>
              </a:rPr>
              <a:t>АКТУАЛЬНОСТЬ РАЗРАБОТКИ</a:t>
            </a:r>
            <a:endParaRPr lang="en-US" altLang="ru-RU" sz="2400"/>
          </a:p>
        </p:txBody>
      </p:sp>
      <p:sp>
        <p:nvSpPr>
          <p:cNvPr id="5127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Рост роли эмоционального интеллекта в управлении персоналом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Ограниченность традиционных методов оценки (субъективизм, низкая оперативность)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Возможности современных технологий ИИ для анализа эмоций в реальном времени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Необходимость мультимодального подхода (анализ лица и голоса одновременно)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Важность соответствия требованиям ФЗ-152 о защите персональных данных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7396C8E-4AF4-6A1F-6E01-544B098B5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2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717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717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3" name="Text 4"/>
          <p:cNvSpPr>
            <a:spLocks noChangeArrowheads="1"/>
          </p:cNvSpPr>
          <p:nvPr/>
        </p:nvSpPr>
        <p:spPr bwMode="auto">
          <a:xfrm>
            <a:off x="503238" y="785813"/>
            <a:ext cx="71612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АНАЛИТИЧЕСКИЙ ОБЗОР АНАЛОГОВ</a:t>
            </a:r>
            <a:endParaRPr lang="en-US" altLang="ru-RU" sz="250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595850"/>
              </p:ext>
            </p:extLst>
          </p:nvPr>
        </p:nvGraphicFramePr>
        <p:xfrm>
          <a:off x="885825" y="1289050"/>
          <a:ext cx="10420350" cy="5116513"/>
        </p:xfrm>
        <a:graphic>
          <a:graphicData uri="http://schemas.openxmlformats.org/drawingml/2006/table">
            <a:tbl>
              <a:tblPr/>
              <a:tblGrid>
                <a:gridCol w="2084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4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3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5205">
                <a:tc>
                  <a:txBody>
                    <a:bodyPr/>
                    <a:lstStyle/>
                    <a:p>
                      <a:r>
                        <a:rPr lang="ru-RU" sz="1400" dirty="0"/>
                        <a:t>Критерий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Affectiva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компьютерное зрение)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Beyond Verbal (</a:t>
                      </a:r>
                      <a:r>
                        <a:rPr lang="ru-RU" sz="1400" dirty="0"/>
                        <a:t>анализ аудио)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Emotient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мультимодальная)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Разрабатываемая система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 err="1"/>
                        <a:t>Мультимодальность</a:t>
                      </a:r>
                      <a:endParaRPr lang="ru-RU" sz="1400" dirty="0"/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705">
                <a:tc>
                  <a:txBody>
                    <a:bodyPr/>
                    <a:lstStyle/>
                    <a:p>
                      <a:r>
                        <a:rPr lang="ru-RU" sz="1400" dirty="0"/>
                        <a:t>Учёт видеопотока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705">
                <a:tc>
                  <a:txBody>
                    <a:bodyPr/>
                    <a:lstStyle/>
                    <a:p>
                      <a:r>
                        <a:rPr lang="ru-RU" sz="1400" dirty="0"/>
                        <a:t>Учёт аудиопотока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Точность классификации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Адаптивность к </a:t>
                      </a:r>
                      <a:r>
                        <a:rPr lang="en-US" sz="1400" dirty="0"/>
                        <a:t>HR-</a:t>
                      </a:r>
                      <a:r>
                        <a:rPr lang="ru-RU" sz="1400" dirty="0"/>
                        <a:t>сценариям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Низкая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Соответствие ФЗ-152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Стоимость внедрения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Лицензионные отчисления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1BAAE685-98B6-CBEE-020B-F636A8C23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921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922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1" name="Text 4"/>
          <p:cNvSpPr>
            <a:spLocks noChangeArrowheads="1"/>
          </p:cNvSpPr>
          <p:nvPr/>
        </p:nvSpPr>
        <p:spPr bwMode="auto">
          <a:xfrm>
            <a:off x="503238" y="198438"/>
            <a:ext cx="3833812" cy="207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ДИАГРАММА БИЗНЕС-ПРОЦЕССА</a:t>
            </a:r>
            <a:endParaRPr lang="en-US" altLang="ru-RU" sz="2500"/>
          </a:p>
        </p:txBody>
      </p:sp>
      <p:pic>
        <p:nvPicPr>
          <p:cNvPr id="9222" name="Рисунок 3" descr="Изображение выглядит как текст, снимок экрана, диаграмма, Параллельный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3538" y="334963"/>
            <a:ext cx="7937500" cy="622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5D597A0-332F-C8CA-BDC5-96D73A060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126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126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69" name="Text 4"/>
          <p:cNvSpPr>
            <a:spLocks noChangeArrowheads="1"/>
          </p:cNvSpPr>
          <p:nvPr/>
        </p:nvSpPr>
        <p:spPr bwMode="auto">
          <a:xfrm>
            <a:off x="503238" y="785813"/>
            <a:ext cx="39322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ФУНКЦИОНАЛЬНАЯ МОДЕЛЬ</a:t>
            </a:r>
            <a:endParaRPr lang="en-US" altLang="ru-RU" sz="2500"/>
          </a:p>
        </p:txBody>
      </p:sp>
      <p:pic>
        <p:nvPicPr>
          <p:cNvPr id="11270" name="Рисунок 2" descr="Изображение выглядит как снимок экрана, текст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0387" y="31750"/>
            <a:ext cx="7944841" cy="63455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857BA77-C7C6-DD28-E05B-2C18D78ED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1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331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7" name="Text 4"/>
          <p:cNvSpPr>
            <a:spLocks noChangeArrowheads="1"/>
          </p:cNvSpPr>
          <p:nvPr/>
        </p:nvSpPr>
        <p:spPr bwMode="auto">
          <a:xfrm>
            <a:off x="503238" y="785813"/>
            <a:ext cx="3398837" cy="1160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ДЕКОМПОЗИЦИЯ ФУНКЦИОНАЛЬНОЙ МОДЕЛИ</a:t>
            </a:r>
            <a:endParaRPr lang="en-US" altLang="ru-RU" sz="2500"/>
          </a:p>
        </p:txBody>
      </p:sp>
      <p:pic>
        <p:nvPicPr>
          <p:cNvPr id="13318" name="Рисунок 2" descr="Изображение выглядит как снимок экрана, текст, диаграмма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7375" y="539750"/>
            <a:ext cx="10334625" cy="565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653056-0341-39F0-6582-B307AB1FD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6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536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Text 4"/>
          <p:cNvSpPr>
            <a:spLocks noChangeArrowheads="1"/>
          </p:cNvSpPr>
          <p:nvPr/>
        </p:nvSpPr>
        <p:spPr bwMode="auto">
          <a:xfrm>
            <a:off x="503238" y="785813"/>
            <a:ext cx="71612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ДИАГРАММА ПОТОКОВ ДАННЫХ</a:t>
            </a:r>
            <a:endParaRPr lang="en-US" altLang="ru-RU" sz="2500"/>
          </a:p>
        </p:txBody>
      </p:sp>
      <p:pic>
        <p:nvPicPr>
          <p:cNvPr id="15366" name="Рисунок 2" descr="Изображение выглядит как текст, снимок экрана, Шрифт, фиолетовый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3" y="1654175"/>
            <a:ext cx="7683500" cy="458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9A00DAF-1797-691E-8AD0-AFCD14944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7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1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741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3" name="Text 4"/>
          <p:cNvSpPr>
            <a:spLocks noChangeArrowheads="1"/>
          </p:cNvSpPr>
          <p:nvPr/>
        </p:nvSpPr>
        <p:spPr bwMode="auto">
          <a:xfrm>
            <a:off x="503238" y="785813"/>
            <a:ext cx="36560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ИНФОЛОГИЧЕСКАЯ МОДЕЛЬ</a:t>
            </a:r>
            <a:endParaRPr lang="en-US" altLang="ru-RU" sz="2500"/>
          </a:p>
        </p:txBody>
      </p:sp>
      <p:pic>
        <p:nvPicPr>
          <p:cNvPr id="17414" name="Рисунок 2" descr="Изображение выглядит как снимок экрана, круг, черно-белый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238" y="904875"/>
            <a:ext cx="11701462" cy="5853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9A2FD74-4EC3-78CD-1240-F118EFFC72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5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946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1" name="Text 4"/>
          <p:cNvSpPr>
            <a:spLocks noChangeArrowheads="1"/>
          </p:cNvSpPr>
          <p:nvPr/>
        </p:nvSpPr>
        <p:spPr bwMode="auto">
          <a:xfrm>
            <a:off x="503238" y="785813"/>
            <a:ext cx="2562507" cy="1939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 dirty="0">
                <a:solidFill>
                  <a:srgbClr val="17323A"/>
                </a:solidFill>
                <a:cs typeface="Arial" panose="020B0604020202020204" pitchFamily="34" charset="0"/>
              </a:rPr>
              <a:t>ФИЗИЧЕСКАЯ МОДЕЛЬ БАЗЫ ДАННЫХ</a:t>
            </a:r>
            <a:endParaRPr lang="en-US" altLang="ru-RU" sz="2500" dirty="0"/>
          </a:p>
        </p:txBody>
      </p:sp>
      <p:pic>
        <p:nvPicPr>
          <p:cNvPr id="19462" name="Рисунок 2" descr="Изображение выглядит как снимок экрана, текст, Шрифт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2189" y="420687"/>
            <a:ext cx="9067266" cy="57356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2A8E318-7A2A-F68D-1905-5E1BD661D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9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150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150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09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СРЕДСТВА И ТЕХНОЛОГИИ РАЗРАБОТКИ</a:t>
            </a:r>
            <a:endParaRPr lang="en-US" altLang="ru-RU" sz="2500"/>
          </a:p>
        </p:txBody>
      </p:sp>
      <p:pic>
        <p:nvPicPr>
          <p:cNvPr id="21510" name="Picture 4" descr="Picture backgroun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713" y="2232025"/>
            <a:ext cx="1695450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1" name="Picture 6" descr="Picture backgroun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2813" y="3194050"/>
            <a:ext cx="858837" cy="85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2" name="Picture 8" descr="Picture backgrou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1063" y="4340225"/>
            <a:ext cx="933450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3" name="Picture 12" descr="Picture backgrou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5188" y="5686425"/>
            <a:ext cx="963612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4" name="Picture 14" descr="Picture background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9150" y="885825"/>
            <a:ext cx="1046163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5" name="Text 7"/>
          <p:cNvSpPr>
            <a:spLocks noChangeArrowheads="1"/>
          </p:cNvSpPr>
          <p:nvPr/>
        </p:nvSpPr>
        <p:spPr bwMode="auto">
          <a:xfrm>
            <a:off x="520700" y="1289050"/>
            <a:ext cx="5870575" cy="386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Клиентская часть: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React + TypeScript + Vite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Серверная часть: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Go + Gin + WebSocket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Модули ИИ: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Python + OpenCV + FastAPI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База данных: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PostgreSQL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Контейнеризация: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Docker Compose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2E50865-7CAA-EAD3-C58A-D70B777F03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355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355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57" name="Text 4"/>
          <p:cNvSpPr>
            <a:spLocks noChangeArrowheads="1"/>
          </p:cNvSpPr>
          <p:nvPr/>
        </p:nvSpPr>
        <p:spPr bwMode="auto">
          <a:xfrm>
            <a:off x="503238" y="5826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АЛГОРИТМ РАБОТЫ СИСТЕМЫ</a:t>
            </a:r>
            <a:endParaRPr lang="en-US" altLang="ru-RU" sz="2500"/>
          </a:p>
        </p:txBody>
      </p:sp>
      <p:pic>
        <p:nvPicPr>
          <p:cNvPr id="23558" name="Рисунок 8" descr="Изображение выглядит как текст, снимок экрана, круг, графический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20" y="985838"/>
            <a:ext cx="11185525" cy="579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AA4B343-26A1-88DB-1827-FEB341CE8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560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560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5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МОДУЛЬ АНАЛИЗА ЛИЦА И ЭМОЦИЙ</a:t>
            </a:r>
            <a:endParaRPr lang="en-US" altLang="ru-RU" sz="2500"/>
          </a:p>
        </p:txBody>
      </p:sp>
      <p:sp>
        <p:nvSpPr>
          <p:cNvPr id="25606" name="Text 7"/>
          <p:cNvSpPr>
            <a:spLocks noChangeArrowheads="1"/>
          </p:cNvSpPr>
          <p:nvPr/>
        </p:nvSpPr>
        <p:spPr bwMode="auto">
          <a:xfrm>
            <a:off x="520701" y="1541902"/>
            <a:ext cx="4893272" cy="47763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Модуль использует MTCNN для детекции лиц и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DeepFace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 (на базе VGG-Face) для классификации эмоций. 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Дополнительно интегрирована модель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MediaPipe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 Face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Landmarker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, которая строит сетку из 468 ключевых точек лица. 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Классификация проводится по модели Пола Экмана (6 базовых эмоций).</a:t>
            </a:r>
            <a:endParaRPr lang="en-US" altLang="ru-RU" dirty="0"/>
          </a:p>
        </p:txBody>
      </p:sp>
      <p:pic>
        <p:nvPicPr>
          <p:cNvPr id="2" name="Рисунок 1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823" y="2365767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5483F58-ABF2-EE93-490D-5610716AB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765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53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МОДУЛЬ РАСПОЗНАВАНИЯ РЕЧИ</a:t>
            </a:r>
            <a:endParaRPr lang="en-US" altLang="ru-RU" sz="2500"/>
          </a:p>
        </p:txBody>
      </p:sp>
      <p:sp>
        <p:nvSpPr>
          <p:cNvPr id="27654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Для автоматического распознавания речи применяется модель Whisper (faster-whisper).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Выполняется извлечение мел-частотных кепстральных коэффициентов (MFCC).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Применены оптимизации (квантование весов, пакетная обработка) для работы в реальном времени.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CCC8667-F8F9-9C9D-EF0C-08F553844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13</a:t>
            </a:fld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969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970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01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АНАЛИЗ ТОНАЛЬНОСТИ ТЕКСТА</a:t>
            </a:r>
            <a:endParaRPr lang="en-US" altLang="ru-RU" sz="2500"/>
          </a:p>
        </p:txBody>
      </p:sp>
      <p:sp>
        <p:nvSpPr>
          <p:cNvPr id="29702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Транскрибированный текст обрабатывается моделью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DistilBERT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.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Определяется тональность высказывания: позитивная, нейтральная или негативная.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Используется принцип позднего слияния для объединения результатов всех модальностей.</a:t>
            </a:r>
            <a:endParaRPr lang="en-US" alt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C35EBFE-ECEB-2436-345D-8AD2DD028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14</a:t>
            </a:fld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174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174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49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 dirty="0">
                <a:solidFill>
                  <a:srgbClr val="17323A"/>
                </a:solidFill>
                <a:cs typeface="Arial" panose="020B0604020202020204" pitchFamily="34" charset="0"/>
              </a:rPr>
              <a:t>ИНТЕРФЕЙС СИСТЕМЫ</a:t>
            </a:r>
            <a:endParaRPr lang="en-US" altLang="ru-RU" sz="2500" dirty="0"/>
          </a:p>
        </p:txBody>
      </p:sp>
      <p:pic>
        <p:nvPicPr>
          <p:cNvPr id="31750" name="Рисунок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9168" y="1289050"/>
            <a:ext cx="9533664" cy="478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F5ABFA6-30C6-CA6A-A37C-3CF647AA6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15</a:t>
            </a:fld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379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379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797" name="Text 3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r>
              <a:rPr lang="en-US" altLang="ru-RU" sz="800" dirty="0">
                <a:solidFill>
                  <a:srgbClr val="6A7A80"/>
                </a:solidFill>
                <a:cs typeface="Arial" panose="020B0604020202020204" pitchFamily="34" charset="0"/>
              </a:rPr>
              <a:t>18</a:t>
            </a:r>
            <a:endParaRPr lang="en-US" altLang="ru-RU" sz="800" dirty="0"/>
          </a:p>
        </p:txBody>
      </p:sp>
      <p:sp>
        <p:nvSpPr>
          <p:cNvPr id="33798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ИТОГИ РАБОТЫ</a:t>
            </a:r>
            <a:endParaRPr lang="en-US" altLang="ru-RU" sz="2500"/>
          </a:p>
        </p:txBody>
      </p:sp>
      <p:sp>
        <p:nvSpPr>
          <p:cNvPr id="33799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Проведён анализ предметной области и существующих аналогов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Спроектирована функциональная модель системы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Выбраны модели ИНС и средства разработки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Реализован и протестирован программный комплекс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Обеспечено соответствие требованиям ФЗ-152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FCBDBCC-40FE-6F5C-8095-509E18D80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16</a:t>
            </a:fld>
            <a:endParaRPr lang="ru-R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hape 0"/>
          <p:cNvSpPr>
            <a:spLocks noChangeArrowheads="1"/>
          </p:cNvSpPr>
          <p:nvPr/>
        </p:nvSpPr>
        <p:spPr bwMode="auto">
          <a:xfrm>
            <a:off x="0" y="0"/>
            <a:ext cx="3657600" cy="6858000"/>
          </a:xfrm>
          <a:prstGeom prst="rect">
            <a:avLst/>
          </a:prstGeom>
          <a:solidFill>
            <a:srgbClr val="0B3F4C"/>
          </a:solidFill>
          <a:ln w="12700">
            <a:solidFill>
              <a:srgbClr val="0B3F4C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5843" name="Text 1"/>
          <p:cNvSpPr>
            <a:spLocks noChangeArrowheads="1"/>
          </p:cNvSpPr>
          <p:nvPr/>
        </p:nvSpPr>
        <p:spPr bwMode="auto">
          <a:xfrm>
            <a:off x="593725" y="2487613"/>
            <a:ext cx="2560638" cy="776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500" b="1">
                <a:solidFill>
                  <a:srgbClr val="FFFFFF"/>
                </a:solidFill>
                <a:cs typeface="Arial" panose="020B0604020202020204" pitchFamily="34" charset="0"/>
              </a:rPr>
              <a:t>СПАСИБО</a:t>
            </a:r>
            <a:endParaRPr lang="en-US" altLang="ru-RU" sz="2500"/>
          </a:p>
          <a:p>
            <a:pPr eaLnBrk="1" hangingPunct="1"/>
            <a:r>
              <a:rPr lang="en-US" altLang="ru-RU" sz="2500" b="1">
                <a:solidFill>
                  <a:srgbClr val="FFFFFF"/>
                </a:solidFill>
                <a:cs typeface="Arial" panose="020B0604020202020204" pitchFamily="34" charset="0"/>
              </a:rPr>
              <a:t>ЗА ВНИМАНИЕ</a:t>
            </a:r>
            <a:endParaRPr lang="en-US" altLang="ru-RU" sz="2500"/>
          </a:p>
        </p:txBody>
      </p:sp>
      <p:sp>
        <p:nvSpPr>
          <p:cNvPr id="35844" name="Text 4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r>
              <a:rPr lang="en-US" altLang="ru-RU" sz="800">
                <a:solidFill>
                  <a:srgbClr val="6A7A80"/>
                </a:solidFill>
                <a:cs typeface="Arial" panose="020B0604020202020204" pitchFamily="34" charset="0"/>
              </a:rPr>
              <a:t>19</a:t>
            </a:r>
            <a:endParaRPr lang="en-US" altLang="ru-RU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479</Words>
  <Application>Microsoft Office PowerPoint</Application>
  <PresentationFormat>Широкоэкранный</PresentationFormat>
  <Paragraphs>156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Aptos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2026-06-22T20:48:44Z</dcterms:created>
  <dcterms:modified xsi:type="dcterms:W3CDTF">2026-06-30T17:21:08Z</dcterms:modified>
</cp:coreProperties>
</file>