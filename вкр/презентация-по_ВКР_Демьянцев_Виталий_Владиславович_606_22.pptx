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57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73" r:id="rId18"/>
    <p:sldId id="274" r:id="rId19"/>
  </p:sldIdLst>
  <p:sldSz cx="12192000" cy="6858000"/>
  <p:notesSz cx="6858000" cy="12192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6B72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6" autoAdjust="0"/>
    <p:restoredTop sz="96247" autoAdjust="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1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2052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058A85D1-8DFF-4301-9440-8BCD59808AB0}" type="slidenum">
              <a:rPr lang="en-US" altLang="ru-RU">
                <a:latin typeface="Aptos" pitchFamily="34" charset="0"/>
              </a:rPr>
              <a:pPr eaLnBrk="1" hangingPunct="1"/>
              <a:t>1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099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4100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E6B3213-1187-4B80-9F82-839F6DAFC8D3}" type="slidenum">
              <a:rPr lang="en-US" altLang="ru-RU">
                <a:latin typeface="Aptos" pitchFamily="34" charset="0"/>
              </a:rPr>
              <a:pPr eaLnBrk="1" hangingPunct="1"/>
              <a:t>2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6147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6148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13786FB-8534-4608-BD7B-584FEFC7F2C1}" type="slidenum">
              <a:rPr lang="en-US" altLang="ru-RU">
                <a:latin typeface="Aptos" pitchFamily="34" charset="0"/>
              </a:rPr>
              <a:pPr eaLnBrk="1" hangingPunct="1"/>
              <a:t>3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C8F747E-3650-438F-BD7B-B303F8AD9628}" type="slidenum">
              <a:rPr lang="en-US" altLang="ru-RU">
                <a:latin typeface="Aptos" pitchFamily="34" charset="0"/>
              </a:rPr>
              <a:pPr eaLnBrk="1" hangingPunct="1"/>
              <a:t>4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0243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0244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8A3BEAB-1711-480B-BD04-F089EC3A7E29}" type="slidenum">
              <a:rPr lang="en-US" altLang="ru-RU">
                <a:latin typeface="Aptos" pitchFamily="34" charset="0"/>
              </a:rPr>
              <a:pPr eaLnBrk="1" hangingPunct="1"/>
              <a:t>5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2291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2292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6ED6373-010C-4CD9-863D-37F7999E55BD}" type="slidenum">
              <a:rPr lang="en-US" altLang="ru-RU">
                <a:latin typeface="Aptos" pitchFamily="34" charset="0"/>
              </a:rPr>
              <a:pPr eaLnBrk="1" hangingPunct="1"/>
              <a:t>6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4339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4340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1AD8B52-BE60-4AEB-ADA6-144AB56DC9D2}" type="slidenum">
              <a:rPr lang="en-US" altLang="ru-RU">
                <a:latin typeface="Aptos" pitchFamily="34" charset="0"/>
              </a:rPr>
              <a:pPr eaLnBrk="1" hangingPunct="1"/>
              <a:t>7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6387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6388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325F957-E084-4A3F-AF48-A105291F8EDF}" type="slidenum">
              <a:rPr lang="en-US" altLang="ru-RU">
                <a:latin typeface="Aptos" pitchFamily="34" charset="0"/>
              </a:rPr>
              <a:pPr eaLnBrk="1" hangingPunct="1"/>
              <a:t>8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1843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1843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0B7D855-1083-4F63-B536-66312E8D27DF}" type="slidenum">
              <a:rPr lang="en-US" altLang="ru-RU">
                <a:latin typeface="Aptos" pitchFamily="34" charset="0"/>
              </a:rPr>
              <a:pPr eaLnBrk="1" hangingPunct="1"/>
              <a:t>9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483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20484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86AEBC5-0402-40E7-A9D1-7DA2A810FD44}" type="slidenum">
              <a:rPr lang="en-US" altLang="ru-RU">
                <a:latin typeface="Aptos" pitchFamily="34" charset="0"/>
              </a:rPr>
              <a:pPr eaLnBrk="1" hangingPunct="1"/>
              <a:t>10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2531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22532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E2C7F59-1294-421D-AF95-33427F9C80E4}" type="slidenum">
              <a:rPr lang="en-US" altLang="ru-RU">
                <a:latin typeface="Aptos" pitchFamily="34" charset="0"/>
              </a:rPr>
              <a:pPr eaLnBrk="1" hangingPunct="1"/>
              <a:t>11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4579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24580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23D0849-8216-45DE-B160-C63F00466113}" type="slidenum">
              <a:rPr lang="en-US" altLang="ru-RU">
                <a:latin typeface="Aptos" pitchFamily="34" charset="0"/>
              </a:rPr>
              <a:pPr eaLnBrk="1" hangingPunct="1"/>
              <a:t>12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6627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26628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A7BCAAC-D7AE-4852-9812-29E2DA1B84CD}" type="slidenum">
              <a:rPr lang="en-US" altLang="ru-RU">
                <a:latin typeface="Aptos" pitchFamily="34" charset="0"/>
              </a:rPr>
              <a:pPr eaLnBrk="1" hangingPunct="1"/>
              <a:t>13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867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2867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D50B774-DF0B-414B-9DA7-B061C6CA5AA3}" type="slidenum">
              <a:rPr lang="en-US" altLang="ru-RU">
                <a:latin typeface="Aptos" pitchFamily="34" charset="0"/>
              </a:rPr>
              <a:pPr eaLnBrk="1" hangingPunct="1"/>
              <a:t>14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23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30724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59D7D69-008D-471B-8AB8-B0EA6444AD40}" type="slidenum">
              <a:rPr lang="en-US" altLang="ru-RU">
                <a:latin typeface="Aptos" pitchFamily="34" charset="0"/>
              </a:rPr>
              <a:pPr eaLnBrk="1" hangingPunct="1"/>
              <a:t>15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2771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32772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6B46F1A-DB36-46C2-A70A-AB9785C319E7}" type="slidenum">
              <a:rPr lang="en-US" altLang="ru-RU">
                <a:latin typeface="Aptos" pitchFamily="34" charset="0"/>
              </a:rPr>
              <a:pPr eaLnBrk="1" hangingPunct="1"/>
              <a:t>16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4819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34820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88044F8F-6B3D-4720-B8BD-1F45806D499C}" type="slidenum">
              <a:rPr lang="en-US" altLang="ru-RU">
                <a:latin typeface="Aptos" pitchFamily="34" charset="0"/>
              </a:rPr>
              <a:pPr eaLnBrk="1" hangingPunct="1"/>
              <a:t>17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6867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ru-RU"/>
          </a:p>
        </p:txBody>
      </p:sp>
      <p:sp>
        <p:nvSpPr>
          <p:cNvPr id="36868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DD78EF2-58B1-4BD4-A5F1-EAC0A1332984}" type="slidenum">
              <a:rPr lang="en-US" altLang="ru-RU">
                <a:latin typeface="Aptos" pitchFamily="34" charset="0"/>
              </a:rPr>
              <a:pPr eaLnBrk="1" hangingPunct="1"/>
              <a:t>18</a:t>
            </a:fld>
            <a:endParaRPr lang="en-US" altLang="ru-RU">
              <a:latin typeface="Aptos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9657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6548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0"/>
          <p:cNvSpPr>
            <a:spLocks noChangeArrowheads="1"/>
          </p:cNvSpPr>
          <p:nvPr/>
        </p:nvSpPr>
        <p:spPr bwMode="auto">
          <a:xfrm>
            <a:off x="0" y="0"/>
            <a:ext cx="182563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027" name="Text 1"/>
          <p:cNvSpPr>
            <a:spLocks noChangeArrowheads="1"/>
          </p:cNvSpPr>
          <p:nvPr/>
        </p:nvSpPr>
        <p:spPr bwMode="auto">
          <a:xfrm>
            <a:off x="0" y="227013"/>
            <a:ext cx="12192000" cy="105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ru-RU" sz="1400">
                <a:solidFill>
                  <a:srgbClr val="0B3F4C"/>
                </a:solidFill>
                <a:cs typeface="Arial" panose="020B0604020202020204" pitchFamily="34" charset="0"/>
              </a:rPr>
              <a:t>Бюджетное учреждение высшего образования</a:t>
            </a:r>
            <a:endParaRPr lang="en-US" altLang="ru-RU" sz="1400"/>
          </a:p>
          <a:p>
            <a:pPr algn="ctr" eaLnBrk="1" hangingPunct="1">
              <a:lnSpc>
                <a:spcPct val="90000"/>
              </a:lnSpc>
            </a:pPr>
            <a:r>
              <a:rPr lang="en-US" altLang="ru-RU" sz="1400">
                <a:solidFill>
                  <a:srgbClr val="0B3F4C"/>
                </a:solidFill>
                <a:cs typeface="Arial" panose="020B0604020202020204" pitchFamily="34" charset="0"/>
              </a:rPr>
              <a:t>Ханты-Мансийского автономного округа – Югры</a:t>
            </a:r>
            <a:endParaRPr lang="en-US" altLang="ru-RU" sz="1400"/>
          </a:p>
          <a:p>
            <a:pPr algn="ctr" eaLnBrk="1" hangingPunct="1">
              <a:lnSpc>
                <a:spcPct val="90000"/>
              </a:lnSpc>
            </a:pPr>
            <a:r>
              <a:rPr lang="en-US" altLang="ru-RU" sz="1400">
                <a:solidFill>
                  <a:srgbClr val="0B3F4C"/>
                </a:solidFill>
                <a:cs typeface="Arial" panose="020B0604020202020204" pitchFamily="34" charset="0"/>
              </a:rPr>
              <a:t>«Сургутский государственный университет»</a:t>
            </a:r>
            <a:endParaRPr lang="en-US" altLang="ru-RU" sz="1400"/>
          </a:p>
          <a:p>
            <a:pPr algn="ctr" eaLnBrk="1" hangingPunct="1">
              <a:lnSpc>
                <a:spcPct val="90000"/>
              </a:lnSpc>
            </a:pPr>
            <a:r>
              <a:rPr lang="en-US" altLang="ru-RU" sz="1400">
                <a:solidFill>
                  <a:srgbClr val="0B3F4C"/>
                </a:solidFill>
                <a:cs typeface="Arial" panose="020B0604020202020204" pitchFamily="34" charset="0"/>
              </a:rPr>
              <a:t>Политехнический институт</a:t>
            </a:r>
            <a:endParaRPr lang="en-US" altLang="ru-RU" sz="1400"/>
          </a:p>
          <a:p>
            <a:pPr algn="ctr" eaLnBrk="1" hangingPunct="1">
              <a:lnSpc>
                <a:spcPct val="90000"/>
              </a:lnSpc>
            </a:pPr>
            <a:r>
              <a:rPr lang="en-US" altLang="ru-RU" sz="1400">
                <a:solidFill>
                  <a:srgbClr val="0B3F4C"/>
                </a:solidFill>
                <a:cs typeface="Arial" panose="020B0604020202020204" pitchFamily="34" charset="0"/>
              </a:rPr>
              <a:t>Кафедра автоматизированных систем обработки информации и управления</a:t>
            </a:r>
            <a:endParaRPr lang="en-US" altLang="ru-RU" sz="1400"/>
          </a:p>
        </p:txBody>
      </p:sp>
      <p:sp>
        <p:nvSpPr>
          <p:cNvPr id="1028" name="Shape 2"/>
          <p:cNvSpPr>
            <a:spLocks noChangeShapeType="1"/>
          </p:cNvSpPr>
          <p:nvPr/>
        </p:nvSpPr>
        <p:spPr bwMode="auto">
          <a:xfrm>
            <a:off x="1965325" y="1390650"/>
            <a:ext cx="8321675" cy="0"/>
          </a:xfrm>
          <a:prstGeom prst="line">
            <a:avLst/>
          </a:prstGeom>
          <a:noFill/>
          <a:ln w="1524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" name="Text 4"/>
          <p:cNvSpPr>
            <a:spLocks noChangeArrowheads="1"/>
          </p:cNvSpPr>
          <p:nvPr/>
        </p:nvSpPr>
        <p:spPr bwMode="auto">
          <a:xfrm>
            <a:off x="914400" y="2266950"/>
            <a:ext cx="10423525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" tIns="254" rIns="254" bIns="254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ru-RU" altLang="ru-RU" sz="2800" b="1">
                <a:solidFill>
                  <a:srgbClr val="17323A"/>
                </a:solidFill>
                <a:cs typeface="Arial" panose="020B0604020202020204" pitchFamily="34" charset="0"/>
              </a:rPr>
              <a:t>СИСТЕМА РАСПОЗНАВАНИЯ ЭМОЦИЙ ЧЕЛОВЕКА НА ОСНОВЕ ИСКУССТВЕННОЙ НЕЙРОННОЙ СЕТИ</a:t>
            </a:r>
            <a:endParaRPr lang="en-US" altLang="ru-RU" sz="2800"/>
          </a:p>
        </p:txBody>
      </p:sp>
      <p:sp>
        <p:nvSpPr>
          <p:cNvPr id="1030" name="Shape 5"/>
          <p:cNvSpPr>
            <a:spLocks noChangeShapeType="1"/>
          </p:cNvSpPr>
          <p:nvPr/>
        </p:nvSpPr>
        <p:spPr bwMode="auto">
          <a:xfrm>
            <a:off x="4160838" y="3676650"/>
            <a:ext cx="3886200" cy="0"/>
          </a:xfrm>
          <a:prstGeom prst="line">
            <a:avLst/>
          </a:prstGeom>
          <a:noFill/>
          <a:ln w="2540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Text 6"/>
          <p:cNvSpPr>
            <a:spLocks noChangeArrowheads="1"/>
          </p:cNvSpPr>
          <p:nvPr/>
        </p:nvSpPr>
        <p:spPr bwMode="auto">
          <a:xfrm>
            <a:off x="6583363" y="4508500"/>
            <a:ext cx="5565775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600">
                <a:solidFill>
                  <a:srgbClr val="17323A"/>
                </a:solidFill>
                <a:cs typeface="Arial" panose="020B0604020202020204" pitchFamily="34" charset="0"/>
              </a:rPr>
              <a:t>Выполнил: </a:t>
            </a:r>
            <a:r>
              <a:rPr lang="ru-RU" altLang="ru-RU" sz="1600">
                <a:solidFill>
                  <a:srgbClr val="17323A"/>
                </a:solidFill>
                <a:cs typeface="Arial" panose="020B0604020202020204" pitchFamily="34" charset="0"/>
              </a:rPr>
              <a:t>Демьянцев Виталий Владиславович</a:t>
            </a:r>
            <a:endParaRPr lang="en-US" altLang="ru-RU" sz="1600"/>
          </a:p>
          <a:p>
            <a:pPr eaLnBrk="1" hangingPunct="1"/>
            <a:r>
              <a:rPr lang="en-US" altLang="ru-RU" sz="1600">
                <a:solidFill>
                  <a:srgbClr val="17323A"/>
                </a:solidFill>
                <a:cs typeface="Arial" panose="020B0604020202020204" pitchFamily="34" charset="0"/>
              </a:rPr>
              <a:t>Группа: </a:t>
            </a:r>
            <a:r>
              <a:rPr lang="ru-RU" altLang="ru-RU" sz="1600">
                <a:solidFill>
                  <a:srgbClr val="17323A"/>
                </a:solidFill>
                <a:cs typeface="Arial" panose="020B0604020202020204" pitchFamily="34" charset="0"/>
              </a:rPr>
              <a:t>606-22</a:t>
            </a:r>
            <a:endParaRPr lang="en-US" altLang="ru-RU" sz="1600"/>
          </a:p>
          <a:p>
            <a:pPr eaLnBrk="1" hangingPunct="1"/>
            <a:r>
              <a:rPr lang="en-US" altLang="ru-RU" sz="1600">
                <a:solidFill>
                  <a:srgbClr val="17323A"/>
                </a:solidFill>
                <a:cs typeface="Arial" panose="020B0604020202020204" pitchFamily="34" charset="0"/>
              </a:rPr>
              <a:t>Научный руководитель: старший преподаватель</a:t>
            </a:r>
            <a:endParaRPr lang="en-US" altLang="ru-RU" sz="1600"/>
          </a:p>
          <a:p>
            <a:pPr eaLnBrk="1" hangingPunct="1"/>
            <a:r>
              <a:rPr lang="ru-RU" altLang="ru-RU" sz="1600">
                <a:solidFill>
                  <a:srgbClr val="17323A"/>
                </a:solidFill>
                <a:cs typeface="Arial" panose="020B0604020202020204" pitchFamily="34" charset="0"/>
              </a:rPr>
              <a:t>Горбунов Дмитрий Владимирович</a:t>
            </a:r>
            <a:endParaRPr lang="en-US" altLang="ru-RU" sz="1600"/>
          </a:p>
        </p:txBody>
      </p:sp>
      <p:sp>
        <p:nvSpPr>
          <p:cNvPr id="1032" name="Text 7"/>
          <p:cNvSpPr>
            <a:spLocks noChangeArrowheads="1"/>
          </p:cNvSpPr>
          <p:nvPr/>
        </p:nvSpPr>
        <p:spPr bwMode="auto">
          <a:xfrm>
            <a:off x="914400" y="6235700"/>
            <a:ext cx="9875838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ru-RU" sz="1200">
                <a:solidFill>
                  <a:srgbClr val="0B3F4C"/>
                </a:solidFill>
                <a:cs typeface="Arial" panose="020B0604020202020204" pitchFamily="34" charset="0"/>
              </a:rPr>
              <a:t>2026</a:t>
            </a:r>
            <a:endParaRPr lang="en-US" altLang="ru-RU" sz="1200"/>
          </a:p>
        </p:txBody>
      </p:sp>
      <p:sp>
        <p:nvSpPr>
          <p:cNvPr id="1033" name="Text 8"/>
          <p:cNvSpPr>
            <a:spLocks noChangeArrowheads="1"/>
          </p:cNvSpPr>
          <p:nvPr/>
        </p:nvSpPr>
        <p:spPr bwMode="auto">
          <a:xfrm>
            <a:off x="11293475" y="6364288"/>
            <a:ext cx="50165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endParaRPr lang="en-US" altLang="ru-RU" sz="800"/>
          </a:p>
        </p:txBody>
      </p:sp>
      <p:pic>
        <p:nvPicPr>
          <p:cNvPr id="1034" name="Рисунок 1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3438" y="31750"/>
            <a:ext cx="1101725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hape 0"/>
          <p:cNvSpPr>
            <a:spLocks noChangeArrowheads="1"/>
          </p:cNvSpPr>
          <p:nvPr/>
        </p:nvSpPr>
        <p:spPr bwMode="auto">
          <a:xfrm>
            <a:off x="0" y="0"/>
            <a:ext cx="146050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075" name="Text 1"/>
          <p:cNvSpPr>
            <a:spLocks noChangeArrowheads="1"/>
          </p:cNvSpPr>
          <p:nvPr/>
        </p:nvSpPr>
        <p:spPr bwMode="auto">
          <a:xfrm>
            <a:off x="503238" y="219075"/>
            <a:ext cx="4754562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100">
                <a:solidFill>
                  <a:srgbClr val="6A7A80"/>
                </a:solidFill>
                <a:cs typeface="Arial" panose="020B0604020202020204" pitchFamily="34" charset="0"/>
              </a:rPr>
              <a:t>Сургутский государственный университет</a:t>
            </a:r>
            <a:endParaRPr lang="en-US" altLang="ru-RU" sz="1100"/>
          </a:p>
        </p:txBody>
      </p:sp>
      <p:sp>
        <p:nvSpPr>
          <p:cNvPr id="3076" name="Shape 2"/>
          <p:cNvSpPr>
            <a:spLocks noChangeShapeType="1"/>
          </p:cNvSpPr>
          <p:nvPr/>
        </p:nvSpPr>
        <p:spPr bwMode="auto">
          <a:xfrm>
            <a:off x="503238" y="539750"/>
            <a:ext cx="1233487" cy="0"/>
          </a:xfrm>
          <a:prstGeom prst="line">
            <a:avLst/>
          </a:prstGeom>
          <a:noFill/>
          <a:ln w="1905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7" name="Text 3"/>
          <p:cNvSpPr>
            <a:spLocks noChangeArrowheads="1"/>
          </p:cNvSpPr>
          <p:nvPr/>
        </p:nvSpPr>
        <p:spPr bwMode="auto">
          <a:xfrm>
            <a:off x="11293475" y="6364288"/>
            <a:ext cx="50165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ru-RU" sz="800">
                <a:solidFill>
                  <a:srgbClr val="6A7A80"/>
                </a:solidFill>
                <a:cs typeface="Arial" panose="020B0604020202020204" pitchFamily="34" charset="0"/>
              </a:rPr>
              <a:t>03</a:t>
            </a:r>
            <a:endParaRPr lang="en-US" altLang="ru-RU" sz="800"/>
          </a:p>
        </p:txBody>
      </p:sp>
      <p:sp>
        <p:nvSpPr>
          <p:cNvPr id="3078" name="Text 4"/>
          <p:cNvSpPr>
            <a:spLocks noChangeArrowheads="1"/>
          </p:cNvSpPr>
          <p:nvPr/>
        </p:nvSpPr>
        <p:spPr bwMode="auto">
          <a:xfrm>
            <a:off x="503238" y="785813"/>
            <a:ext cx="51657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500" b="1">
                <a:solidFill>
                  <a:srgbClr val="17323A"/>
                </a:solidFill>
                <a:cs typeface="Arial" panose="020B0604020202020204" pitchFamily="34" charset="0"/>
              </a:rPr>
              <a:t>ПОСТАНОВКА ЗАДАЧИ</a:t>
            </a:r>
            <a:endParaRPr lang="en-US" altLang="ru-RU" sz="2500"/>
          </a:p>
        </p:txBody>
      </p:sp>
      <p:sp>
        <p:nvSpPr>
          <p:cNvPr id="3079" name="Text 7"/>
          <p:cNvSpPr>
            <a:spLocks noChangeArrowheads="1"/>
          </p:cNvSpPr>
          <p:nvPr/>
        </p:nvSpPr>
        <p:spPr bwMode="auto">
          <a:xfrm>
            <a:off x="503238" y="1633538"/>
            <a:ext cx="5732462" cy="352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" tIns="127" rIns="127" bIns="127" anchor="ctr"/>
          <a:lstStyle>
            <a:lvl1pPr marL="43180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Изучить предметную область и аналоги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Сформировать функциональные требования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Выбрать модели искусственных нейронных сетей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Спроектировать функциональную модель системы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Выбрать средства разработки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Реализовать и протестировать программный комплекс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hape 0"/>
          <p:cNvSpPr>
            <a:spLocks noChangeArrowheads="1"/>
          </p:cNvSpPr>
          <p:nvPr/>
        </p:nvSpPr>
        <p:spPr bwMode="auto">
          <a:xfrm>
            <a:off x="0" y="0"/>
            <a:ext cx="146050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5123" name="Text 1"/>
          <p:cNvSpPr>
            <a:spLocks noChangeArrowheads="1"/>
          </p:cNvSpPr>
          <p:nvPr/>
        </p:nvSpPr>
        <p:spPr bwMode="auto">
          <a:xfrm>
            <a:off x="503238" y="219075"/>
            <a:ext cx="4754562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100">
                <a:solidFill>
                  <a:srgbClr val="6A7A80"/>
                </a:solidFill>
                <a:cs typeface="Arial" panose="020B0604020202020204" pitchFamily="34" charset="0"/>
              </a:rPr>
              <a:t>Сургутский государственный университет</a:t>
            </a:r>
            <a:endParaRPr lang="en-US" altLang="ru-RU" sz="1100"/>
          </a:p>
        </p:txBody>
      </p:sp>
      <p:sp>
        <p:nvSpPr>
          <p:cNvPr id="5124" name="Shape 2"/>
          <p:cNvSpPr>
            <a:spLocks noChangeShapeType="1"/>
          </p:cNvSpPr>
          <p:nvPr/>
        </p:nvSpPr>
        <p:spPr bwMode="auto">
          <a:xfrm>
            <a:off x="503238" y="539750"/>
            <a:ext cx="1233487" cy="0"/>
          </a:xfrm>
          <a:prstGeom prst="line">
            <a:avLst/>
          </a:prstGeom>
          <a:noFill/>
          <a:ln w="1905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5" name="Text 3"/>
          <p:cNvSpPr>
            <a:spLocks noChangeArrowheads="1"/>
          </p:cNvSpPr>
          <p:nvPr/>
        </p:nvSpPr>
        <p:spPr bwMode="auto">
          <a:xfrm>
            <a:off x="11293475" y="6364288"/>
            <a:ext cx="50165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ru-RU" sz="800">
                <a:solidFill>
                  <a:srgbClr val="6A7A80"/>
                </a:solidFill>
                <a:cs typeface="Arial" panose="020B0604020202020204" pitchFamily="34" charset="0"/>
              </a:rPr>
              <a:t>04</a:t>
            </a:r>
            <a:endParaRPr lang="en-US" altLang="ru-RU" sz="800"/>
          </a:p>
        </p:txBody>
      </p:sp>
      <p:sp>
        <p:nvSpPr>
          <p:cNvPr id="5126" name="Text 4"/>
          <p:cNvSpPr>
            <a:spLocks noChangeArrowheads="1"/>
          </p:cNvSpPr>
          <p:nvPr/>
        </p:nvSpPr>
        <p:spPr bwMode="auto">
          <a:xfrm>
            <a:off x="503238" y="785813"/>
            <a:ext cx="51657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ru-RU" altLang="ru-RU" sz="2400" b="1">
                <a:solidFill>
                  <a:srgbClr val="17323A"/>
                </a:solidFill>
                <a:cs typeface="Arial" panose="020B0604020202020204" pitchFamily="34" charset="0"/>
              </a:rPr>
              <a:t>АКТУАЛЬНОСТЬ РАЗРАБОТКИ</a:t>
            </a:r>
            <a:endParaRPr lang="en-US" altLang="ru-RU" sz="2400"/>
          </a:p>
        </p:txBody>
      </p:sp>
      <p:sp>
        <p:nvSpPr>
          <p:cNvPr id="5127" name="Text 7"/>
          <p:cNvSpPr>
            <a:spLocks noChangeArrowheads="1"/>
          </p:cNvSpPr>
          <p:nvPr/>
        </p:nvSpPr>
        <p:spPr bwMode="auto">
          <a:xfrm>
            <a:off x="520700" y="1949450"/>
            <a:ext cx="10774363" cy="320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" tIns="127" rIns="127" bIns="127" anchor="ctr"/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Рост роли эмоционального интеллекта в управлении персоналом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Ограниченность традиционных методов оценки (субъективизм, низкая оперативность)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Возможности современных технологий ИИ для анализа эмоций в реальном времени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Необходимость мультимодального подхода (анализ лица и голоса одновременно)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Важность соответствия требованиям ФЗ-152 о защите персональных данных</a:t>
            </a:r>
            <a:endParaRPr lang="en-US" alt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/>
          <p:cNvSpPr>
            <a:spLocks noChangeArrowheads="1"/>
          </p:cNvSpPr>
          <p:nvPr/>
        </p:nvSpPr>
        <p:spPr bwMode="auto">
          <a:xfrm>
            <a:off x="0" y="0"/>
            <a:ext cx="146050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7171" name="Text 1"/>
          <p:cNvSpPr>
            <a:spLocks noChangeArrowheads="1"/>
          </p:cNvSpPr>
          <p:nvPr/>
        </p:nvSpPr>
        <p:spPr bwMode="auto">
          <a:xfrm>
            <a:off x="503238" y="219075"/>
            <a:ext cx="4754562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100">
                <a:solidFill>
                  <a:srgbClr val="6A7A80"/>
                </a:solidFill>
                <a:cs typeface="Arial" panose="020B0604020202020204" pitchFamily="34" charset="0"/>
              </a:rPr>
              <a:t>Сургутский государственный университет</a:t>
            </a:r>
            <a:endParaRPr lang="en-US" altLang="ru-RU" sz="1100"/>
          </a:p>
        </p:txBody>
      </p:sp>
      <p:sp>
        <p:nvSpPr>
          <p:cNvPr id="7172" name="Shape 2"/>
          <p:cNvSpPr>
            <a:spLocks noChangeShapeType="1"/>
          </p:cNvSpPr>
          <p:nvPr/>
        </p:nvSpPr>
        <p:spPr bwMode="auto">
          <a:xfrm>
            <a:off x="503238" y="539750"/>
            <a:ext cx="1233487" cy="0"/>
          </a:xfrm>
          <a:prstGeom prst="line">
            <a:avLst/>
          </a:prstGeom>
          <a:noFill/>
          <a:ln w="1905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3" name="Text 4"/>
          <p:cNvSpPr>
            <a:spLocks noChangeArrowheads="1"/>
          </p:cNvSpPr>
          <p:nvPr/>
        </p:nvSpPr>
        <p:spPr bwMode="auto">
          <a:xfrm>
            <a:off x="503238" y="785813"/>
            <a:ext cx="7161212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500" b="1">
                <a:solidFill>
                  <a:srgbClr val="17323A"/>
                </a:solidFill>
                <a:cs typeface="Arial" panose="020B0604020202020204" pitchFamily="34" charset="0"/>
              </a:rPr>
              <a:t>АНАЛИТИЧЕСКИЙ ОБЗОР АНАЛОГОВ</a:t>
            </a:r>
            <a:endParaRPr lang="en-US" altLang="ru-RU" sz="250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896938" y="1420813"/>
          <a:ext cx="10420350" cy="5116513"/>
        </p:xfrm>
        <a:graphic>
          <a:graphicData uri="http://schemas.openxmlformats.org/drawingml/2006/table">
            <a:tbl>
              <a:tblPr/>
              <a:tblGrid>
                <a:gridCol w="2084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4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4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40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5205">
                <a:tc>
                  <a:txBody>
                    <a:bodyPr/>
                    <a:lstStyle/>
                    <a:p>
                      <a:r>
                        <a:rPr lang="ru-RU" sz="1400" dirty="0"/>
                        <a:t>Критерий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Affectiva</a:t>
                      </a:r>
                      <a:r>
                        <a:rPr lang="en-US" sz="1400" dirty="0"/>
                        <a:t> (</a:t>
                      </a:r>
                      <a:r>
                        <a:rPr lang="ru-RU" sz="1400" dirty="0"/>
                        <a:t>компьютерное зрение)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Beyond Verbal (</a:t>
                      </a:r>
                      <a:r>
                        <a:rPr lang="ru-RU" sz="1400" dirty="0"/>
                        <a:t>анализ аудио)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Emotient</a:t>
                      </a:r>
                      <a:r>
                        <a:rPr lang="en-US" sz="1400" dirty="0"/>
                        <a:t> (</a:t>
                      </a:r>
                      <a:r>
                        <a:rPr lang="ru-RU" sz="1400" dirty="0"/>
                        <a:t>мультимодальная)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Разрабатываемая система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983">
                <a:tc>
                  <a:txBody>
                    <a:bodyPr/>
                    <a:lstStyle/>
                    <a:p>
                      <a:r>
                        <a:rPr lang="ru-RU" sz="1400" dirty="0" err="1"/>
                        <a:t>Мультимодальность</a:t>
                      </a:r>
                      <a:endParaRPr lang="ru-RU" sz="1400" dirty="0"/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Нет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Нет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Да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Да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705">
                <a:tc>
                  <a:txBody>
                    <a:bodyPr/>
                    <a:lstStyle/>
                    <a:p>
                      <a:r>
                        <a:rPr lang="ru-RU" sz="1400" dirty="0"/>
                        <a:t>Учёт видеопотока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Да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Нет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Да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Да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705">
                <a:tc>
                  <a:txBody>
                    <a:bodyPr/>
                    <a:lstStyle/>
                    <a:p>
                      <a:r>
                        <a:rPr lang="ru-RU" sz="1400" dirty="0"/>
                        <a:t>Учёт аудиопотока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Нет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Да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Да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Да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7983">
                <a:tc>
                  <a:txBody>
                    <a:bodyPr/>
                    <a:lstStyle/>
                    <a:p>
                      <a:r>
                        <a:rPr lang="ru-RU" sz="1400" dirty="0"/>
                        <a:t>Точность классификации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Высокая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Средняя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Высокая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Высокая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7983">
                <a:tc>
                  <a:txBody>
                    <a:bodyPr/>
                    <a:lstStyle/>
                    <a:p>
                      <a:r>
                        <a:rPr lang="ru-RU" sz="1400" dirty="0"/>
                        <a:t>Адаптивность к </a:t>
                      </a:r>
                      <a:r>
                        <a:rPr lang="en-US" sz="1400" dirty="0"/>
                        <a:t>HR-</a:t>
                      </a:r>
                      <a:r>
                        <a:rPr lang="ru-RU" sz="1400" dirty="0"/>
                        <a:t>сценариям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Средняя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Низкая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Высокая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Высокая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7983">
                <a:tc>
                  <a:txBody>
                    <a:bodyPr/>
                    <a:lstStyle/>
                    <a:p>
                      <a:r>
                        <a:rPr lang="ru-RU" sz="1400" dirty="0"/>
                        <a:t>Соответствие ФЗ-152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Нет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Нет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Нет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Да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7983">
                <a:tc>
                  <a:txBody>
                    <a:bodyPr/>
                    <a:lstStyle/>
                    <a:p>
                      <a:r>
                        <a:rPr lang="ru-RU" sz="1400" dirty="0"/>
                        <a:t>Стоимость внедрения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Высокая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Средняя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Высокая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Средняя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7983">
                <a:tc>
                  <a:txBody>
                    <a:bodyPr/>
                    <a:lstStyle/>
                    <a:p>
                      <a:r>
                        <a:rPr lang="ru-RU" sz="1400" dirty="0"/>
                        <a:t>Лицензионные отчисления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Да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Да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/>
                        <a:t>Да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Нет</a:t>
                      </a:r>
                    </a:p>
                  </a:txBody>
                  <a:tcPr marL="72521" marR="72521" marT="36270" marB="36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hape 0"/>
          <p:cNvSpPr>
            <a:spLocks noChangeArrowheads="1"/>
          </p:cNvSpPr>
          <p:nvPr/>
        </p:nvSpPr>
        <p:spPr bwMode="auto">
          <a:xfrm>
            <a:off x="0" y="0"/>
            <a:ext cx="146050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9219" name="Text 1"/>
          <p:cNvSpPr>
            <a:spLocks noChangeArrowheads="1"/>
          </p:cNvSpPr>
          <p:nvPr/>
        </p:nvSpPr>
        <p:spPr bwMode="auto">
          <a:xfrm>
            <a:off x="503238" y="219075"/>
            <a:ext cx="4754562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100">
                <a:solidFill>
                  <a:srgbClr val="6A7A80"/>
                </a:solidFill>
                <a:cs typeface="Arial" panose="020B0604020202020204" pitchFamily="34" charset="0"/>
              </a:rPr>
              <a:t>Сургутский государственный университет</a:t>
            </a:r>
            <a:endParaRPr lang="en-US" altLang="ru-RU" sz="1100"/>
          </a:p>
        </p:txBody>
      </p:sp>
      <p:sp>
        <p:nvSpPr>
          <p:cNvPr id="9220" name="Shape 2"/>
          <p:cNvSpPr>
            <a:spLocks noChangeShapeType="1"/>
          </p:cNvSpPr>
          <p:nvPr/>
        </p:nvSpPr>
        <p:spPr bwMode="auto">
          <a:xfrm>
            <a:off x="503238" y="539750"/>
            <a:ext cx="1233487" cy="0"/>
          </a:xfrm>
          <a:prstGeom prst="line">
            <a:avLst/>
          </a:prstGeom>
          <a:noFill/>
          <a:ln w="1905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1" name="Text 4"/>
          <p:cNvSpPr>
            <a:spLocks noChangeArrowheads="1"/>
          </p:cNvSpPr>
          <p:nvPr/>
        </p:nvSpPr>
        <p:spPr bwMode="auto">
          <a:xfrm>
            <a:off x="503238" y="198438"/>
            <a:ext cx="3833812" cy="20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500" b="1">
                <a:solidFill>
                  <a:srgbClr val="17323A"/>
                </a:solidFill>
                <a:cs typeface="Arial" panose="020B0604020202020204" pitchFamily="34" charset="0"/>
              </a:rPr>
              <a:t>ДИАГРАММА БИЗНЕС-ПРОЦЕССА</a:t>
            </a:r>
            <a:endParaRPr lang="en-US" altLang="ru-RU" sz="2500"/>
          </a:p>
        </p:txBody>
      </p:sp>
      <p:pic>
        <p:nvPicPr>
          <p:cNvPr id="9222" name="Рисунок 3" descr="Изображение выглядит как текст, снимок экрана, диаграмма, Параллельный&#10;&#10;Автоматически созданное описание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3538" y="334963"/>
            <a:ext cx="7937500" cy="622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hape 0"/>
          <p:cNvSpPr>
            <a:spLocks noChangeArrowheads="1"/>
          </p:cNvSpPr>
          <p:nvPr/>
        </p:nvSpPr>
        <p:spPr bwMode="auto">
          <a:xfrm>
            <a:off x="0" y="0"/>
            <a:ext cx="146050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1267" name="Text 1"/>
          <p:cNvSpPr>
            <a:spLocks noChangeArrowheads="1"/>
          </p:cNvSpPr>
          <p:nvPr/>
        </p:nvSpPr>
        <p:spPr bwMode="auto">
          <a:xfrm>
            <a:off x="503238" y="219075"/>
            <a:ext cx="4754562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100">
                <a:solidFill>
                  <a:srgbClr val="6A7A80"/>
                </a:solidFill>
                <a:cs typeface="Arial" panose="020B0604020202020204" pitchFamily="34" charset="0"/>
              </a:rPr>
              <a:t>Сургутский государственный университет</a:t>
            </a:r>
            <a:endParaRPr lang="en-US" altLang="ru-RU" sz="1100"/>
          </a:p>
        </p:txBody>
      </p:sp>
      <p:sp>
        <p:nvSpPr>
          <p:cNvPr id="11268" name="Shape 2"/>
          <p:cNvSpPr>
            <a:spLocks noChangeShapeType="1"/>
          </p:cNvSpPr>
          <p:nvPr/>
        </p:nvSpPr>
        <p:spPr bwMode="auto">
          <a:xfrm>
            <a:off x="503238" y="539750"/>
            <a:ext cx="1233487" cy="0"/>
          </a:xfrm>
          <a:prstGeom prst="line">
            <a:avLst/>
          </a:prstGeom>
          <a:noFill/>
          <a:ln w="1905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9" name="Text 4"/>
          <p:cNvSpPr>
            <a:spLocks noChangeArrowheads="1"/>
          </p:cNvSpPr>
          <p:nvPr/>
        </p:nvSpPr>
        <p:spPr bwMode="auto">
          <a:xfrm>
            <a:off x="503238" y="785813"/>
            <a:ext cx="393223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500" b="1">
                <a:solidFill>
                  <a:srgbClr val="17323A"/>
                </a:solidFill>
                <a:cs typeface="Arial" panose="020B0604020202020204" pitchFamily="34" charset="0"/>
              </a:rPr>
              <a:t>ФУНКЦИОНАЛЬНАЯ МОДЕЛЬ</a:t>
            </a:r>
            <a:endParaRPr lang="en-US" altLang="ru-RU" sz="2500"/>
          </a:p>
        </p:txBody>
      </p:sp>
      <p:pic>
        <p:nvPicPr>
          <p:cNvPr id="11270" name="Рисунок 2" descr="Изображение выглядит как снимок экрана, текст, дизайн&#10;&#10;Автоматически созданное описание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9988" y="125413"/>
            <a:ext cx="8272462" cy="660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hape 0"/>
          <p:cNvSpPr>
            <a:spLocks noChangeArrowheads="1"/>
          </p:cNvSpPr>
          <p:nvPr/>
        </p:nvSpPr>
        <p:spPr bwMode="auto">
          <a:xfrm>
            <a:off x="0" y="0"/>
            <a:ext cx="146050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3315" name="Text 1"/>
          <p:cNvSpPr>
            <a:spLocks noChangeArrowheads="1"/>
          </p:cNvSpPr>
          <p:nvPr/>
        </p:nvSpPr>
        <p:spPr bwMode="auto">
          <a:xfrm>
            <a:off x="503238" y="219075"/>
            <a:ext cx="4754562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100">
                <a:solidFill>
                  <a:srgbClr val="6A7A80"/>
                </a:solidFill>
                <a:cs typeface="Arial" panose="020B0604020202020204" pitchFamily="34" charset="0"/>
              </a:rPr>
              <a:t>Сургутский государственный университет</a:t>
            </a:r>
            <a:endParaRPr lang="en-US" altLang="ru-RU" sz="1100"/>
          </a:p>
        </p:txBody>
      </p:sp>
      <p:sp>
        <p:nvSpPr>
          <p:cNvPr id="13316" name="Shape 2"/>
          <p:cNvSpPr>
            <a:spLocks noChangeShapeType="1"/>
          </p:cNvSpPr>
          <p:nvPr/>
        </p:nvSpPr>
        <p:spPr bwMode="auto">
          <a:xfrm>
            <a:off x="503238" y="539750"/>
            <a:ext cx="1233487" cy="0"/>
          </a:xfrm>
          <a:prstGeom prst="line">
            <a:avLst/>
          </a:prstGeom>
          <a:noFill/>
          <a:ln w="1905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7" name="Text 4"/>
          <p:cNvSpPr>
            <a:spLocks noChangeArrowheads="1"/>
          </p:cNvSpPr>
          <p:nvPr/>
        </p:nvSpPr>
        <p:spPr bwMode="auto">
          <a:xfrm>
            <a:off x="503238" y="785813"/>
            <a:ext cx="3398837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500" b="1">
                <a:solidFill>
                  <a:srgbClr val="17323A"/>
                </a:solidFill>
                <a:cs typeface="Arial" panose="020B0604020202020204" pitchFamily="34" charset="0"/>
              </a:rPr>
              <a:t>ДЕКОМПОЗИЦИЯ ФУНКЦИОНАЛЬНОЙ МОДЕЛИ</a:t>
            </a:r>
            <a:endParaRPr lang="en-US" altLang="ru-RU" sz="2500"/>
          </a:p>
        </p:txBody>
      </p:sp>
      <p:pic>
        <p:nvPicPr>
          <p:cNvPr id="13318" name="Рисунок 2" descr="Изображение выглядит как снимок экрана, текст, диаграмма, дизайн&#10;&#10;Автоматически созданное описание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5" y="539750"/>
            <a:ext cx="10334625" cy="565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hape 0"/>
          <p:cNvSpPr>
            <a:spLocks noChangeArrowheads="1"/>
          </p:cNvSpPr>
          <p:nvPr/>
        </p:nvSpPr>
        <p:spPr bwMode="auto">
          <a:xfrm>
            <a:off x="0" y="0"/>
            <a:ext cx="146050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5363" name="Text 1"/>
          <p:cNvSpPr>
            <a:spLocks noChangeArrowheads="1"/>
          </p:cNvSpPr>
          <p:nvPr/>
        </p:nvSpPr>
        <p:spPr bwMode="auto">
          <a:xfrm>
            <a:off x="503238" y="219075"/>
            <a:ext cx="4754562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100">
                <a:solidFill>
                  <a:srgbClr val="6A7A80"/>
                </a:solidFill>
                <a:cs typeface="Arial" panose="020B0604020202020204" pitchFamily="34" charset="0"/>
              </a:rPr>
              <a:t>Сургутский государственный университет</a:t>
            </a:r>
            <a:endParaRPr lang="en-US" altLang="ru-RU" sz="1100"/>
          </a:p>
        </p:txBody>
      </p:sp>
      <p:sp>
        <p:nvSpPr>
          <p:cNvPr id="15364" name="Shape 2"/>
          <p:cNvSpPr>
            <a:spLocks noChangeShapeType="1"/>
          </p:cNvSpPr>
          <p:nvPr/>
        </p:nvSpPr>
        <p:spPr bwMode="auto">
          <a:xfrm>
            <a:off x="503238" y="539750"/>
            <a:ext cx="1233487" cy="0"/>
          </a:xfrm>
          <a:prstGeom prst="line">
            <a:avLst/>
          </a:prstGeom>
          <a:noFill/>
          <a:ln w="1905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5" name="Text 4"/>
          <p:cNvSpPr>
            <a:spLocks noChangeArrowheads="1"/>
          </p:cNvSpPr>
          <p:nvPr/>
        </p:nvSpPr>
        <p:spPr bwMode="auto">
          <a:xfrm>
            <a:off x="503238" y="785813"/>
            <a:ext cx="7161212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500" b="1">
                <a:solidFill>
                  <a:srgbClr val="17323A"/>
                </a:solidFill>
                <a:cs typeface="Arial" panose="020B0604020202020204" pitchFamily="34" charset="0"/>
              </a:rPr>
              <a:t>ДИАГРАММА ПОТОКОВ ДАННЫХ</a:t>
            </a:r>
            <a:endParaRPr lang="en-US" altLang="ru-RU" sz="2500"/>
          </a:p>
        </p:txBody>
      </p:sp>
      <p:pic>
        <p:nvPicPr>
          <p:cNvPr id="15366" name="Рисунок 2" descr="Изображение выглядит как текст, снимок экрана, Шрифт, фиолетовый&#10;&#10;Автоматически созданное описание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654175"/>
            <a:ext cx="7683500" cy="458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hape 0"/>
          <p:cNvSpPr>
            <a:spLocks noChangeArrowheads="1"/>
          </p:cNvSpPr>
          <p:nvPr/>
        </p:nvSpPr>
        <p:spPr bwMode="auto">
          <a:xfrm>
            <a:off x="0" y="0"/>
            <a:ext cx="146050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7411" name="Text 1"/>
          <p:cNvSpPr>
            <a:spLocks noChangeArrowheads="1"/>
          </p:cNvSpPr>
          <p:nvPr/>
        </p:nvSpPr>
        <p:spPr bwMode="auto">
          <a:xfrm>
            <a:off x="503238" y="219075"/>
            <a:ext cx="4754562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100">
                <a:solidFill>
                  <a:srgbClr val="6A7A80"/>
                </a:solidFill>
                <a:cs typeface="Arial" panose="020B0604020202020204" pitchFamily="34" charset="0"/>
              </a:rPr>
              <a:t>Сургутский государственный университет</a:t>
            </a:r>
            <a:endParaRPr lang="en-US" altLang="ru-RU" sz="1100"/>
          </a:p>
        </p:txBody>
      </p:sp>
      <p:sp>
        <p:nvSpPr>
          <p:cNvPr id="17412" name="Shape 2"/>
          <p:cNvSpPr>
            <a:spLocks noChangeShapeType="1"/>
          </p:cNvSpPr>
          <p:nvPr/>
        </p:nvSpPr>
        <p:spPr bwMode="auto">
          <a:xfrm>
            <a:off x="503238" y="539750"/>
            <a:ext cx="1233487" cy="0"/>
          </a:xfrm>
          <a:prstGeom prst="line">
            <a:avLst/>
          </a:prstGeom>
          <a:noFill/>
          <a:ln w="1905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3" name="Text 4"/>
          <p:cNvSpPr>
            <a:spLocks noChangeArrowheads="1"/>
          </p:cNvSpPr>
          <p:nvPr/>
        </p:nvSpPr>
        <p:spPr bwMode="auto">
          <a:xfrm>
            <a:off x="503238" y="785813"/>
            <a:ext cx="3656012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500" b="1">
                <a:solidFill>
                  <a:srgbClr val="17323A"/>
                </a:solidFill>
                <a:cs typeface="Arial" panose="020B0604020202020204" pitchFamily="34" charset="0"/>
              </a:rPr>
              <a:t>ИНФОЛОГИЧЕСКАЯ МОДЕЛЬ</a:t>
            </a:r>
            <a:endParaRPr lang="en-US" altLang="ru-RU" sz="2500"/>
          </a:p>
        </p:txBody>
      </p:sp>
      <p:pic>
        <p:nvPicPr>
          <p:cNvPr id="17414" name="Рисунок 2" descr="Изображение выглядит как снимок экрана, круг, черно-белый, дизайн&#10;&#10;Автоматически созданное описание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904875"/>
            <a:ext cx="11701462" cy="585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hape 0"/>
          <p:cNvSpPr>
            <a:spLocks noChangeArrowheads="1"/>
          </p:cNvSpPr>
          <p:nvPr/>
        </p:nvSpPr>
        <p:spPr bwMode="auto">
          <a:xfrm>
            <a:off x="0" y="0"/>
            <a:ext cx="146050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19459" name="Text 1"/>
          <p:cNvSpPr>
            <a:spLocks noChangeArrowheads="1"/>
          </p:cNvSpPr>
          <p:nvPr/>
        </p:nvSpPr>
        <p:spPr bwMode="auto">
          <a:xfrm>
            <a:off x="503238" y="219075"/>
            <a:ext cx="4754562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100">
                <a:solidFill>
                  <a:srgbClr val="6A7A80"/>
                </a:solidFill>
                <a:cs typeface="Arial" panose="020B0604020202020204" pitchFamily="34" charset="0"/>
              </a:rPr>
              <a:t>Сургутский государственный университет</a:t>
            </a:r>
            <a:endParaRPr lang="en-US" altLang="ru-RU" sz="1100"/>
          </a:p>
        </p:txBody>
      </p:sp>
      <p:sp>
        <p:nvSpPr>
          <p:cNvPr id="19460" name="Shape 2"/>
          <p:cNvSpPr>
            <a:spLocks noChangeShapeType="1"/>
          </p:cNvSpPr>
          <p:nvPr/>
        </p:nvSpPr>
        <p:spPr bwMode="auto">
          <a:xfrm>
            <a:off x="503238" y="539750"/>
            <a:ext cx="1233487" cy="0"/>
          </a:xfrm>
          <a:prstGeom prst="line">
            <a:avLst/>
          </a:prstGeom>
          <a:noFill/>
          <a:ln w="1905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61" name="Text 4"/>
          <p:cNvSpPr>
            <a:spLocks noChangeArrowheads="1"/>
          </p:cNvSpPr>
          <p:nvPr/>
        </p:nvSpPr>
        <p:spPr bwMode="auto">
          <a:xfrm>
            <a:off x="503238" y="785813"/>
            <a:ext cx="7161212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500" b="1">
                <a:solidFill>
                  <a:srgbClr val="17323A"/>
                </a:solidFill>
                <a:cs typeface="Arial" panose="020B0604020202020204" pitchFamily="34" charset="0"/>
              </a:rPr>
              <a:t>ФИЗИЧЕСКАЯ МОДЕЛЬ БАЗЫ ДАННЫХ</a:t>
            </a:r>
            <a:endParaRPr lang="en-US" altLang="ru-RU" sz="2500"/>
          </a:p>
        </p:txBody>
      </p:sp>
      <p:pic>
        <p:nvPicPr>
          <p:cNvPr id="19462" name="Рисунок 2" descr="Изображение выглядит как снимок экрана, текст, Шрифт, дизайн&#10;&#10;Автоматически созданное описание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088" y="1036638"/>
            <a:ext cx="9202737" cy="582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hape 0"/>
          <p:cNvSpPr>
            <a:spLocks noChangeArrowheads="1"/>
          </p:cNvSpPr>
          <p:nvPr/>
        </p:nvSpPr>
        <p:spPr bwMode="auto">
          <a:xfrm>
            <a:off x="0" y="0"/>
            <a:ext cx="146050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1507" name="Text 1"/>
          <p:cNvSpPr>
            <a:spLocks noChangeArrowheads="1"/>
          </p:cNvSpPr>
          <p:nvPr/>
        </p:nvSpPr>
        <p:spPr bwMode="auto">
          <a:xfrm>
            <a:off x="503238" y="219075"/>
            <a:ext cx="4754562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100">
                <a:solidFill>
                  <a:srgbClr val="6A7A80"/>
                </a:solidFill>
                <a:cs typeface="Arial" panose="020B0604020202020204" pitchFamily="34" charset="0"/>
              </a:rPr>
              <a:t>Сургутский государственный университет</a:t>
            </a:r>
            <a:endParaRPr lang="en-US" altLang="ru-RU" sz="1100"/>
          </a:p>
        </p:txBody>
      </p:sp>
      <p:sp>
        <p:nvSpPr>
          <p:cNvPr id="21508" name="Shape 2"/>
          <p:cNvSpPr>
            <a:spLocks noChangeShapeType="1"/>
          </p:cNvSpPr>
          <p:nvPr/>
        </p:nvSpPr>
        <p:spPr bwMode="auto">
          <a:xfrm>
            <a:off x="503238" y="539750"/>
            <a:ext cx="1233487" cy="0"/>
          </a:xfrm>
          <a:prstGeom prst="line">
            <a:avLst/>
          </a:prstGeom>
          <a:noFill/>
          <a:ln w="1905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9" name="Text 4"/>
          <p:cNvSpPr>
            <a:spLocks noChangeArrowheads="1"/>
          </p:cNvSpPr>
          <p:nvPr/>
        </p:nvSpPr>
        <p:spPr bwMode="auto">
          <a:xfrm>
            <a:off x="503238" y="785813"/>
            <a:ext cx="77628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500" b="1">
                <a:solidFill>
                  <a:srgbClr val="17323A"/>
                </a:solidFill>
                <a:cs typeface="Arial" panose="020B0604020202020204" pitchFamily="34" charset="0"/>
              </a:rPr>
              <a:t>СРЕДСТВА И ТЕХНОЛОГИИ РАЗРАБОТКИ</a:t>
            </a:r>
            <a:endParaRPr lang="en-US" altLang="ru-RU" sz="2500"/>
          </a:p>
        </p:txBody>
      </p:sp>
      <p:pic>
        <p:nvPicPr>
          <p:cNvPr id="21510" name="Picture 4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3713" y="2232025"/>
            <a:ext cx="1695450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Picture 6" descr="Picture backgroun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2813" y="3194050"/>
            <a:ext cx="858837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2" name="Picture 8" descr="Picture backgroun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1063" y="4340225"/>
            <a:ext cx="933450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3" name="Picture 12" descr="Picture background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5188" y="5686425"/>
            <a:ext cx="963612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4" name="Picture 14" descr="Picture backgroun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9150" y="885825"/>
            <a:ext cx="1046163" cy="963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5" name="Text 7"/>
          <p:cNvSpPr>
            <a:spLocks noChangeArrowheads="1"/>
          </p:cNvSpPr>
          <p:nvPr/>
        </p:nvSpPr>
        <p:spPr bwMode="auto">
          <a:xfrm>
            <a:off x="520700" y="1289050"/>
            <a:ext cx="5870575" cy="386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" tIns="127" rIns="127" bIns="127" anchor="ctr"/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Клиентская часть: </a:t>
            </a:r>
            <a:r>
              <a:rPr lang="en-US" altLang="ru-RU">
                <a:solidFill>
                  <a:srgbClr val="17323A"/>
                </a:solidFill>
                <a:cs typeface="Arial" panose="020B0604020202020204" pitchFamily="34" charset="0"/>
              </a:rPr>
              <a:t>React + TypeScript + Vite</a:t>
            </a:r>
            <a:endParaRPr lang="ru-RU" altLang="ru-RU">
              <a:solidFill>
                <a:srgbClr val="17323A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Серверная часть: </a:t>
            </a:r>
            <a:r>
              <a:rPr lang="en-US" altLang="ru-RU">
                <a:solidFill>
                  <a:srgbClr val="17323A"/>
                </a:solidFill>
                <a:cs typeface="Arial" panose="020B0604020202020204" pitchFamily="34" charset="0"/>
              </a:rPr>
              <a:t>Go + Gin + WebSocket</a:t>
            </a:r>
            <a:endParaRPr lang="ru-RU" altLang="ru-RU">
              <a:solidFill>
                <a:srgbClr val="17323A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Модули ИИ: </a:t>
            </a:r>
            <a:r>
              <a:rPr lang="en-US" altLang="ru-RU">
                <a:solidFill>
                  <a:srgbClr val="17323A"/>
                </a:solidFill>
                <a:cs typeface="Arial" panose="020B0604020202020204" pitchFamily="34" charset="0"/>
              </a:rPr>
              <a:t>Python + OpenCV + FastAPI</a:t>
            </a:r>
            <a:endParaRPr lang="ru-RU" altLang="ru-RU">
              <a:solidFill>
                <a:srgbClr val="17323A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База данных: </a:t>
            </a:r>
            <a:r>
              <a:rPr lang="en-US" altLang="ru-RU">
                <a:solidFill>
                  <a:srgbClr val="17323A"/>
                </a:solidFill>
                <a:cs typeface="Arial" panose="020B0604020202020204" pitchFamily="34" charset="0"/>
              </a:rPr>
              <a:t>PostgreSQL</a:t>
            </a:r>
            <a:endParaRPr lang="ru-RU" altLang="ru-RU">
              <a:solidFill>
                <a:srgbClr val="17323A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Контейнеризация: </a:t>
            </a:r>
            <a:r>
              <a:rPr lang="en-US" altLang="ru-RU">
                <a:solidFill>
                  <a:srgbClr val="17323A"/>
                </a:solidFill>
                <a:cs typeface="Arial" panose="020B0604020202020204" pitchFamily="34" charset="0"/>
              </a:rPr>
              <a:t>Docker Compose</a:t>
            </a:r>
            <a:endParaRPr lang="en-US" altLang="ru-RU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hape 0"/>
          <p:cNvSpPr>
            <a:spLocks noChangeArrowheads="1"/>
          </p:cNvSpPr>
          <p:nvPr/>
        </p:nvSpPr>
        <p:spPr bwMode="auto">
          <a:xfrm>
            <a:off x="0" y="0"/>
            <a:ext cx="146050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3555" name="Text 1"/>
          <p:cNvSpPr>
            <a:spLocks noChangeArrowheads="1"/>
          </p:cNvSpPr>
          <p:nvPr/>
        </p:nvSpPr>
        <p:spPr bwMode="auto">
          <a:xfrm>
            <a:off x="503238" y="219075"/>
            <a:ext cx="4754562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100">
                <a:solidFill>
                  <a:srgbClr val="6A7A80"/>
                </a:solidFill>
                <a:cs typeface="Arial" panose="020B0604020202020204" pitchFamily="34" charset="0"/>
              </a:rPr>
              <a:t>Сургутский государственный университет</a:t>
            </a:r>
            <a:endParaRPr lang="en-US" altLang="ru-RU" sz="1100"/>
          </a:p>
        </p:txBody>
      </p:sp>
      <p:sp>
        <p:nvSpPr>
          <p:cNvPr id="23556" name="Shape 2"/>
          <p:cNvSpPr>
            <a:spLocks noChangeShapeType="1"/>
          </p:cNvSpPr>
          <p:nvPr/>
        </p:nvSpPr>
        <p:spPr bwMode="auto">
          <a:xfrm>
            <a:off x="503238" y="539750"/>
            <a:ext cx="1233487" cy="0"/>
          </a:xfrm>
          <a:prstGeom prst="line">
            <a:avLst/>
          </a:prstGeom>
          <a:noFill/>
          <a:ln w="1905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57" name="Text 4"/>
          <p:cNvSpPr>
            <a:spLocks noChangeArrowheads="1"/>
          </p:cNvSpPr>
          <p:nvPr/>
        </p:nvSpPr>
        <p:spPr bwMode="auto">
          <a:xfrm>
            <a:off x="503238" y="582613"/>
            <a:ext cx="77628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500" b="1">
                <a:solidFill>
                  <a:srgbClr val="17323A"/>
                </a:solidFill>
                <a:cs typeface="Arial" panose="020B0604020202020204" pitchFamily="34" charset="0"/>
              </a:rPr>
              <a:t>АЛГОРИТМ РАБОТЫ СИСТЕМЫ</a:t>
            </a:r>
            <a:endParaRPr lang="en-US" altLang="ru-RU" sz="2500"/>
          </a:p>
        </p:txBody>
      </p:sp>
      <p:pic>
        <p:nvPicPr>
          <p:cNvPr id="23558" name="Рисунок 8" descr="Изображение выглядит как текст, снимок экрана, круг, графический дизайн&#10;&#10;Автоматически созданное описание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985838"/>
            <a:ext cx="11185525" cy="579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hape 0"/>
          <p:cNvSpPr>
            <a:spLocks noChangeArrowheads="1"/>
          </p:cNvSpPr>
          <p:nvPr/>
        </p:nvSpPr>
        <p:spPr bwMode="auto">
          <a:xfrm>
            <a:off x="0" y="0"/>
            <a:ext cx="146050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5603" name="Text 1"/>
          <p:cNvSpPr>
            <a:spLocks noChangeArrowheads="1"/>
          </p:cNvSpPr>
          <p:nvPr/>
        </p:nvSpPr>
        <p:spPr bwMode="auto">
          <a:xfrm>
            <a:off x="503238" y="219075"/>
            <a:ext cx="4754562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100">
                <a:solidFill>
                  <a:srgbClr val="6A7A80"/>
                </a:solidFill>
                <a:cs typeface="Arial" panose="020B0604020202020204" pitchFamily="34" charset="0"/>
              </a:rPr>
              <a:t>Сургутский государственный университет</a:t>
            </a:r>
            <a:endParaRPr lang="en-US" altLang="ru-RU" sz="1100"/>
          </a:p>
        </p:txBody>
      </p:sp>
      <p:sp>
        <p:nvSpPr>
          <p:cNvPr id="25604" name="Shape 2"/>
          <p:cNvSpPr>
            <a:spLocks noChangeShapeType="1"/>
          </p:cNvSpPr>
          <p:nvPr/>
        </p:nvSpPr>
        <p:spPr bwMode="auto">
          <a:xfrm>
            <a:off x="503238" y="539750"/>
            <a:ext cx="1233487" cy="0"/>
          </a:xfrm>
          <a:prstGeom prst="line">
            <a:avLst/>
          </a:prstGeom>
          <a:noFill/>
          <a:ln w="1905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5" name="Text 4"/>
          <p:cNvSpPr>
            <a:spLocks noChangeArrowheads="1"/>
          </p:cNvSpPr>
          <p:nvPr/>
        </p:nvSpPr>
        <p:spPr bwMode="auto">
          <a:xfrm>
            <a:off x="503238" y="785813"/>
            <a:ext cx="77628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500" b="1">
                <a:solidFill>
                  <a:srgbClr val="17323A"/>
                </a:solidFill>
                <a:cs typeface="Arial" panose="020B0604020202020204" pitchFamily="34" charset="0"/>
              </a:rPr>
              <a:t>МОДУЛЬ АНАЛИЗА ЛИЦА И ЭМОЦИЙ</a:t>
            </a:r>
            <a:endParaRPr lang="en-US" altLang="ru-RU" sz="2500"/>
          </a:p>
        </p:txBody>
      </p:sp>
      <p:sp>
        <p:nvSpPr>
          <p:cNvPr id="25606" name="Text 7"/>
          <p:cNvSpPr>
            <a:spLocks noChangeArrowheads="1"/>
          </p:cNvSpPr>
          <p:nvPr/>
        </p:nvSpPr>
        <p:spPr bwMode="auto">
          <a:xfrm>
            <a:off x="520701" y="1541902"/>
            <a:ext cx="4893272" cy="4776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" tIns="127" rIns="127" bIns="127" anchor="ctr"/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rgbClr val="17323A"/>
                </a:solidFill>
                <a:cs typeface="Arial" panose="020B0604020202020204" pitchFamily="34" charset="0"/>
              </a:rPr>
              <a:t>Модуль использует MTCNN для детекции лиц и </a:t>
            </a:r>
            <a:r>
              <a:rPr lang="ru-RU" altLang="ru-RU" dirty="0" err="1">
                <a:solidFill>
                  <a:srgbClr val="17323A"/>
                </a:solidFill>
                <a:cs typeface="Arial" panose="020B0604020202020204" pitchFamily="34" charset="0"/>
              </a:rPr>
              <a:t>DeepFace</a:t>
            </a:r>
            <a:r>
              <a:rPr lang="ru-RU" altLang="ru-RU" dirty="0">
                <a:solidFill>
                  <a:srgbClr val="17323A"/>
                </a:solidFill>
                <a:cs typeface="Arial" panose="020B0604020202020204" pitchFamily="34" charset="0"/>
              </a:rPr>
              <a:t> (на базе VGG-Face) для классификации эмоций. </a:t>
            </a:r>
            <a:endParaRPr lang="en-US" altLang="ru-RU" dirty="0">
              <a:solidFill>
                <a:srgbClr val="17323A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rgbClr val="17323A"/>
                </a:solidFill>
                <a:cs typeface="Arial" panose="020B0604020202020204" pitchFamily="34" charset="0"/>
              </a:rPr>
              <a:t>Дополнительно интегрирована модель </a:t>
            </a:r>
            <a:r>
              <a:rPr lang="ru-RU" altLang="ru-RU" dirty="0" err="1">
                <a:solidFill>
                  <a:srgbClr val="17323A"/>
                </a:solidFill>
                <a:cs typeface="Arial" panose="020B0604020202020204" pitchFamily="34" charset="0"/>
              </a:rPr>
              <a:t>MediaPipe</a:t>
            </a:r>
            <a:r>
              <a:rPr lang="ru-RU" altLang="ru-RU" dirty="0">
                <a:solidFill>
                  <a:srgbClr val="17323A"/>
                </a:solidFill>
                <a:cs typeface="Arial" panose="020B0604020202020204" pitchFamily="34" charset="0"/>
              </a:rPr>
              <a:t> Face </a:t>
            </a:r>
            <a:r>
              <a:rPr lang="ru-RU" altLang="ru-RU" dirty="0" err="1">
                <a:solidFill>
                  <a:srgbClr val="17323A"/>
                </a:solidFill>
                <a:cs typeface="Arial" panose="020B0604020202020204" pitchFamily="34" charset="0"/>
              </a:rPr>
              <a:t>Landmarker</a:t>
            </a:r>
            <a:r>
              <a:rPr lang="ru-RU" altLang="ru-RU" dirty="0">
                <a:solidFill>
                  <a:srgbClr val="17323A"/>
                </a:solidFill>
                <a:cs typeface="Arial" panose="020B0604020202020204" pitchFamily="34" charset="0"/>
              </a:rPr>
              <a:t>, которая строит сетку из 468 ключевых точек лица. </a:t>
            </a:r>
            <a:endParaRPr lang="en-US" altLang="ru-RU" dirty="0">
              <a:solidFill>
                <a:srgbClr val="17323A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 dirty="0">
                <a:solidFill>
                  <a:srgbClr val="17323A"/>
                </a:solidFill>
                <a:cs typeface="Arial" panose="020B0604020202020204" pitchFamily="34" charset="0"/>
              </a:rPr>
              <a:t>Классификация проводится по модели Пола Экмана (6 базовых эмоций).</a:t>
            </a:r>
            <a:endParaRPr lang="en-US" altLang="ru-RU" dirty="0"/>
          </a:p>
        </p:txBody>
      </p:sp>
      <p:pic>
        <p:nvPicPr>
          <p:cNvPr id="2" name="Рисунок 1" descr="Задача &quot;Опорный знак на лице&quot;">
            <a:extLst>
              <a:ext uri="{FF2B5EF4-FFF2-40B4-BE49-F238E27FC236}">
                <a16:creationId xmlns:a16="http://schemas.microsoft.com/office/drawing/2014/main" id="{AC6A1973-8F20-E21C-8984-347E22110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6823" y="2365767"/>
            <a:ext cx="5940425" cy="3256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hape 0"/>
          <p:cNvSpPr>
            <a:spLocks noChangeArrowheads="1"/>
          </p:cNvSpPr>
          <p:nvPr/>
        </p:nvSpPr>
        <p:spPr bwMode="auto">
          <a:xfrm>
            <a:off x="0" y="0"/>
            <a:ext cx="146050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7651" name="Text 1"/>
          <p:cNvSpPr>
            <a:spLocks noChangeArrowheads="1"/>
          </p:cNvSpPr>
          <p:nvPr/>
        </p:nvSpPr>
        <p:spPr bwMode="auto">
          <a:xfrm>
            <a:off x="503238" y="219075"/>
            <a:ext cx="4754562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100">
                <a:solidFill>
                  <a:srgbClr val="6A7A80"/>
                </a:solidFill>
                <a:cs typeface="Arial" panose="020B0604020202020204" pitchFamily="34" charset="0"/>
              </a:rPr>
              <a:t>Сургутский государственный университет</a:t>
            </a:r>
            <a:endParaRPr lang="en-US" altLang="ru-RU" sz="1100"/>
          </a:p>
        </p:txBody>
      </p:sp>
      <p:sp>
        <p:nvSpPr>
          <p:cNvPr id="27652" name="Shape 2"/>
          <p:cNvSpPr>
            <a:spLocks noChangeShapeType="1"/>
          </p:cNvSpPr>
          <p:nvPr/>
        </p:nvSpPr>
        <p:spPr bwMode="auto">
          <a:xfrm>
            <a:off x="503238" y="539750"/>
            <a:ext cx="1233487" cy="0"/>
          </a:xfrm>
          <a:prstGeom prst="line">
            <a:avLst/>
          </a:prstGeom>
          <a:noFill/>
          <a:ln w="1905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3" name="Text 4"/>
          <p:cNvSpPr>
            <a:spLocks noChangeArrowheads="1"/>
          </p:cNvSpPr>
          <p:nvPr/>
        </p:nvSpPr>
        <p:spPr bwMode="auto">
          <a:xfrm>
            <a:off x="503238" y="785813"/>
            <a:ext cx="77628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500" b="1">
                <a:solidFill>
                  <a:srgbClr val="17323A"/>
                </a:solidFill>
                <a:cs typeface="Arial" panose="020B0604020202020204" pitchFamily="34" charset="0"/>
              </a:rPr>
              <a:t>МОДУЛЬ РАСПОЗНАВАНИЯ РЕЧИ</a:t>
            </a:r>
            <a:endParaRPr lang="en-US" altLang="ru-RU" sz="2500"/>
          </a:p>
        </p:txBody>
      </p:sp>
      <p:sp>
        <p:nvSpPr>
          <p:cNvPr id="27654" name="Text 7"/>
          <p:cNvSpPr>
            <a:spLocks noChangeArrowheads="1"/>
          </p:cNvSpPr>
          <p:nvPr/>
        </p:nvSpPr>
        <p:spPr bwMode="auto">
          <a:xfrm>
            <a:off x="520700" y="1949450"/>
            <a:ext cx="10774363" cy="320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" tIns="127" rIns="127" bIns="127" anchor="ctr"/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Для автоматического распознавания речи применяется модель Whisper (faster-whisper).</a:t>
            </a:r>
            <a:endParaRPr lang="en-US" altLang="ru-RU">
              <a:solidFill>
                <a:srgbClr val="17323A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Выполняется извлечение мел-частотных кепстральных коэффициентов (MFCC).</a:t>
            </a:r>
            <a:endParaRPr lang="en-US" altLang="ru-RU">
              <a:solidFill>
                <a:srgbClr val="17323A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Применены оптимизации (квантование весов, пакетная обработка) для работы в реальном времени.</a:t>
            </a:r>
            <a:endParaRPr lang="en-US" altLang="ru-RU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hape 0"/>
          <p:cNvSpPr>
            <a:spLocks noChangeArrowheads="1"/>
          </p:cNvSpPr>
          <p:nvPr/>
        </p:nvSpPr>
        <p:spPr bwMode="auto">
          <a:xfrm>
            <a:off x="0" y="0"/>
            <a:ext cx="146050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29699" name="Text 1"/>
          <p:cNvSpPr>
            <a:spLocks noChangeArrowheads="1"/>
          </p:cNvSpPr>
          <p:nvPr/>
        </p:nvSpPr>
        <p:spPr bwMode="auto">
          <a:xfrm>
            <a:off x="503238" y="219075"/>
            <a:ext cx="4754562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100">
                <a:solidFill>
                  <a:srgbClr val="6A7A80"/>
                </a:solidFill>
                <a:cs typeface="Arial" panose="020B0604020202020204" pitchFamily="34" charset="0"/>
              </a:rPr>
              <a:t>Сургутский государственный университет</a:t>
            </a:r>
            <a:endParaRPr lang="en-US" altLang="ru-RU" sz="1100"/>
          </a:p>
        </p:txBody>
      </p:sp>
      <p:sp>
        <p:nvSpPr>
          <p:cNvPr id="29700" name="Shape 2"/>
          <p:cNvSpPr>
            <a:spLocks noChangeShapeType="1"/>
          </p:cNvSpPr>
          <p:nvPr/>
        </p:nvSpPr>
        <p:spPr bwMode="auto">
          <a:xfrm>
            <a:off x="503238" y="539750"/>
            <a:ext cx="1233487" cy="0"/>
          </a:xfrm>
          <a:prstGeom prst="line">
            <a:avLst/>
          </a:prstGeom>
          <a:noFill/>
          <a:ln w="1905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1" name="Text 4"/>
          <p:cNvSpPr>
            <a:spLocks noChangeArrowheads="1"/>
          </p:cNvSpPr>
          <p:nvPr/>
        </p:nvSpPr>
        <p:spPr bwMode="auto">
          <a:xfrm>
            <a:off x="503238" y="785813"/>
            <a:ext cx="77628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500" b="1">
                <a:solidFill>
                  <a:srgbClr val="17323A"/>
                </a:solidFill>
                <a:cs typeface="Arial" panose="020B0604020202020204" pitchFamily="34" charset="0"/>
              </a:rPr>
              <a:t>АНАЛИЗ ТОНАЛЬНОСТИ ТЕКСТА</a:t>
            </a:r>
            <a:endParaRPr lang="en-US" altLang="ru-RU" sz="2500"/>
          </a:p>
        </p:txBody>
      </p:sp>
      <p:sp>
        <p:nvSpPr>
          <p:cNvPr id="29702" name="Text 7"/>
          <p:cNvSpPr>
            <a:spLocks noChangeArrowheads="1"/>
          </p:cNvSpPr>
          <p:nvPr/>
        </p:nvSpPr>
        <p:spPr bwMode="auto">
          <a:xfrm>
            <a:off x="520700" y="1949450"/>
            <a:ext cx="10774363" cy="320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" tIns="127" rIns="127" bIns="127" anchor="ctr"/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Транскрибированный текст обрабатывается моделью DistilBERT.</a:t>
            </a:r>
            <a:endParaRPr lang="en-US" altLang="ru-RU">
              <a:solidFill>
                <a:srgbClr val="17323A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Определяется тональность высказывания: позитивная, нейтральная или негативная.</a:t>
            </a:r>
            <a:endParaRPr lang="en-US" altLang="ru-RU">
              <a:solidFill>
                <a:srgbClr val="17323A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Используется принцип позднего слияния для объединения результатов всех модальностей.</a:t>
            </a:r>
            <a:endParaRPr lang="en-US" alt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hape 0"/>
          <p:cNvSpPr>
            <a:spLocks noChangeArrowheads="1"/>
          </p:cNvSpPr>
          <p:nvPr/>
        </p:nvSpPr>
        <p:spPr bwMode="auto">
          <a:xfrm>
            <a:off x="0" y="0"/>
            <a:ext cx="146050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1747" name="Text 1"/>
          <p:cNvSpPr>
            <a:spLocks noChangeArrowheads="1"/>
          </p:cNvSpPr>
          <p:nvPr/>
        </p:nvSpPr>
        <p:spPr bwMode="auto">
          <a:xfrm>
            <a:off x="503238" y="219075"/>
            <a:ext cx="4754562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100">
                <a:solidFill>
                  <a:srgbClr val="6A7A80"/>
                </a:solidFill>
                <a:cs typeface="Arial" panose="020B0604020202020204" pitchFamily="34" charset="0"/>
              </a:rPr>
              <a:t>Сургутский государственный университет</a:t>
            </a:r>
            <a:endParaRPr lang="en-US" altLang="ru-RU" sz="1100"/>
          </a:p>
        </p:txBody>
      </p:sp>
      <p:sp>
        <p:nvSpPr>
          <p:cNvPr id="31748" name="Shape 2"/>
          <p:cNvSpPr>
            <a:spLocks noChangeShapeType="1"/>
          </p:cNvSpPr>
          <p:nvPr/>
        </p:nvSpPr>
        <p:spPr bwMode="auto">
          <a:xfrm>
            <a:off x="503238" y="539750"/>
            <a:ext cx="1233487" cy="0"/>
          </a:xfrm>
          <a:prstGeom prst="line">
            <a:avLst/>
          </a:prstGeom>
          <a:noFill/>
          <a:ln w="1905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9" name="Text 4"/>
          <p:cNvSpPr>
            <a:spLocks noChangeArrowheads="1"/>
          </p:cNvSpPr>
          <p:nvPr/>
        </p:nvSpPr>
        <p:spPr bwMode="auto">
          <a:xfrm>
            <a:off x="503238" y="785813"/>
            <a:ext cx="776287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u-RU" altLang="ru-RU" sz="2500" b="1">
                <a:solidFill>
                  <a:srgbClr val="17323A"/>
                </a:solidFill>
                <a:cs typeface="Arial" panose="020B0604020202020204" pitchFamily="34" charset="0"/>
              </a:rPr>
              <a:t>ИНТЕРФЕЙС СИСТЕМЫ</a:t>
            </a:r>
            <a:endParaRPr lang="en-US" altLang="ru-RU" sz="2500"/>
          </a:p>
        </p:txBody>
      </p:sp>
      <p:pic>
        <p:nvPicPr>
          <p:cNvPr id="31750" name="Рисунок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289050"/>
            <a:ext cx="10210800" cy="512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hape 0"/>
          <p:cNvSpPr>
            <a:spLocks noChangeArrowheads="1"/>
          </p:cNvSpPr>
          <p:nvPr/>
        </p:nvSpPr>
        <p:spPr bwMode="auto">
          <a:xfrm>
            <a:off x="0" y="0"/>
            <a:ext cx="146050" cy="6858000"/>
          </a:xfrm>
          <a:prstGeom prst="rect">
            <a:avLst/>
          </a:prstGeom>
          <a:solidFill>
            <a:srgbClr val="0E6B72"/>
          </a:solidFill>
          <a:ln w="12700">
            <a:solidFill>
              <a:srgbClr val="0E6B72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3795" name="Text 1"/>
          <p:cNvSpPr>
            <a:spLocks noChangeArrowheads="1"/>
          </p:cNvSpPr>
          <p:nvPr/>
        </p:nvSpPr>
        <p:spPr bwMode="auto">
          <a:xfrm>
            <a:off x="503238" y="219075"/>
            <a:ext cx="4754562" cy="20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1100">
                <a:solidFill>
                  <a:srgbClr val="6A7A80"/>
                </a:solidFill>
                <a:cs typeface="Arial" panose="020B0604020202020204" pitchFamily="34" charset="0"/>
              </a:rPr>
              <a:t>Сургутский государственный университет</a:t>
            </a:r>
            <a:endParaRPr lang="en-US" altLang="ru-RU" sz="1100"/>
          </a:p>
        </p:txBody>
      </p:sp>
      <p:sp>
        <p:nvSpPr>
          <p:cNvPr id="33796" name="Shape 2"/>
          <p:cNvSpPr>
            <a:spLocks noChangeShapeType="1"/>
          </p:cNvSpPr>
          <p:nvPr/>
        </p:nvSpPr>
        <p:spPr bwMode="auto">
          <a:xfrm>
            <a:off x="503238" y="539750"/>
            <a:ext cx="1233487" cy="0"/>
          </a:xfrm>
          <a:prstGeom prst="line">
            <a:avLst/>
          </a:prstGeom>
          <a:noFill/>
          <a:ln w="19050">
            <a:solidFill>
              <a:srgbClr val="179E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7" name="Text 3"/>
          <p:cNvSpPr>
            <a:spLocks noChangeArrowheads="1"/>
          </p:cNvSpPr>
          <p:nvPr/>
        </p:nvSpPr>
        <p:spPr bwMode="auto">
          <a:xfrm>
            <a:off x="11293475" y="6364288"/>
            <a:ext cx="50165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ru-RU" sz="800">
                <a:solidFill>
                  <a:srgbClr val="6A7A80"/>
                </a:solidFill>
                <a:cs typeface="Arial" panose="020B0604020202020204" pitchFamily="34" charset="0"/>
              </a:rPr>
              <a:t>18</a:t>
            </a:r>
            <a:endParaRPr lang="en-US" altLang="ru-RU" sz="800"/>
          </a:p>
        </p:txBody>
      </p:sp>
      <p:sp>
        <p:nvSpPr>
          <p:cNvPr id="33798" name="Text 4"/>
          <p:cNvSpPr>
            <a:spLocks noChangeArrowheads="1"/>
          </p:cNvSpPr>
          <p:nvPr/>
        </p:nvSpPr>
        <p:spPr bwMode="auto">
          <a:xfrm>
            <a:off x="503238" y="785813"/>
            <a:ext cx="5165725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500" b="1">
                <a:solidFill>
                  <a:srgbClr val="17323A"/>
                </a:solidFill>
                <a:cs typeface="Arial" panose="020B0604020202020204" pitchFamily="34" charset="0"/>
              </a:rPr>
              <a:t>ИТОГИ РАБОТЫ</a:t>
            </a:r>
            <a:endParaRPr lang="en-US" altLang="ru-RU" sz="2500"/>
          </a:p>
        </p:txBody>
      </p:sp>
      <p:sp>
        <p:nvSpPr>
          <p:cNvPr id="33799" name="Text 7"/>
          <p:cNvSpPr>
            <a:spLocks noChangeArrowheads="1"/>
          </p:cNvSpPr>
          <p:nvPr/>
        </p:nvSpPr>
        <p:spPr bwMode="auto">
          <a:xfrm>
            <a:off x="520700" y="1949450"/>
            <a:ext cx="10774363" cy="3205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" tIns="127" rIns="127" bIns="127" anchor="ctr"/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Проведён анализ предметной области и существующих аналогов</a:t>
            </a:r>
            <a:endParaRPr lang="en-US" altLang="ru-RU">
              <a:solidFill>
                <a:srgbClr val="17323A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Спроектирована функциональная модель системы</a:t>
            </a:r>
            <a:endParaRPr lang="en-US" altLang="ru-RU">
              <a:solidFill>
                <a:srgbClr val="17323A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Выбраны модели ИНС и средства разработки</a:t>
            </a:r>
            <a:endParaRPr lang="en-US" altLang="ru-RU">
              <a:solidFill>
                <a:srgbClr val="17323A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Реализован и протестирован программный комплекс</a:t>
            </a:r>
            <a:endParaRPr lang="en-US" altLang="ru-RU">
              <a:solidFill>
                <a:srgbClr val="17323A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altLang="ru-RU">
                <a:solidFill>
                  <a:srgbClr val="17323A"/>
                </a:solidFill>
                <a:cs typeface="Arial" panose="020B0604020202020204" pitchFamily="34" charset="0"/>
              </a:rPr>
              <a:t>Обеспечено соответствие требованиям ФЗ-152</a:t>
            </a:r>
            <a:endParaRPr lang="en-US" alt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hape 0"/>
          <p:cNvSpPr>
            <a:spLocks noChangeArrowheads="1"/>
          </p:cNvSpPr>
          <p:nvPr/>
        </p:nvSpPr>
        <p:spPr bwMode="auto">
          <a:xfrm>
            <a:off x="0" y="0"/>
            <a:ext cx="3657600" cy="6858000"/>
          </a:xfrm>
          <a:prstGeom prst="rect">
            <a:avLst/>
          </a:prstGeom>
          <a:solidFill>
            <a:srgbClr val="0B3F4C"/>
          </a:solidFill>
          <a:ln w="12700">
            <a:solidFill>
              <a:srgbClr val="0B3F4C">
                <a:alpha val="0"/>
              </a:srgbClr>
            </a:solidFill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ru-RU" altLang="ru-RU"/>
          </a:p>
        </p:txBody>
      </p:sp>
      <p:sp>
        <p:nvSpPr>
          <p:cNvPr id="35843" name="Text 1"/>
          <p:cNvSpPr>
            <a:spLocks noChangeArrowheads="1"/>
          </p:cNvSpPr>
          <p:nvPr/>
        </p:nvSpPr>
        <p:spPr bwMode="auto">
          <a:xfrm>
            <a:off x="593725" y="2487613"/>
            <a:ext cx="2560638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ru-RU" sz="2500" b="1">
                <a:solidFill>
                  <a:srgbClr val="FFFFFF"/>
                </a:solidFill>
                <a:cs typeface="Arial" panose="020B0604020202020204" pitchFamily="34" charset="0"/>
              </a:rPr>
              <a:t>СПАСИБО</a:t>
            </a:r>
            <a:endParaRPr lang="en-US" altLang="ru-RU" sz="2500"/>
          </a:p>
          <a:p>
            <a:pPr eaLnBrk="1" hangingPunct="1"/>
            <a:r>
              <a:rPr lang="en-US" altLang="ru-RU" sz="2500" b="1">
                <a:solidFill>
                  <a:srgbClr val="FFFFFF"/>
                </a:solidFill>
                <a:cs typeface="Arial" panose="020B0604020202020204" pitchFamily="34" charset="0"/>
              </a:rPr>
              <a:t>ЗА ВНИМАНИЕ</a:t>
            </a:r>
            <a:endParaRPr lang="en-US" altLang="ru-RU" sz="2500"/>
          </a:p>
        </p:txBody>
      </p:sp>
      <p:sp>
        <p:nvSpPr>
          <p:cNvPr id="35844" name="Text 4"/>
          <p:cNvSpPr>
            <a:spLocks noChangeArrowheads="1"/>
          </p:cNvSpPr>
          <p:nvPr/>
        </p:nvSpPr>
        <p:spPr bwMode="auto">
          <a:xfrm>
            <a:off x="11293475" y="6364288"/>
            <a:ext cx="501650" cy="16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/>
            <a:r>
              <a:rPr lang="en-US" altLang="ru-RU" sz="800">
                <a:solidFill>
                  <a:srgbClr val="6A7A80"/>
                </a:solidFill>
                <a:cs typeface="Arial" panose="020B0604020202020204" pitchFamily="34" charset="0"/>
              </a:rPr>
              <a:t>19</a:t>
            </a:r>
            <a:endParaRPr lang="en-US" altLang="ru-RU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465</Words>
  <Application>Microsoft Office PowerPoint</Application>
  <PresentationFormat>Широкоэкранный</PresentationFormat>
  <Paragraphs>142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Aptos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2026-06-22T20:48:44Z</dcterms:created>
  <dcterms:modified xsi:type="dcterms:W3CDTF">2026-06-30T16:27:22Z</dcterms:modified>
</cp:coreProperties>
</file>