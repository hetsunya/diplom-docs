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96" r:id="rId5"/>
    <p:sldId id="297" r:id="rId6"/>
    <p:sldId id="298" r:id="rId7"/>
    <p:sldId id="299" r:id="rId8"/>
    <p:sldId id="300" r:id="rId9"/>
    <p:sldId id="301" r:id="rId10"/>
    <p:sldId id="295" r:id="rId11"/>
    <p:sldId id="259" r:id="rId12"/>
    <p:sldId id="287" r:id="rId13"/>
    <p:sldId id="260" r:id="rId14"/>
    <p:sldId id="288" r:id="rId15"/>
    <p:sldId id="302" r:id="rId16"/>
    <p:sldId id="284" r:id="rId17"/>
    <p:sldId id="266" r:id="rId18"/>
    <p:sldId id="294" r:id="rId19"/>
    <p:sldId id="289" r:id="rId20"/>
    <p:sldId id="28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19.06.2026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19.06.2026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19.06.2026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19.06.2026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19.06.2026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19.06.2026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/>
          </a:bodyPr>
          <a:lstStyle/>
          <a:p>
            <a:r>
              <a:rPr lang="ru-RU" sz="5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8440" y="5101654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ВКР: Горбунов Дмитрий Владимирович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07838-5538-C0C2-D39D-35499CF23BB8}"/>
              </a:ext>
            </a:extLst>
          </p:cNvPr>
          <p:cNvSpPr txBox="1"/>
          <p:nvPr/>
        </p:nvSpPr>
        <p:spPr>
          <a:xfrm>
            <a:off x="2249424" y="2967334"/>
            <a:ext cx="7991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мультимодальной системы распознавания эмоций человека на основе искусственных нейронных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сетей»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708" y="101498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Цель работы: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Исследовать предметную область, провести обзор аналогов, выбрать модель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искусственной нейронной сети и спроектировать систему для распознавания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эмоций человека на основе ИНС.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Задачи работы</a:t>
            </a:r>
            <a:r>
              <a:rPr lang="en-US" sz="2000" dirty="0"/>
              <a:t>:</a:t>
            </a:r>
            <a:endParaRPr lang="ru-RU" sz="2000" dirty="0"/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1. Обследовать и изучить предметную область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2. Провести изучение аналогов и составить обзор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3. Составить перечень функциональных задач системы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4. Выбрать модель искусственной нейронной сети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5. Спроектировать функциональную модель системы и её декомпозицию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6. Выбрать средства проектирования и разработки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7. Подготовить пояснительную записку по ВКР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Рост значимости эмоционального интеллекта в HR</a:t>
            </a:r>
          </a:p>
          <a:p>
            <a:pPr algn="just"/>
            <a:r>
              <a:rPr lang="ru-RU" dirty="0"/>
              <a:t>Ограниченность традиционных методов (субъективность, низкая оперативность)</a:t>
            </a:r>
          </a:p>
          <a:p>
            <a:pPr algn="just"/>
            <a:r>
              <a:rPr lang="ru-RU" dirty="0"/>
              <a:t>Развитие технологий ИИ для анализа эмоций в реальном времени</a:t>
            </a:r>
          </a:p>
          <a:p>
            <a:pPr algn="just"/>
            <a:r>
              <a:rPr lang="ru-RU" dirty="0"/>
              <a:t>Потребность в мультимодальном анализе (видео + аудио + текст)</a:t>
            </a:r>
          </a:p>
          <a:p>
            <a:pPr algn="just"/>
            <a:r>
              <a:rPr lang="ru-RU" dirty="0"/>
              <a:t>Соответствие требованиям ФЗ-152 о защите персональных данных</a:t>
            </a:r>
          </a:p>
          <a:p>
            <a:pPr algn="just"/>
            <a:r>
              <a:rPr lang="ru-RU" dirty="0"/>
              <a:t>Экономическая эффективность автоматизации HR-процессов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Существующие решения: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 err="1"/>
              <a:t>Affectiva</a:t>
            </a:r>
            <a:r>
              <a:rPr lang="ru-RU" dirty="0"/>
              <a:t> (компьютерное зрение) — высокая точность, но нет </a:t>
            </a:r>
            <a:r>
              <a:rPr lang="ru-RU" dirty="0" err="1"/>
              <a:t>аудиоанализа</a:t>
            </a:r>
            <a:endParaRPr lang="ru-RU" dirty="0"/>
          </a:p>
          <a:p>
            <a:pPr algn="just"/>
            <a:r>
              <a:rPr lang="ru-RU" dirty="0" err="1"/>
              <a:t>Beyond</a:t>
            </a:r>
            <a:r>
              <a:rPr lang="ru-RU" dirty="0"/>
              <a:t> </a:t>
            </a:r>
            <a:r>
              <a:rPr lang="ru-RU" dirty="0" err="1"/>
              <a:t>Verbal</a:t>
            </a:r>
            <a:r>
              <a:rPr lang="ru-RU" dirty="0"/>
              <a:t> (</a:t>
            </a:r>
            <a:r>
              <a:rPr lang="ru-RU" dirty="0" err="1"/>
              <a:t>аудиоанализ</a:t>
            </a:r>
            <a:r>
              <a:rPr lang="ru-RU" dirty="0"/>
              <a:t>) — устойчивость к помехам, но нет визуальных данных</a:t>
            </a:r>
          </a:p>
          <a:p>
            <a:pPr algn="just"/>
            <a:r>
              <a:rPr lang="ru-RU" dirty="0" err="1"/>
              <a:t>Emotient</a:t>
            </a:r>
            <a:r>
              <a:rPr lang="ru-RU" dirty="0"/>
              <a:t> (мультимодальные) — высокая точность, но дорогая и не адаптирована под РФ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Недостатки аналогов:</a:t>
            </a:r>
          </a:p>
          <a:p>
            <a:pPr algn="just"/>
            <a:r>
              <a:rPr lang="ru-RU" dirty="0"/>
              <a:t>Высокая стоимость лицензий</a:t>
            </a:r>
          </a:p>
          <a:p>
            <a:pPr algn="just"/>
            <a:r>
              <a:rPr lang="ru-RU" dirty="0"/>
              <a:t>Отсутствие адаптации под HR-сценарии</a:t>
            </a:r>
          </a:p>
          <a:p>
            <a:pPr algn="just"/>
            <a:r>
              <a:rPr lang="ru-RU" dirty="0"/>
              <a:t>Риски несоответствия ФЗ-152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Разрабатываемая система:</a:t>
            </a:r>
          </a:p>
          <a:p>
            <a:pPr algn="just"/>
            <a:r>
              <a:rPr lang="ru-RU" dirty="0"/>
              <a:t>Специализация под HR</a:t>
            </a:r>
          </a:p>
          <a:p>
            <a:pPr algn="just"/>
            <a:r>
              <a:rPr lang="ru-RU" dirty="0"/>
              <a:t>Локальная обработка данных</a:t>
            </a:r>
          </a:p>
          <a:p>
            <a:pPr algn="just"/>
            <a:r>
              <a:rPr lang="ru-RU" dirty="0"/>
              <a:t>Открытый стек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7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BPMN-</a:t>
            </a:r>
            <a:r>
              <a:rPr lang="ru-RU" sz="4400" dirty="0"/>
              <a:t>диаграмма бизнес-процесса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1ED75E-ADF1-FDC7-8078-2474E42BF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995" y="958558"/>
            <a:ext cx="6888317" cy="5406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65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IDEF0-</a:t>
            </a:r>
            <a:r>
              <a:rPr lang="ru-RU" sz="4400" dirty="0"/>
              <a:t>диаграмма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362F01-AE84-4346-82B7-CE5CD579C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057" y="1000442"/>
            <a:ext cx="5937885" cy="4857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540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Декомпозиция </a:t>
            </a:r>
            <a:r>
              <a:rPr lang="en-US" sz="4400" dirty="0"/>
              <a:t>IDEF0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E813B2-5909-97D5-A0AC-B0D2CB6E62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163" y="1161288"/>
            <a:ext cx="9519673" cy="49470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908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DFD-</a:t>
            </a:r>
            <a:r>
              <a:rPr lang="ru-RU" sz="4400" dirty="0"/>
              <a:t>диаграмма потоков данных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A2D90-4A58-6C6F-0DE0-772AB18A3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422" y="1567530"/>
            <a:ext cx="6455156" cy="3851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05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ER-</a:t>
            </a:r>
            <a:r>
              <a:rPr lang="ru-RU" sz="4400" dirty="0"/>
              <a:t>модель базы данных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AA840C-06DE-BDF4-2382-9731C8C571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50" y="1238346"/>
            <a:ext cx="9765299" cy="48972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3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текст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269F99-8B72-9FE2-47EC-9B6A86050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9" y="952874"/>
            <a:ext cx="8803170" cy="55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89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 txBox="1">
            <a:spLocks/>
          </p:cNvSpPr>
          <p:nvPr/>
        </p:nvSpPr>
        <p:spPr>
          <a:xfrm>
            <a:off x="1000411" y="302459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Обоснование выбора из чего выбирали</a:t>
            </a:r>
          </a:p>
        </p:txBody>
      </p:sp>
    </p:spTree>
    <p:extLst>
      <p:ext uri="{BB962C8B-B14F-4D97-AF65-F5344CB8AC3E}">
        <p14:creationId xmlns:p14="http://schemas.microsoft.com/office/powerpoint/2010/main" val="4236369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Искусственный интеллект (ИИ) — это направление компьютерных наук, нацеленное на создание систем, способных выполнять задачи, требующие человеческого интеллекта.</a:t>
            </a:r>
            <a:endParaRPr lang="en-US" dirty="0"/>
          </a:p>
          <a:p>
            <a:pPr algn="just"/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pPr algn="just"/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pPr algn="just"/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8790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Технологии:</a:t>
            </a:r>
          </a:p>
          <a:p>
            <a:pPr marL="0" indent="0">
              <a:buNone/>
            </a:pPr>
            <a:r>
              <a:rPr lang="ru-RU" sz="2400" dirty="0"/>
              <a:t>• MTCNN — детекция лиц и ключевых точек</a:t>
            </a:r>
          </a:p>
          <a:p>
            <a:pPr marL="0" indent="0">
              <a:buNone/>
            </a:pPr>
            <a:r>
              <a:rPr lang="ru-RU" sz="2400" dirty="0"/>
              <a:t>• </a:t>
            </a:r>
            <a:r>
              <a:rPr lang="ru-RU" sz="2400" dirty="0" err="1"/>
              <a:t>DeepFace</a:t>
            </a:r>
            <a:r>
              <a:rPr lang="ru-RU" sz="2400" dirty="0"/>
              <a:t> (VGG-Face, Facenet512) — классификация эмоций</a:t>
            </a:r>
          </a:p>
          <a:p>
            <a:pPr marL="0" indent="0">
              <a:buNone/>
            </a:pPr>
            <a:r>
              <a:rPr lang="ru-RU" sz="2400" dirty="0"/>
              <a:t>• </a:t>
            </a:r>
            <a:r>
              <a:rPr lang="ru-RU" sz="2400" dirty="0" err="1"/>
              <a:t>MediaPipe</a:t>
            </a:r>
            <a:r>
              <a:rPr lang="ru-RU" sz="2400" dirty="0"/>
              <a:t> Face </a:t>
            </a:r>
            <a:r>
              <a:rPr lang="ru-RU" sz="2400" dirty="0" err="1"/>
              <a:t>Landmarker</a:t>
            </a:r>
            <a:r>
              <a:rPr lang="ru-RU" sz="2400" dirty="0"/>
              <a:t> — 468 3D-точек, </a:t>
            </a:r>
            <a:r>
              <a:rPr lang="ru-RU" sz="2400" dirty="0" err="1"/>
              <a:t>blendshape</a:t>
            </a:r>
            <a:r>
              <a:rPr lang="ru-RU" sz="2400" dirty="0"/>
              <a:t>-коэффициенты</a:t>
            </a:r>
          </a:p>
          <a:p>
            <a:pPr marL="0" indent="0">
              <a:buNone/>
            </a:pPr>
            <a:r>
              <a:rPr lang="ru-RU" sz="2400" dirty="0"/>
              <a:t>Классификация по модели Пола Экмана:</a:t>
            </a:r>
          </a:p>
          <a:p>
            <a:pPr marL="0" indent="0">
              <a:buNone/>
            </a:pPr>
            <a:r>
              <a:rPr lang="ru-RU" sz="2400" dirty="0"/>
              <a:t>• Радость, грусть, гнев</a:t>
            </a:r>
          </a:p>
          <a:p>
            <a:pPr marL="0" indent="0">
              <a:buNone/>
            </a:pPr>
            <a:r>
              <a:rPr lang="ru-RU" sz="2400" dirty="0"/>
              <a:t>• Страх, удивление, отвращение</a:t>
            </a:r>
          </a:p>
          <a:p>
            <a:pPr marL="0" indent="0">
              <a:buNone/>
            </a:pPr>
            <a:r>
              <a:rPr lang="ru-RU" sz="2400" dirty="0"/>
              <a:t>Инженерная реализация:</a:t>
            </a:r>
          </a:p>
          <a:p>
            <a:pPr marL="0" indent="0">
              <a:buNone/>
            </a:pPr>
            <a:r>
              <a:rPr lang="ru-RU" sz="2400" dirty="0"/>
              <a:t>• Семафор для ограничения параллельных </a:t>
            </a:r>
            <a:r>
              <a:rPr lang="ru-RU" sz="2400" dirty="0" err="1"/>
              <a:t>инференсов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• Адаптивная частота отправки кадров</a:t>
            </a:r>
          </a:p>
          <a:p>
            <a:pPr marL="0" indent="0">
              <a:buNone/>
            </a:pPr>
            <a:r>
              <a:rPr lang="ru-RU" sz="2400" dirty="0"/>
              <a:t>• Фильтрация ложных срабатываний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Модель </a:t>
            </a:r>
            <a:r>
              <a:rPr lang="ru-RU" sz="2400" dirty="0" err="1"/>
              <a:t>Whisper</a:t>
            </a:r>
            <a:r>
              <a:rPr lang="ru-RU" sz="2400" dirty="0"/>
              <a:t> (OpenAI):</a:t>
            </a:r>
          </a:p>
          <a:p>
            <a:pPr marL="0" indent="0" algn="just">
              <a:buNone/>
            </a:pPr>
            <a:r>
              <a:rPr lang="ru-RU" sz="2400" dirty="0"/>
              <a:t>• </a:t>
            </a:r>
            <a:r>
              <a:rPr lang="ru-RU" sz="2400" dirty="0" err="1"/>
              <a:t>Encoder-decoder</a:t>
            </a:r>
            <a:r>
              <a:rPr lang="ru-RU" sz="2400" dirty="0"/>
              <a:t> трансформер</a:t>
            </a:r>
          </a:p>
          <a:p>
            <a:pPr marL="0" indent="0" algn="just">
              <a:buNone/>
            </a:pPr>
            <a:r>
              <a:rPr lang="ru-RU" sz="2400" dirty="0"/>
              <a:t>• Обучение на 680 000 часов аудиоданных</a:t>
            </a:r>
          </a:p>
          <a:p>
            <a:pPr marL="0" indent="0" algn="just">
              <a:buNone/>
            </a:pPr>
            <a:r>
              <a:rPr lang="ru-RU" sz="2400" dirty="0"/>
              <a:t>• Поддержка 99 языков</a:t>
            </a:r>
          </a:p>
          <a:p>
            <a:pPr marL="0" indent="0" algn="just">
              <a:buNone/>
            </a:pPr>
            <a:r>
              <a:rPr lang="ru-RU" sz="2400" dirty="0"/>
              <a:t>Оптимизация (</a:t>
            </a:r>
            <a:r>
              <a:rPr lang="ru-RU" sz="2400" dirty="0" err="1"/>
              <a:t>faster-whisper</a:t>
            </a:r>
            <a:r>
              <a:rPr lang="ru-RU" sz="2400" dirty="0"/>
              <a:t>):</a:t>
            </a:r>
          </a:p>
          <a:p>
            <a:pPr marL="0" indent="0" algn="just">
              <a:buNone/>
            </a:pPr>
            <a:r>
              <a:rPr lang="ru-RU" sz="2400" dirty="0"/>
              <a:t>• Квантование весов (float32 → int8/float16)</a:t>
            </a:r>
          </a:p>
          <a:p>
            <a:pPr marL="0" indent="0" algn="just">
              <a:buNone/>
            </a:pPr>
            <a:r>
              <a:rPr lang="ru-RU" sz="2400" dirty="0"/>
              <a:t>• Пакетная обработка (</a:t>
            </a:r>
            <a:r>
              <a:rPr lang="ru-RU" sz="2400" dirty="0" err="1"/>
              <a:t>batching</a:t>
            </a:r>
            <a:r>
              <a:rPr lang="ru-RU" sz="2400" dirty="0"/>
              <a:t>)</a:t>
            </a:r>
          </a:p>
          <a:p>
            <a:pPr marL="0" indent="0" algn="just">
              <a:buNone/>
            </a:pPr>
            <a:r>
              <a:rPr lang="ru-RU" sz="2400" dirty="0"/>
              <a:t>• Использование GPU</a:t>
            </a:r>
          </a:p>
          <a:p>
            <a:pPr marL="0" indent="0" algn="just">
              <a:buNone/>
            </a:pPr>
            <a:r>
              <a:rPr lang="ru-RU" sz="2400" dirty="0"/>
              <a:t>Результаты:</a:t>
            </a:r>
          </a:p>
          <a:p>
            <a:pPr marL="0" indent="0" algn="just">
              <a:buNone/>
            </a:pPr>
            <a:r>
              <a:rPr lang="ru-RU" sz="2400" dirty="0"/>
              <a:t>• </a:t>
            </a:r>
            <a:r>
              <a:rPr lang="ru-RU" sz="2400" dirty="0" err="1"/>
              <a:t>Транскрибация</a:t>
            </a:r>
            <a:r>
              <a:rPr lang="ru-RU" sz="2400" dirty="0"/>
              <a:t> речи в реальном времени</a:t>
            </a:r>
          </a:p>
          <a:p>
            <a:pPr marL="0" indent="0" algn="just">
              <a:buNone/>
            </a:pPr>
            <a:r>
              <a:rPr lang="ru-RU" sz="2400" dirty="0"/>
              <a:t>• Разделение реплик по участникам</a:t>
            </a:r>
          </a:p>
          <a:p>
            <a:pPr marL="0" indent="0" algn="just">
              <a:buNone/>
            </a:pPr>
            <a:r>
              <a:rPr lang="ru-RU" sz="2400" dirty="0"/>
              <a:t>• Временные метки для каждой реплики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Модуль распознавания речи (</a:t>
            </a:r>
            <a:r>
              <a:rPr lang="en-US" sz="4000" dirty="0"/>
              <a:t>ASR</a:t>
            </a:r>
            <a:r>
              <a:rPr lang="ru-RU" sz="4000" dirty="0"/>
              <a:t>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Модуль </a:t>
            </a:r>
            <a:r>
              <a:rPr lang="ru-RU" sz="2400" dirty="0" err="1"/>
              <a:t>Sentiment</a:t>
            </a:r>
            <a:r>
              <a:rPr lang="ru-RU" sz="2400" dirty="0"/>
              <a:t> Analysis:</a:t>
            </a:r>
          </a:p>
          <a:p>
            <a:pPr marL="0" indent="0" algn="just">
              <a:buNone/>
            </a:pPr>
            <a:r>
              <a:rPr lang="ru-RU" sz="2400" dirty="0"/>
              <a:t>• Легковесная </a:t>
            </a:r>
            <a:r>
              <a:rPr lang="ru-RU" sz="2400" dirty="0" err="1"/>
              <a:t>трансформерная</a:t>
            </a:r>
            <a:r>
              <a:rPr lang="ru-RU" sz="2400" dirty="0"/>
              <a:t> модель (</a:t>
            </a:r>
            <a:r>
              <a:rPr lang="ru-RU" sz="2400" dirty="0" err="1"/>
              <a:t>RuBERT</a:t>
            </a:r>
            <a:r>
              <a:rPr lang="ru-RU" sz="2400" dirty="0"/>
              <a:t>/</a:t>
            </a:r>
            <a:r>
              <a:rPr lang="ru-RU" sz="2400" dirty="0" err="1"/>
              <a:t>DistilBERT</a:t>
            </a:r>
            <a:r>
              <a:rPr lang="ru-RU" sz="2400" dirty="0"/>
              <a:t>)</a:t>
            </a:r>
          </a:p>
          <a:p>
            <a:pPr marL="0" indent="0" algn="just">
              <a:buNone/>
            </a:pPr>
            <a:r>
              <a:rPr lang="ru-RU" sz="2400" dirty="0"/>
              <a:t>• Классификация тональности: позитивная / нейтральная / негативная</a:t>
            </a:r>
          </a:p>
          <a:p>
            <a:pPr marL="0" indent="0" algn="just">
              <a:buNone/>
            </a:pPr>
            <a:r>
              <a:rPr lang="ru-RU" sz="2400" dirty="0"/>
              <a:t>Алгоритм работы:</a:t>
            </a:r>
          </a:p>
          <a:p>
            <a:pPr marL="0" indent="0" algn="just">
              <a:buNone/>
            </a:pPr>
            <a:r>
              <a:rPr lang="ru-RU" sz="2400" dirty="0"/>
              <a:t>1. Сегментация и </a:t>
            </a:r>
            <a:r>
              <a:rPr lang="ru-RU" sz="2400" dirty="0" err="1"/>
              <a:t>токенизация</a:t>
            </a:r>
            <a:r>
              <a:rPr lang="ru-RU" sz="2400" dirty="0"/>
              <a:t> транскрипта</a:t>
            </a:r>
          </a:p>
          <a:p>
            <a:pPr marL="0" indent="0" algn="just">
              <a:buNone/>
            </a:pPr>
            <a:r>
              <a:rPr lang="ru-RU" sz="2400" dirty="0"/>
              <a:t>2. </a:t>
            </a:r>
            <a:r>
              <a:rPr lang="ru-RU" sz="2400" dirty="0" err="1"/>
              <a:t>Инференс</a:t>
            </a:r>
            <a:r>
              <a:rPr lang="ru-RU" sz="2400" dirty="0"/>
              <a:t> модели</a:t>
            </a:r>
          </a:p>
          <a:p>
            <a:pPr marL="0" indent="0" algn="just">
              <a:buNone/>
            </a:pPr>
            <a:r>
              <a:rPr lang="ru-RU" sz="2400" dirty="0"/>
              <a:t>3. Присвоение метки тональности</a:t>
            </a:r>
          </a:p>
          <a:p>
            <a:pPr marL="0" indent="0" algn="just">
              <a:buNone/>
            </a:pPr>
            <a:r>
              <a:rPr lang="ru-RU" sz="2400" dirty="0"/>
              <a:t>Интеграция:</a:t>
            </a:r>
          </a:p>
          <a:p>
            <a:pPr marL="0" indent="0" algn="just">
              <a:buNone/>
            </a:pPr>
            <a:r>
              <a:rPr lang="ru-RU" sz="2400" dirty="0"/>
              <a:t>• Сохранение в JSONB с привязкой к временным меткам</a:t>
            </a:r>
          </a:p>
          <a:p>
            <a:pPr marL="0" indent="0" algn="just">
              <a:buNone/>
            </a:pPr>
            <a:r>
              <a:rPr lang="ru-RU" sz="2400" dirty="0"/>
              <a:t>• Сопоставление с визуальными и акустическими признаками</a:t>
            </a:r>
          </a:p>
          <a:p>
            <a:pPr marL="0" indent="0" algn="just">
              <a:buNone/>
            </a:pPr>
            <a:r>
              <a:rPr lang="ru-RU" sz="2400" dirty="0"/>
              <a:t>• Принцип </a:t>
            </a:r>
            <a:r>
              <a:rPr lang="ru-RU" sz="2400" dirty="0" err="1"/>
              <a:t>late</a:t>
            </a:r>
            <a:r>
              <a:rPr lang="ru-RU" sz="2400" dirty="0"/>
              <a:t> </a:t>
            </a:r>
            <a:r>
              <a:rPr lang="ru-RU" sz="2400" dirty="0" err="1"/>
              <a:t>fusion</a:t>
            </a:r>
            <a:r>
              <a:rPr lang="ru-RU" sz="2400" dirty="0"/>
              <a:t> при формировании отчёта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Анализ тональности текста (</a:t>
            </a:r>
            <a:r>
              <a:rPr lang="en-US" sz="4000" dirty="0"/>
              <a:t>NLP)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58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pPr algn="just"/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pPr algn="just"/>
            <a:r>
              <a:rPr lang="ru-RU" dirty="0"/>
              <a:t>Входной информацией является:</a:t>
            </a:r>
          </a:p>
          <a:p>
            <a:pPr lvl="1" algn="just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pPr algn="just"/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18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 txBox="1">
            <a:spLocks/>
          </p:cNvSpPr>
          <p:nvPr/>
        </p:nvSpPr>
        <p:spPr>
          <a:xfrm>
            <a:off x="148297" y="3644672"/>
            <a:ext cx="4806346" cy="1325563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Стрелки к блокам нужно подправить. </a:t>
            </a:r>
          </a:p>
          <a:p>
            <a:r>
              <a:rPr lang="ru-RU" dirty="0"/>
              <a:t>Один вход один выход для прямоугольников</a:t>
            </a:r>
          </a:p>
        </p:txBody>
      </p:sp>
      <p:pic>
        <p:nvPicPr>
          <p:cNvPr id="6" name="Рисунок 5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7706B93A-2B11-6CF7-0EF1-40E0C302D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16" y="368963"/>
            <a:ext cx="7855751" cy="612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90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19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3FE67C-39AF-9CC6-D363-97D9E422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963" y="1079214"/>
            <a:ext cx="9368101" cy="469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Изучена предметная область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Проведён обзор аналогов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Составлен перечень функциональных задач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Выбраны модели ИНС (CNN, </a:t>
            </a:r>
            <a:r>
              <a:rPr lang="ru-RU" dirty="0" err="1"/>
              <a:t>Transformer</a:t>
            </a:r>
            <a:r>
              <a:rPr lang="ru-RU" dirty="0"/>
              <a:t>, NLP)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Спроектирована функциональная модель и декомпозиция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Выбраны средства разработки (</a:t>
            </a:r>
            <a:r>
              <a:rPr lang="ru-RU" dirty="0" err="1"/>
              <a:t>React</a:t>
            </a:r>
            <a:r>
              <a:rPr lang="ru-RU" dirty="0"/>
              <a:t>, Go, Python, </a:t>
            </a:r>
            <a:r>
              <a:rPr lang="ru-RU" dirty="0" err="1"/>
              <a:t>PostgreSQL</a:t>
            </a:r>
            <a:r>
              <a:rPr lang="ru-RU" dirty="0"/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Подготовлена пояснительная записка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Перспективы развития:</a:t>
            </a:r>
          </a:p>
          <a:p>
            <a:pPr algn="just"/>
            <a:r>
              <a:rPr lang="ru-RU" dirty="0"/>
              <a:t>Замена эвристических алгоритмов на нейросетевые модели агрегации</a:t>
            </a:r>
          </a:p>
          <a:p>
            <a:pPr algn="just"/>
            <a:r>
              <a:rPr lang="ru-RU" dirty="0"/>
              <a:t>Оптимизация потоковой </a:t>
            </a:r>
            <a:r>
              <a:rPr lang="ru-RU" dirty="0" err="1"/>
              <a:t>транскрибации</a:t>
            </a:r>
            <a:r>
              <a:rPr lang="ru-RU" dirty="0"/>
              <a:t> (</a:t>
            </a:r>
            <a:r>
              <a:rPr lang="ru-RU" dirty="0" err="1"/>
              <a:t>streaming</a:t>
            </a:r>
            <a:r>
              <a:rPr lang="ru-RU" dirty="0"/>
              <a:t> ASR)</a:t>
            </a:r>
          </a:p>
          <a:p>
            <a:pPr algn="just"/>
            <a:r>
              <a:rPr lang="ru-RU" dirty="0"/>
              <a:t>Интеграция с корпоративными HRM-системами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907</Words>
  <Application>Microsoft Office PowerPoint</Application>
  <PresentationFormat>Широкоэкранный</PresentationFormat>
  <Paragraphs>137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Times New Roman</vt:lpstr>
      <vt:lpstr>Тема Office</vt:lpstr>
      <vt:lpstr>ВЫПУСКНАЯ КВАЛИФИКАЦИОННАЯ РАБОТА</vt:lpstr>
      <vt:lpstr>Цель и задачи практики</vt:lpstr>
      <vt:lpstr>Актуальность</vt:lpstr>
      <vt:lpstr>Существующие решения:</vt:lpstr>
      <vt:lpstr>BPMN-диаграмма бизнес-процесса</vt:lpstr>
      <vt:lpstr>IDEF0-диаграмма</vt:lpstr>
      <vt:lpstr>Декомпозиция IDEF0</vt:lpstr>
      <vt:lpstr>DFD-диаграмма потоков данных</vt:lpstr>
      <vt:lpstr>ER-модель базы данных</vt:lpstr>
      <vt:lpstr>Логическая модель базы данных</vt:lpstr>
      <vt:lpstr>Средства и технологии разработки</vt:lpstr>
      <vt:lpstr>Средства и технологии разработки</vt:lpstr>
      <vt:lpstr>Модуль анализа лица и эмоций</vt:lpstr>
      <vt:lpstr>Модуль распознавания речи (ASR)</vt:lpstr>
      <vt:lpstr>Анализ тональности текста (NLP)</vt:lpstr>
      <vt:lpstr>Модель MediaPipe Face Landmarker</vt:lpstr>
      <vt:lpstr>Информационное обеспечение</vt:lpstr>
      <vt:lpstr>Алгоритмическое обеспечение. Алгоритм работы программы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</dc:title>
  <dc:creator>Роман Чирко</dc:creator>
  <cp:lastModifiedBy>Виталий Демьянцев</cp:lastModifiedBy>
  <cp:revision>186</cp:revision>
  <dcterms:created xsi:type="dcterms:W3CDTF">2024-05-28T15:56:43Z</dcterms:created>
  <dcterms:modified xsi:type="dcterms:W3CDTF">2026-06-19T06:14:10Z</dcterms:modified>
</cp:coreProperties>
</file>