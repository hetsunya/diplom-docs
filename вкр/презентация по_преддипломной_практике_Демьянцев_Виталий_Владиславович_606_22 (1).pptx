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58" r:id="rId4"/>
    <p:sldId id="259" r:id="rId5"/>
    <p:sldId id="287" r:id="rId6"/>
    <p:sldId id="260" r:id="rId7"/>
    <p:sldId id="283" r:id="rId8"/>
    <p:sldId id="288" r:id="rId9"/>
    <p:sldId id="293" r:id="rId10"/>
    <p:sldId id="284" r:id="rId11"/>
    <p:sldId id="264" r:id="rId12"/>
    <p:sldId id="266" r:id="rId13"/>
    <p:sldId id="295" r:id="rId14"/>
    <p:sldId id="290" r:id="rId15"/>
    <p:sldId id="291" r:id="rId16"/>
    <p:sldId id="294" r:id="rId17"/>
    <p:sldId id="289" r:id="rId18"/>
    <p:sldId id="280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19.06.2026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19.06.2026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практики: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</a:t>
            </a:r>
            <a:r>
              <a:rPr lang="ru-RU" dirty="0" err="1"/>
              <a:t>Бурдыко</a:t>
            </a:r>
            <a:r>
              <a:rPr lang="ru-RU" dirty="0"/>
              <a:t> Т.Г.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Цель: Разработать программную часть системы распознавания эмоций человека на основе ИНС с использованием методов компьютерного зрения и глубокого обучения.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практики: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Описание средств и технологий разработки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Проработка видов обеспечения: информационное, программное, алгоритмическое, техническое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Реализация модуля анализа лица и эмоций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Реализация модуля распознавания речи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Разработка пользовательского интерфейса ПО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Интеграция модулей ИИ в единую систему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2000" dirty="0"/>
              <a:t>Подготовить отчёт по преддипломной практике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/>
              <a:t>Рост значимости эмоционального интеллекта в HR: современные подходы к управлению персоналом подчеркивают важность учёта эмоционального состояния для повышения производительности и снижения текучести кадров.</a:t>
            </a:r>
          </a:p>
          <a:p>
            <a:pPr algn="just"/>
            <a:r>
              <a:rPr lang="ru-RU" dirty="0"/>
              <a:t>Ограниченность традиционных методов: субъективные оценки и анкетирование не обеспечивают высокой точности и оперативности, что затрудняет своевременное выявление профессионального выгорания.</a:t>
            </a:r>
          </a:p>
          <a:p>
            <a:pPr algn="just"/>
            <a:r>
              <a:rPr lang="ru-RU" dirty="0"/>
              <a:t>Развитие технологий ИИ: прогресс в области компьютерного зрения и обработки аудиосигналов создаёт основу для автоматизированного анализа эмоций в режиме, близком к реальному времени.</a:t>
            </a:r>
          </a:p>
          <a:p>
            <a:pPr algn="just"/>
            <a:r>
              <a:rPr lang="ru-RU" dirty="0"/>
              <a:t>Потребность в мультимодальном анализе: комплексный подход, объединяющий видео- и аудиоданные, позволяет учитывать взаимодополняющие признаки, повышая точность классификации.</a:t>
            </a:r>
          </a:p>
          <a:p>
            <a:pPr algn="just"/>
            <a:r>
              <a:rPr lang="ru-RU" dirty="0"/>
              <a:t>Автоматизация снижает нагрузку на HR-специалистов, обеспечивает объективность оценки и формирует количественные метрики для принятия управленческих решений.</a:t>
            </a:r>
          </a:p>
          <a:p>
            <a:pPr algn="just"/>
            <a:r>
              <a:rPr lang="ru-RU" dirty="0"/>
              <a:t>Актуальность обусловлена отсутствием доступных систем, адаптированных под задачи HR и соответствие требованиям ФЗ-152 о локализации и защите персональных данных сотрудников.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 txBox="1">
            <a:spLocks/>
          </p:cNvSpPr>
          <p:nvPr/>
        </p:nvSpPr>
        <p:spPr>
          <a:xfrm>
            <a:off x="1105618" y="3290381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Обоснование выбора из чего выбирали</a:t>
            </a:r>
          </a:p>
        </p:txBody>
      </p:sp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Искусственный интеллект (ИИ) — это направление компьютерных наук, нацеленное на создание систем, способных выполнять задачи, требующие человеческого интеллекта.</a:t>
            </a:r>
            <a:endParaRPr lang="en-US" dirty="0"/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957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Основные этапы работы модуля: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захват кадров с веб-камеры через браузерные API;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детекция и локализация лица на изображении;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выравнивание и нормализация области лица;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извлечение признаков с использованием </a:t>
            </a:r>
            <a:r>
              <a:rPr lang="ru-RU" sz="2400" dirty="0" err="1"/>
              <a:t>предобученных</a:t>
            </a:r>
            <a:r>
              <a:rPr lang="ru-RU" sz="2400" dirty="0"/>
              <a:t> CNN-моделей;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классификация эмоционального состояния;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передача результатов аналитики в систему через </a:t>
            </a:r>
            <a:r>
              <a:rPr lang="ru-RU" sz="2400" dirty="0" err="1"/>
              <a:t>WebSocket</a:t>
            </a:r>
            <a:r>
              <a:rPr lang="ru-RU" sz="2400" dirty="0"/>
              <a:t>. </a:t>
            </a:r>
          </a:p>
          <a:p>
            <a:pPr marL="0" indent="0">
              <a:buNone/>
            </a:pPr>
            <a:r>
              <a:rPr lang="ru-RU" sz="2400" dirty="0"/>
              <a:t>Дополнительно система поддерживает: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обработку нескольких лиц одновременно;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отслеживание изменений эмоций во времени;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агрегацию результатов в аналитические события и отчёты.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algn="just"/>
            <a:r>
              <a:rPr lang="ru-RU" sz="2400" dirty="0"/>
              <a:t>MTCNN (Multi-</a:t>
            </a:r>
            <a:r>
              <a:rPr lang="ru-RU" sz="2400" dirty="0" err="1"/>
              <a:t>task</a:t>
            </a:r>
            <a:r>
              <a:rPr lang="ru-RU" sz="2400" dirty="0"/>
              <a:t> </a:t>
            </a:r>
            <a:r>
              <a:rPr lang="ru-RU" sz="2400" dirty="0" err="1"/>
              <a:t>Cascaded</a:t>
            </a:r>
            <a:r>
              <a:rPr lang="ru-RU" sz="2400" dirty="0"/>
              <a:t> CNN) – каскадная архитектура из трёх сетей, последовательно уточняющих положение лица и определяющих 5 ключевых точек. Обеспечивает высокую скорость детекции при сохранении точности даже при частичных перекрытиях.</a:t>
            </a:r>
          </a:p>
          <a:p>
            <a:pPr algn="just"/>
            <a:r>
              <a:rPr lang="ru-RU" sz="2400" dirty="0" err="1"/>
              <a:t>DeepFace</a:t>
            </a:r>
            <a:r>
              <a:rPr lang="ru-RU" sz="2400" dirty="0"/>
              <a:t> – мета-библиотека, предоставляющая доступ к </a:t>
            </a:r>
            <a:r>
              <a:rPr lang="ru-RU" sz="2400" dirty="0" err="1"/>
              <a:t>предобученным</a:t>
            </a:r>
            <a:r>
              <a:rPr lang="ru-RU" sz="2400" dirty="0"/>
              <a:t> моделям (VGG-Face, Facenet512, </a:t>
            </a:r>
            <a:r>
              <a:rPr lang="ru-RU" sz="2400" dirty="0" err="1"/>
              <a:t>EfficientNet</a:t>
            </a:r>
            <a:r>
              <a:rPr lang="ru-RU" sz="2400" dirty="0"/>
              <a:t>). Позволяет гибко выбирать архитектуру в зависимости от требований к точности и вычислительной нагрузке.</a:t>
            </a:r>
          </a:p>
          <a:p>
            <a:pPr algn="just"/>
            <a:r>
              <a:rPr lang="ru-RU" sz="2400" dirty="0" err="1"/>
              <a:t>OpenCV</a:t>
            </a:r>
            <a:r>
              <a:rPr lang="ru-RU" sz="2400" dirty="0"/>
              <a:t> – библиотека компьютерного зрения, используемая для предобработки кадров, изменения размера, конвертации форматов и наложения результатов анализа на видеопоток в реальном времени.</a:t>
            </a:r>
          </a:p>
          <a:p>
            <a:pPr marL="0" indent="0" algn="just">
              <a:buNone/>
            </a:pPr>
            <a:r>
              <a:rPr lang="ru-RU" sz="2400" dirty="0"/>
              <a:t>Комбинация данных инструментов реализует последовательный </a:t>
            </a:r>
            <a:r>
              <a:rPr lang="ru-RU" sz="2400" dirty="0" err="1"/>
              <a:t>pipeline</a:t>
            </a:r>
            <a:r>
              <a:rPr lang="ru-RU" sz="2400" dirty="0"/>
              <a:t> </a:t>
            </a:r>
            <a:r>
              <a:rPr lang="ru-RU" sz="2400" dirty="0" err="1"/>
              <a:t>обработки:детекция</a:t>
            </a:r>
            <a:r>
              <a:rPr lang="ru-RU" sz="2400" dirty="0"/>
              <a:t> лица → выравнивание → извлечение признаков → классификация эмоций.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9321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Библиотеки и модели компьютерного зрения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BC27D8-DE64-58D4-3124-30AD9D61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3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Основные функции:</a:t>
            </a:r>
          </a:p>
          <a:p>
            <a:pPr algn="just"/>
            <a:r>
              <a:rPr lang="ru-RU" sz="2400" dirty="0"/>
              <a:t>Захват видеопотока через браузерные API без установки дополнительных плагинов</a:t>
            </a:r>
          </a:p>
          <a:p>
            <a:pPr algn="just"/>
            <a:r>
              <a:rPr lang="ru-RU" sz="2400" dirty="0"/>
              <a:t>Детекция лиц и классификация базовых эмоций в реальном времени</a:t>
            </a:r>
          </a:p>
          <a:p>
            <a:pPr algn="just"/>
            <a:r>
              <a:rPr lang="ru-RU" sz="2400" dirty="0"/>
              <a:t>Отслеживание изменения эмоционального состояния в течение сессии с фиксацией временных меток</a:t>
            </a:r>
          </a:p>
          <a:p>
            <a:pPr algn="just"/>
            <a:r>
              <a:rPr lang="ru-RU" sz="2400" dirty="0"/>
              <a:t>Адаптивная частота отправки кадров для балансировки нагрузки на сеть и сервер</a:t>
            </a:r>
          </a:p>
          <a:p>
            <a:pPr marL="0" indent="0" algn="just">
              <a:buNone/>
            </a:pPr>
            <a:r>
              <a:rPr lang="ru-RU" sz="2400" dirty="0"/>
              <a:t>Дополнительные функции:</a:t>
            </a:r>
          </a:p>
          <a:p>
            <a:pPr algn="just"/>
            <a:r>
              <a:rPr lang="ru-RU" sz="2400" dirty="0"/>
              <a:t>Вычисление метрик вовлечённости на основе частоты и интенсивности эмоциональных проявлений</a:t>
            </a:r>
          </a:p>
          <a:p>
            <a:pPr algn="just"/>
            <a:r>
              <a:rPr lang="ru-RU" sz="2400" dirty="0"/>
              <a:t>Фильтрация ложных срабатываний при отсутствии лиц в кадре или при низком качестве освещения</a:t>
            </a:r>
          </a:p>
          <a:p>
            <a:pPr algn="just"/>
            <a:r>
              <a:rPr lang="ru-RU" sz="2400" dirty="0"/>
              <a:t>Экспорт сырых данных анализа в формате JSON для последующей агрегации в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анализа видео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/>
              <a:t>Основные функции:</a:t>
            </a:r>
          </a:p>
          <a:p>
            <a:pPr marL="0" indent="0" algn="just">
              <a:buNone/>
            </a:pPr>
            <a:r>
              <a:rPr lang="ru-RU" sz="2400" dirty="0"/>
              <a:t>• Захват аудиопотока с микрофона в режиме реального времени</a:t>
            </a:r>
          </a:p>
          <a:p>
            <a:pPr marL="0" indent="0" algn="just">
              <a:buNone/>
            </a:pPr>
            <a:r>
              <a:rPr lang="ru-RU" sz="2400" dirty="0"/>
              <a:t>• Преобразование речевого сигнала в текстовое представление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 встречи с сохранением временных меток</a:t>
            </a:r>
          </a:p>
          <a:p>
            <a:pPr marL="0" indent="0" algn="just">
              <a:buNone/>
            </a:pPr>
            <a:r>
              <a:rPr lang="ru-RU" sz="2400" dirty="0"/>
              <a:t>• Передача промежуточных и финальных результатов </a:t>
            </a:r>
            <a:r>
              <a:rPr lang="ru-RU" sz="2400" dirty="0" err="1"/>
              <a:t>транскрибации</a:t>
            </a:r>
            <a:r>
              <a:rPr lang="ru-RU" sz="2400" dirty="0"/>
              <a:t> в интерфейс</a:t>
            </a:r>
          </a:p>
          <a:p>
            <a:pPr marL="0" indent="0" algn="just">
              <a:buNone/>
            </a:pPr>
            <a:r>
              <a:rPr lang="ru-RU" sz="2400" dirty="0"/>
              <a:t>Дополнительные функции:</a:t>
            </a:r>
          </a:p>
          <a:p>
            <a:pPr marL="0" indent="0" algn="just">
              <a:buNone/>
            </a:pPr>
            <a:r>
              <a:rPr lang="ru-RU" sz="2400" dirty="0"/>
              <a:t>• Оценка уверенности распознавания и определение языка речи</a:t>
            </a:r>
          </a:p>
          <a:p>
            <a:pPr marL="0" indent="0" algn="just">
              <a:buNone/>
            </a:pPr>
            <a:r>
              <a:rPr lang="ru-RU" sz="2400" dirty="0"/>
              <a:t>• Фильтрация фоновых шумов и адаптация к качеству аудиосигнала</a:t>
            </a:r>
          </a:p>
          <a:p>
            <a:pPr marL="0" indent="0" algn="just">
              <a:buNone/>
            </a:pPr>
            <a:r>
              <a:rPr lang="ru-RU" sz="2400" dirty="0"/>
              <a:t>• Экспорт текстовых данных для последующей агрегации в аналитических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523" y="49270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распознавания речи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FAD4C5-9485-CAD1-9E76-C0411C618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39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368"/>
            <a:ext cx="9613392" cy="4526280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ru-RU" dirty="0" err="1"/>
              <a:t>React</a:t>
            </a:r>
            <a:r>
              <a:rPr lang="ru-RU" dirty="0"/>
              <a:t> 18 + </a:t>
            </a:r>
            <a:r>
              <a:rPr lang="ru-RU" dirty="0" err="1"/>
              <a:t>TypeScript</a:t>
            </a:r>
            <a:r>
              <a:rPr lang="ru-RU" dirty="0"/>
              <a:t> + </a:t>
            </a:r>
            <a:r>
              <a:rPr lang="ru-RU" dirty="0" err="1"/>
              <a:t>Vite</a:t>
            </a:r>
            <a:r>
              <a:rPr lang="ru-RU" dirty="0"/>
              <a:t> – современный стек для создания высокопроизводительных одностраничных приложений. Типизированный код повышает надёжность разработки и упрощает поддержку системы.</a:t>
            </a:r>
          </a:p>
          <a:p>
            <a:pPr algn="just"/>
            <a:r>
              <a:rPr lang="ru-RU" dirty="0"/>
              <a:t>Приложение состоит из клиентской части (отображение медиа, аналитики, управление сессиями) и серверной логики. Чёткое разделение ответственности ускоряет разработку и тестирование.</a:t>
            </a:r>
          </a:p>
          <a:p>
            <a:pPr algn="just"/>
            <a:r>
              <a:rPr lang="ru-RU" dirty="0"/>
              <a:t>Инструменты экосистемы обеспечивают минимизацию перерисовок, кэширование серверного состояния и автоматическое обновление данных в реальном времени.</a:t>
            </a:r>
          </a:p>
          <a:p>
            <a:pPr algn="just"/>
            <a:r>
              <a:rPr lang="ru-RU" dirty="0"/>
              <a:t>Адаптивная вёрстка и поддержка тем оформления гарантируют корректное отображение на десктопах и планшетах, что соответствует требованиям современных корпоративных платформ.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9BEF2B6-39B9-162E-8066-79C12B92C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335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эмоций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pPr algn="just"/>
            <a:r>
              <a:rPr lang="ru-RU" dirty="0"/>
              <a:t>Для обучения и валидации моделей классификации эмоций использовались открытые датасеты FER-2013 (35 000 изображений), </a:t>
            </a:r>
            <a:r>
              <a:rPr lang="ru-RU" dirty="0" err="1"/>
              <a:t>AffectNet</a:t>
            </a:r>
            <a:r>
              <a:rPr lang="ru-RU" dirty="0"/>
              <a:t> (1 000 000+ размеченных кадров) и RAF-DB.</a:t>
            </a:r>
          </a:p>
          <a:p>
            <a:pPr algn="just"/>
            <a:r>
              <a:rPr lang="ru-RU" dirty="0"/>
              <a:t>Изображения прошли предварительную подготовку: нормализация размера, конвертация в градации серого, выравнивание геометрии лица на основе ключевых точек.</a:t>
            </a:r>
          </a:p>
          <a:p>
            <a:pPr algn="just"/>
            <a:r>
              <a:rPr lang="ru-RU" dirty="0"/>
              <a:t>Для повышения устойчивости модели к изменениям освещения и ракурсов применялось </a:t>
            </a:r>
            <a:r>
              <a:rPr lang="ru-RU" dirty="0" err="1"/>
              <a:t>аугментирование</a:t>
            </a:r>
            <a:r>
              <a:rPr lang="ru-RU" dirty="0"/>
              <a:t>: случайные повороты, сдвиги, изменение контрастности и добавление шума.</a:t>
            </a:r>
          </a:p>
          <a:p>
            <a:pPr algn="just"/>
            <a:r>
              <a:rPr lang="ru-RU" dirty="0"/>
              <a:t>Разметка осуществлялась по 7 категориям (6 базовых эмоций + нейтрально) с перекрёстной проверкой </a:t>
            </a:r>
            <a:r>
              <a:rPr lang="ru-RU" dirty="0" err="1"/>
              <a:t>аннотаторов</a:t>
            </a:r>
            <a:r>
              <a:rPr lang="ru-RU" dirty="0"/>
              <a:t> для минимизации ошибок в обучающей выборке.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FC8532-F45A-69C0-A2DF-8DF9C82C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091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r>
              <a:rPr lang="ru-RU" dirty="0"/>
              <a:t>Для обучения и тонкой настройки модели распознавания речи использовались многоязычные датасеты </a:t>
            </a:r>
            <a:r>
              <a:rPr lang="ru-RU" dirty="0" err="1"/>
              <a:t>LibriSpeech</a:t>
            </a:r>
            <a:r>
              <a:rPr lang="ru-RU" dirty="0"/>
              <a:t> (1000 часов размеченной речи) и Mozilla Common Voice.</a:t>
            </a:r>
          </a:p>
          <a:p>
            <a:r>
              <a:rPr lang="ru-RU" dirty="0"/>
              <a:t>Аудиозаписи прошли предобработку: приведение к единой частоте дискретизации 16 кГц, нормализация громкости, фильтрация низкочастотных шумов и удаление сегментов с молчанием.</a:t>
            </a:r>
          </a:p>
          <a:p>
            <a:r>
              <a:rPr lang="ru-RU" dirty="0"/>
              <a:t>Для адаптации под русскоязычные HR-сценарии применялась дополнительная разметка профессиональной терминологии и коррекция фонетических особенностей речи.</a:t>
            </a:r>
          </a:p>
          <a:p>
            <a:r>
              <a:rPr lang="ru-RU" dirty="0"/>
              <a:t>Датасеты разделены на обучающую, </a:t>
            </a:r>
            <a:r>
              <a:rPr lang="ru-RU" dirty="0" err="1"/>
              <a:t>валидационную</a:t>
            </a:r>
            <a:r>
              <a:rPr lang="ru-RU" dirty="0"/>
              <a:t> и тестовую выборки для объективной оценки метрики WER (Word </a:t>
            </a:r>
            <a:r>
              <a:rPr lang="ru-RU" dirty="0" err="1"/>
              <a:t>Error</a:t>
            </a:r>
            <a:r>
              <a:rPr lang="ru-RU" dirty="0"/>
              <a:t> Rate) и предотвращения переобучения модели.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6FA01B-9A52-F89F-A16D-335822DC5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2345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pic>
        <p:nvPicPr>
          <p:cNvPr id="14" name="Рисунок 13" descr="Изображение выглядит как текст, снимок экрана, Шрифт, круг&#10;&#10;Автоматически созданное описание">
            <a:extLst>
              <a:ext uri="{FF2B5EF4-FFF2-40B4-BE49-F238E27FC236}">
                <a16:creationId xmlns:a16="http://schemas.microsoft.com/office/drawing/2014/main" id="{64B798B7-B817-76FD-B22A-243899D54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898" y="93216"/>
            <a:ext cx="7577678" cy="645279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 txBox="1">
            <a:spLocks/>
          </p:cNvSpPr>
          <p:nvPr/>
        </p:nvSpPr>
        <p:spPr>
          <a:xfrm>
            <a:off x="148297" y="3644672"/>
            <a:ext cx="4806346" cy="1325563"/>
          </a:xfrm>
          <a:prstGeom prst="rect">
            <a:avLst/>
          </a:prstGeom>
        </p:spPr>
        <p:txBody>
          <a:bodyPr>
            <a:normAutofit fontScale="6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Стрелки к блокам нужно подправить. </a:t>
            </a:r>
          </a:p>
          <a:p>
            <a:r>
              <a:rPr lang="ru-RU" dirty="0"/>
              <a:t>Один вход один выход для прямоугольников</a:t>
            </a:r>
          </a:p>
        </p:txBody>
      </p:sp>
    </p:spTree>
    <p:extLst>
      <p:ext uri="{BB962C8B-B14F-4D97-AF65-F5344CB8AC3E}">
        <p14:creationId xmlns:p14="http://schemas.microsoft.com/office/powerpoint/2010/main" val="634590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A240AF3-3AA3-3709-E167-D4F5A9CA4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70743"/>
            <a:ext cx="10222992" cy="5224572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В результате прохождения практики были изучены и описаны средства разработки: языки </a:t>
            </a:r>
            <a:r>
              <a:rPr lang="ru-RU" dirty="0" err="1"/>
              <a:t>TypeScript</a:t>
            </a:r>
            <a:r>
              <a:rPr lang="ru-RU" dirty="0"/>
              <a:t>, Go, Python, фреймворки </a:t>
            </a:r>
            <a:r>
              <a:rPr lang="ru-RU" dirty="0" err="1"/>
              <a:t>React</a:t>
            </a:r>
            <a:r>
              <a:rPr lang="ru-RU" dirty="0"/>
              <a:t>, </a:t>
            </a:r>
            <a:r>
              <a:rPr lang="ru-RU" dirty="0" err="1"/>
              <a:t>Gin</a:t>
            </a:r>
            <a:r>
              <a:rPr lang="ru-RU" dirty="0"/>
              <a:t>, </a:t>
            </a:r>
            <a:r>
              <a:rPr lang="ru-RU" dirty="0" err="1"/>
              <a:t>FastAPI</a:t>
            </a:r>
            <a:r>
              <a:rPr lang="ru-RU" dirty="0"/>
              <a:t>, </a:t>
            </a:r>
            <a:r>
              <a:rPr lang="ru-RU" dirty="0" err="1"/>
              <a:t>сверточные</a:t>
            </a:r>
            <a:r>
              <a:rPr lang="ru-RU" dirty="0"/>
              <a:t> и рекуррентные нейронные сети, библиотеки </a:t>
            </a:r>
            <a:r>
              <a:rPr lang="ru-RU" dirty="0" err="1"/>
              <a:t>OpenCV</a:t>
            </a:r>
            <a:r>
              <a:rPr lang="ru-RU" dirty="0"/>
              <a:t>, </a:t>
            </a:r>
            <a:r>
              <a:rPr lang="ru-RU" dirty="0" err="1"/>
              <a:t>DeepFace</a:t>
            </a:r>
            <a:r>
              <a:rPr lang="ru-RU" dirty="0"/>
              <a:t>, </a:t>
            </a:r>
            <a:r>
              <a:rPr lang="ru-RU" dirty="0" err="1"/>
              <a:t>MediaPipe</a:t>
            </a:r>
            <a:r>
              <a:rPr lang="ru-RU" dirty="0"/>
              <a:t>, </a:t>
            </a:r>
            <a:r>
              <a:rPr lang="ru-RU" dirty="0" err="1"/>
              <a:t>faster-whisper</a:t>
            </a:r>
            <a:r>
              <a:rPr lang="ru-RU" dirty="0"/>
              <a:t>, СУБД </a:t>
            </a:r>
            <a:r>
              <a:rPr lang="ru-RU" dirty="0" err="1"/>
              <a:t>PostgreSQL</a:t>
            </a:r>
            <a:r>
              <a:rPr lang="ru-RU" dirty="0"/>
              <a:t>, среда Draw.io.</a:t>
            </a:r>
          </a:p>
          <a:p>
            <a:pPr algn="just"/>
            <a:r>
              <a:rPr lang="ru-RU" dirty="0"/>
              <a:t>Проработаны виды обеспечения: информационное (видео/аудиопотоки, датасеты), программное (клиент-серверная архитектура, </a:t>
            </a:r>
            <a:r>
              <a:rPr lang="ru-RU" dirty="0" err="1"/>
              <a:t>микросервисы</a:t>
            </a:r>
            <a:r>
              <a:rPr lang="ru-RU" dirty="0"/>
              <a:t>), алгоритмическое (детекция, </a:t>
            </a:r>
            <a:r>
              <a:rPr lang="ru-RU" dirty="0" err="1"/>
              <a:t>транскрибация</a:t>
            </a:r>
            <a:r>
              <a:rPr lang="ru-RU" dirty="0"/>
              <a:t>, 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), математическое (метрики точности, WER).</a:t>
            </a:r>
          </a:p>
          <a:p>
            <a:pPr algn="just"/>
            <a:r>
              <a:rPr lang="ru-RU" dirty="0"/>
              <a:t>Реализованы модули анализа лица и эмоций на основе MTCNN и </a:t>
            </a:r>
            <a:r>
              <a:rPr lang="ru-RU" dirty="0" err="1"/>
              <a:t>предобученных</a:t>
            </a:r>
            <a:r>
              <a:rPr lang="ru-RU" dirty="0"/>
              <a:t> CNN, а также модуль распознавания речи </a:t>
            </a:r>
            <a:r>
              <a:rPr lang="ru-RU" dirty="0" err="1"/>
              <a:t>faster-whisper</a:t>
            </a:r>
            <a:r>
              <a:rPr lang="ru-RU" dirty="0"/>
              <a:t> с поддержкой </a:t>
            </a:r>
            <a:r>
              <a:rPr lang="ru-RU" dirty="0" err="1"/>
              <a:t>streaming</a:t>
            </a:r>
            <a:r>
              <a:rPr lang="ru-RU" dirty="0"/>
              <a:t>-обработки.</a:t>
            </a:r>
          </a:p>
          <a:p>
            <a:pPr algn="just"/>
            <a:r>
              <a:rPr lang="ru-RU" dirty="0"/>
              <a:t>Модули интегрированы в единую веб-платформу, протестированы в смоделированных HR-сценариях и готовы к внедрению с соблюдением требований ФЗ-152.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1376</Words>
  <Application>Microsoft Office PowerPoint</Application>
  <PresentationFormat>Широкоэкранный</PresentationFormat>
  <Paragraphs>118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Средства и технологии разработки</vt:lpstr>
      <vt:lpstr>Средства и технологии разработки</vt:lpstr>
      <vt:lpstr>Модуль анализа лица и эмоций</vt:lpstr>
      <vt:lpstr>Библиотеки и модели компьютерного зрения</vt:lpstr>
      <vt:lpstr>Функции модуля анализа видео</vt:lpstr>
      <vt:lpstr>Функции модуля распознавания речи</vt:lpstr>
      <vt:lpstr>Модель MediaPipe Face Landmarker</vt:lpstr>
      <vt:lpstr>Средство разработки пользовательского интерфейса</vt:lpstr>
      <vt:lpstr>Информационное обеспечение</vt:lpstr>
      <vt:lpstr>Логическая модель базы данных</vt:lpstr>
      <vt:lpstr>Датасеты для обучения моделей эмоций</vt:lpstr>
      <vt:lpstr>Датасеты для обучения моделей распознавания речи</vt:lpstr>
      <vt:lpstr>Алгоритмическое обеспечение. Алгоритм работы программы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162</cp:revision>
  <dcterms:created xsi:type="dcterms:W3CDTF">2024-05-28T15:56:43Z</dcterms:created>
  <dcterms:modified xsi:type="dcterms:W3CDTF">2026-06-19T02:54:37Z</dcterms:modified>
</cp:coreProperties>
</file>