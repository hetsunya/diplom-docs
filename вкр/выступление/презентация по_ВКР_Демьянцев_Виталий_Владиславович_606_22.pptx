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96" r:id="rId5"/>
    <p:sldId id="297" r:id="rId6"/>
    <p:sldId id="298" r:id="rId7"/>
    <p:sldId id="299" r:id="rId8"/>
    <p:sldId id="300" r:id="rId9"/>
    <p:sldId id="301" r:id="rId10"/>
    <p:sldId id="295" r:id="rId11"/>
    <p:sldId id="259" r:id="rId12"/>
    <p:sldId id="294" r:id="rId13"/>
    <p:sldId id="260" r:id="rId14"/>
    <p:sldId id="288" r:id="rId15"/>
    <p:sldId id="302" r:id="rId16"/>
    <p:sldId id="284" r:id="rId17"/>
    <p:sldId id="289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/>
          </a:bodyPr>
          <a:lstStyle/>
          <a:p>
            <a:r>
              <a:rPr lang="ru-RU" sz="5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" y="5101654"/>
            <a:ext cx="11106912" cy="1655762"/>
          </a:xfrm>
        </p:spPr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ВКР: канд. техн. наук Горбунов Дмитрий Владимирович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07838-5538-C0C2-D39D-35499CF23BB8}"/>
              </a:ext>
            </a:extLst>
          </p:cNvPr>
          <p:cNvSpPr txBox="1"/>
          <p:nvPr/>
        </p:nvSpPr>
        <p:spPr>
          <a:xfrm>
            <a:off x="2249424" y="2967334"/>
            <a:ext cx="7991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«Система распознавания эмоций человека на основе искусственной нейронной сети»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08" y="101498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Цель работы: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Исследовать предметную область, провести обзор аналогов, выбрать модель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искусственной нейронной сети и спроектировать систему для распознавания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эмоций человека на основе ИНС.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Задачи работы</a:t>
            </a:r>
            <a:r>
              <a:rPr lang="en-US" sz="2000" dirty="0"/>
              <a:t>:</a:t>
            </a:r>
            <a:endParaRPr lang="ru-RU" sz="2000" dirty="0"/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1. Обследовать и изучить предметную область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2. Провести изучение аналогов и составить обзор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3. Составить перечень функциональных задач системы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4. Выбрать модель искусственной нейронной сети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5. Спроектировать функциональную модель системы и её декомпозицию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6. Выбрать средства проектирования и разработки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/>
              <a:t>7. Подготовить пояснительную записку по ВКР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Рост значимости эмоционального интеллекта в HR</a:t>
            </a:r>
          </a:p>
          <a:p>
            <a:pPr algn="just"/>
            <a:r>
              <a:rPr lang="ru-RU" dirty="0"/>
              <a:t>Ограниченность традиционных методов </a:t>
            </a:r>
            <a:endParaRPr lang="en-US" dirty="0"/>
          </a:p>
          <a:p>
            <a:pPr algn="just"/>
            <a:r>
              <a:rPr lang="ru-RU" dirty="0"/>
              <a:t>Развитие технологий ИИ для анализа эмоций в реальном времени</a:t>
            </a:r>
          </a:p>
          <a:p>
            <a:pPr algn="just"/>
            <a:r>
              <a:rPr lang="ru-RU" dirty="0"/>
              <a:t>Потребность в мультимодальном анализе </a:t>
            </a:r>
            <a:endParaRPr lang="en-US" dirty="0"/>
          </a:p>
          <a:p>
            <a:pPr algn="just"/>
            <a:r>
              <a:rPr lang="ru-RU" dirty="0"/>
              <a:t>Соответствие требованиям ФЗ-152 о защите персональных данных</a:t>
            </a:r>
          </a:p>
          <a:p>
            <a:pPr algn="just"/>
            <a:r>
              <a:rPr lang="ru-RU" dirty="0"/>
              <a:t>Экономическая эффективность автоматизации HR-процессов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/>
              <a:t>Существующие решения: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F19A448-2E80-EDC0-066C-E1187FA6C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586088"/>
              </p:ext>
            </p:extLst>
          </p:nvPr>
        </p:nvGraphicFramePr>
        <p:xfrm>
          <a:off x="463857" y="841248"/>
          <a:ext cx="11264285" cy="5486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857">
                  <a:extLst>
                    <a:ext uri="{9D8B030D-6E8A-4147-A177-3AD203B41FA5}">
                      <a16:colId xmlns:a16="http://schemas.microsoft.com/office/drawing/2014/main" val="2457689854"/>
                    </a:ext>
                  </a:extLst>
                </a:gridCol>
                <a:gridCol w="2252857">
                  <a:extLst>
                    <a:ext uri="{9D8B030D-6E8A-4147-A177-3AD203B41FA5}">
                      <a16:colId xmlns:a16="http://schemas.microsoft.com/office/drawing/2014/main" val="3851339300"/>
                    </a:ext>
                  </a:extLst>
                </a:gridCol>
                <a:gridCol w="2252857">
                  <a:extLst>
                    <a:ext uri="{9D8B030D-6E8A-4147-A177-3AD203B41FA5}">
                      <a16:colId xmlns:a16="http://schemas.microsoft.com/office/drawing/2014/main" val="2582452567"/>
                    </a:ext>
                  </a:extLst>
                </a:gridCol>
                <a:gridCol w="2252857">
                  <a:extLst>
                    <a:ext uri="{9D8B030D-6E8A-4147-A177-3AD203B41FA5}">
                      <a16:colId xmlns:a16="http://schemas.microsoft.com/office/drawing/2014/main" val="187986983"/>
                    </a:ext>
                  </a:extLst>
                </a:gridCol>
                <a:gridCol w="2252857">
                  <a:extLst>
                    <a:ext uri="{9D8B030D-6E8A-4147-A177-3AD203B41FA5}">
                      <a16:colId xmlns:a16="http://schemas.microsoft.com/office/drawing/2014/main" val="388870918"/>
                    </a:ext>
                  </a:extLst>
                </a:gridCol>
              </a:tblGrid>
              <a:tr h="1063518">
                <a:tc>
                  <a:txBody>
                    <a:bodyPr/>
                    <a:lstStyle/>
                    <a:p>
                      <a:pPr algn="l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Критерий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Affectiva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Beyond Verbal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Emotient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Разрабатываемая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556778"/>
                  </a:ext>
                </a:extLst>
              </a:tr>
              <a:tr h="1063518">
                <a:tc>
                  <a:txBody>
                    <a:bodyPr/>
                    <a:lstStyle/>
                    <a:p>
                      <a:pPr algn="l"/>
                      <a:r>
                        <a:rPr lang="ru-RU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Мультимодальность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11159"/>
                  </a:ext>
                </a:extLst>
              </a:tr>
              <a:tr h="1063518"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Адаптация под HR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Низкая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033714"/>
                  </a:ext>
                </a:extLst>
              </a:tr>
              <a:tr h="1063518"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Соответствие ФЗ-152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816237"/>
                  </a:ext>
                </a:extLst>
              </a:tr>
              <a:tr h="616165"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Лицензии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918633"/>
                  </a:ext>
                </a:extLst>
              </a:tr>
              <a:tr h="616165"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919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75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BPMN-</a:t>
            </a:r>
            <a:r>
              <a:rPr lang="ru-RU" sz="4400" dirty="0"/>
              <a:t>диаграмма бизнес-процесса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1ED75E-ADF1-FDC7-8078-2474E42BF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965" y="915052"/>
            <a:ext cx="7190069" cy="5642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65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IDEF0-</a:t>
            </a:r>
            <a:r>
              <a:rPr lang="ru-RU" sz="4400" dirty="0"/>
              <a:t>диаграмма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4E2FE8A-B52E-1775-6EAF-34DCDCC96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38" y="702279"/>
            <a:ext cx="7496822" cy="59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0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Декомпозиция </a:t>
            </a:r>
            <a:r>
              <a:rPr lang="en-US" sz="4400" dirty="0"/>
              <a:t>IDEF0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 dirty="0"/>
          </a:p>
        </p:txBody>
      </p:sp>
      <p:pic>
        <p:nvPicPr>
          <p:cNvPr id="6" name="Рисунок 5" descr="Изображение выглядит как снимок экрана, текст, диаграмм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3F509977-BFDF-72D9-952F-A84708F22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" y="713231"/>
            <a:ext cx="11926444" cy="607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8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DFD-</a:t>
            </a:r>
            <a:r>
              <a:rPr lang="ru-RU" sz="4400" dirty="0"/>
              <a:t>диаграмма потоков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A2D90-4A58-6C6F-0DE0-772AB18A3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403" y="1393794"/>
            <a:ext cx="7013193" cy="41840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0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en-US" sz="4400" dirty="0"/>
              <a:t>ER-</a:t>
            </a:r>
            <a:r>
              <a:rPr lang="ru-RU" sz="4400" dirty="0"/>
              <a:t>модель базы данных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AA840C-06DE-BDF4-2382-9731C8C571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666" y="1119474"/>
            <a:ext cx="10184667" cy="5107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8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6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7706B93A-2B11-6CF7-0EF1-40E0C302D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16" y="368963"/>
            <a:ext cx="7855751" cy="612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1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Технологии:</a:t>
            </a:r>
          </a:p>
          <a:p>
            <a:r>
              <a:rPr lang="ru-RU" sz="2400" dirty="0"/>
              <a:t>MTCNN — детекция лиц и ключевых точек</a:t>
            </a:r>
          </a:p>
          <a:p>
            <a:r>
              <a:rPr lang="ru-RU" sz="2400" dirty="0" err="1"/>
              <a:t>DeepFace</a:t>
            </a:r>
            <a:r>
              <a:rPr lang="ru-RU" sz="2400" dirty="0"/>
              <a:t> (VGG-Face, Facenet512) — классификация эмоций</a:t>
            </a:r>
          </a:p>
          <a:p>
            <a:r>
              <a:rPr lang="ru-RU" sz="2400" dirty="0" err="1"/>
              <a:t>MediaPipe</a:t>
            </a:r>
            <a:r>
              <a:rPr lang="ru-RU" sz="2400" dirty="0"/>
              <a:t> Face </a:t>
            </a:r>
            <a:r>
              <a:rPr lang="ru-RU" sz="2400" dirty="0" err="1"/>
              <a:t>Landmarker</a:t>
            </a:r>
            <a:r>
              <a:rPr lang="ru-RU" sz="2400" dirty="0"/>
              <a:t> — коэффициенты мимической активности</a:t>
            </a:r>
          </a:p>
          <a:p>
            <a:pPr marL="0" indent="0">
              <a:buNone/>
            </a:pPr>
            <a:r>
              <a:rPr lang="ru-RU" sz="2400" dirty="0"/>
              <a:t>Классификация по модели Пола Экмана:</a:t>
            </a:r>
          </a:p>
          <a:p>
            <a:r>
              <a:rPr lang="ru-RU" sz="2400" dirty="0"/>
              <a:t>Радость</a:t>
            </a:r>
          </a:p>
          <a:p>
            <a:r>
              <a:rPr lang="ru-RU" sz="2400" dirty="0"/>
              <a:t>грусть</a:t>
            </a:r>
          </a:p>
          <a:p>
            <a:r>
              <a:rPr lang="ru-RU" sz="2400" dirty="0"/>
              <a:t>гнев</a:t>
            </a:r>
          </a:p>
          <a:p>
            <a:r>
              <a:rPr lang="ru-RU" sz="2400" dirty="0"/>
              <a:t>Страх</a:t>
            </a:r>
          </a:p>
          <a:p>
            <a:r>
              <a:rPr lang="ru-RU" sz="2400" dirty="0"/>
              <a:t>Удивление</a:t>
            </a:r>
          </a:p>
          <a:p>
            <a:r>
              <a:rPr lang="ru-RU" sz="2400" dirty="0"/>
              <a:t>отвращение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Модель </a:t>
            </a:r>
            <a:r>
              <a:rPr lang="ru-RU" sz="2400" dirty="0" err="1"/>
              <a:t>Whisper</a:t>
            </a:r>
            <a:r>
              <a:rPr lang="ru-RU" sz="2400" dirty="0"/>
              <a:t>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Encoder-decoder</a:t>
            </a:r>
            <a:r>
              <a:rPr lang="ru-RU" sz="2400" dirty="0"/>
              <a:t> трансформер</a:t>
            </a:r>
          </a:p>
          <a:p>
            <a:pPr marL="0" indent="0" algn="just">
              <a:buNone/>
            </a:pPr>
            <a:r>
              <a:rPr lang="ru-RU" sz="2400" dirty="0"/>
              <a:t>• Обеспечивает высокое качество </a:t>
            </a:r>
            <a:r>
              <a:rPr lang="ru-RU" sz="2400" dirty="0" err="1"/>
              <a:t>транскрибации</a:t>
            </a:r>
            <a:r>
              <a:rPr lang="ru-RU" sz="2400" dirty="0"/>
              <a:t> речи</a:t>
            </a:r>
          </a:p>
          <a:p>
            <a:pPr marL="0" indent="0" algn="just">
              <a:buNone/>
            </a:pPr>
            <a:r>
              <a:rPr lang="ru-RU" sz="2400" dirty="0"/>
              <a:t>• Поддержка множества языков</a:t>
            </a:r>
          </a:p>
          <a:p>
            <a:pPr marL="0" indent="0" algn="just">
              <a:buNone/>
            </a:pPr>
            <a:r>
              <a:rPr lang="ru-RU" sz="2400" dirty="0"/>
              <a:t>Оптимизация:</a:t>
            </a:r>
          </a:p>
          <a:p>
            <a:pPr marL="0" indent="0" algn="just">
              <a:buNone/>
            </a:pPr>
            <a:r>
              <a:rPr lang="ru-RU" sz="2400" dirty="0"/>
              <a:t>• Квантование весов (float32 → int8/float16)</a:t>
            </a:r>
          </a:p>
          <a:p>
            <a:pPr marL="0" indent="0" algn="just">
              <a:buNone/>
            </a:pPr>
            <a:r>
              <a:rPr lang="ru-RU" sz="2400" dirty="0"/>
              <a:t>• Пакетная обработка (</a:t>
            </a:r>
            <a:r>
              <a:rPr lang="ru-RU" sz="2400" dirty="0" err="1"/>
              <a:t>batching</a:t>
            </a:r>
            <a:r>
              <a:rPr lang="ru-RU" sz="2400" dirty="0"/>
              <a:t>)</a:t>
            </a:r>
          </a:p>
          <a:p>
            <a:pPr marL="0" indent="0" algn="just">
              <a:buNone/>
            </a:pPr>
            <a:r>
              <a:rPr lang="ru-RU" sz="2400" dirty="0"/>
              <a:t>• Использование GPU</a:t>
            </a:r>
          </a:p>
          <a:p>
            <a:pPr marL="0" indent="0" algn="just">
              <a:buNone/>
            </a:pPr>
            <a:r>
              <a:rPr lang="ru-RU" sz="2400" dirty="0"/>
              <a:t>Результаты:</a:t>
            </a:r>
          </a:p>
          <a:p>
            <a:pPr marL="0" indent="0" algn="just">
              <a:buNone/>
            </a:pPr>
            <a:r>
              <a:rPr lang="ru-RU" sz="2400" dirty="0"/>
              <a:t>• </a:t>
            </a:r>
            <a:r>
              <a:rPr lang="ru-RU" sz="2400" dirty="0" err="1"/>
              <a:t>Транскрибация</a:t>
            </a:r>
            <a:r>
              <a:rPr lang="ru-RU" sz="2400" dirty="0"/>
              <a:t> речи в реальном времени</a:t>
            </a:r>
          </a:p>
          <a:p>
            <a:pPr marL="0" indent="0" algn="just">
              <a:buNone/>
            </a:pPr>
            <a:r>
              <a:rPr lang="ru-RU" sz="2400" dirty="0"/>
              <a:t>• Разделение реплик по участникам</a:t>
            </a:r>
          </a:p>
          <a:p>
            <a:pPr marL="0" indent="0" algn="just">
              <a:buNone/>
            </a:pPr>
            <a:r>
              <a:rPr lang="ru-RU" sz="2400" dirty="0"/>
              <a:t>• Временные метки для каждой реплики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Модуль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839485"/>
            <a:ext cx="10515600" cy="583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Модуль </a:t>
            </a:r>
            <a:r>
              <a:rPr lang="ru-RU" sz="2400" dirty="0" err="1"/>
              <a:t>Sentiment</a:t>
            </a:r>
            <a:r>
              <a:rPr lang="ru-RU" sz="2400" dirty="0"/>
              <a:t> Analysis:</a:t>
            </a:r>
          </a:p>
          <a:p>
            <a:pPr marL="0" indent="0" algn="just">
              <a:buNone/>
            </a:pPr>
            <a:r>
              <a:rPr lang="ru-RU" sz="2400" dirty="0"/>
              <a:t>• Легковесная </a:t>
            </a:r>
            <a:r>
              <a:rPr lang="ru-RU" sz="2400" dirty="0" err="1"/>
              <a:t>трансформерная</a:t>
            </a:r>
            <a:r>
              <a:rPr lang="ru-RU" sz="2400" dirty="0"/>
              <a:t> модель </a:t>
            </a:r>
            <a:r>
              <a:rPr lang="ru-RU" sz="2400" dirty="0" err="1"/>
              <a:t>DistilBERT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• Классификация тональности: позитивная / нейтральная / негативная</a:t>
            </a:r>
          </a:p>
          <a:p>
            <a:pPr marL="0" indent="0" algn="just">
              <a:buNone/>
            </a:pPr>
            <a:r>
              <a:rPr lang="ru-RU" sz="2400" dirty="0"/>
              <a:t>Алгоритм работы:</a:t>
            </a:r>
          </a:p>
          <a:p>
            <a:pPr marL="0" indent="0" algn="just">
              <a:buNone/>
            </a:pPr>
            <a:r>
              <a:rPr lang="ru-RU" sz="2400" dirty="0"/>
              <a:t>1. Сегментация и </a:t>
            </a:r>
            <a:r>
              <a:rPr lang="ru-RU" sz="2400" dirty="0" err="1"/>
              <a:t>токенизация</a:t>
            </a:r>
            <a:r>
              <a:rPr lang="ru-RU" sz="2400" dirty="0"/>
              <a:t> транскрипта</a:t>
            </a:r>
          </a:p>
          <a:p>
            <a:pPr marL="0" indent="0" algn="just">
              <a:buNone/>
            </a:pPr>
            <a:r>
              <a:rPr lang="ru-RU" sz="2400" dirty="0"/>
              <a:t>2. </a:t>
            </a:r>
            <a:r>
              <a:rPr lang="ru-RU" sz="2400" dirty="0" err="1"/>
              <a:t>Инференс</a:t>
            </a:r>
            <a:r>
              <a:rPr lang="ru-RU" sz="2400" dirty="0"/>
              <a:t> модели</a:t>
            </a:r>
          </a:p>
          <a:p>
            <a:pPr marL="0" indent="0" algn="just">
              <a:buNone/>
            </a:pPr>
            <a:r>
              <a:rPr lang="ru-RU" sz="2400" dirty="0"/>
              <a:t>3. Присвоение метки тональности</a:t>
            </a:r>
          </a:p>
          <a:p>
            <a:pPr marL="0" indent="0" algn="just">
              <a:buNone/>
            </a:pPr>
            <a:r>
              <a:rPr lang="ru-RU" sz="2400" dirty="0"/>
              <a:t>Интеграция:</a:t>
            </a:r>
          </a:p>
          <a:p>
            <a:pPr marL="0" indent="0" algn="just">
              <a:buNone/>
            </a:pPr>
            <a:r>
              <a:rPr lang="ru-RU" sz="2400" dirty="0"/>
              <a:t>• Сохранение в JSONB с привязкой к временным меткам</a:t>
            </a:r>
          </a:p>
          <a:p>
            <a:pPr marL="0" indent="0" algn="just">
              <a:buNone/>
            </a:pPr>
            <a:r>
              <a:rPr lang="ru-RU" sz="2400" dirty="0"/>
              <a:t>• Сопоставление с визуальными и акустическими признаками</a:t>
            </a:r>
          </a:p>
          <a:p>
            <a:pPr marL="0" indent="0" algn="just">
              <a:buNone/>
            </a:pPr>
            <a:r>
              <a:rPr lang="ru-RU" sz="2400" dirty="0"/>
              <a:t>• Принцип </a:t>
            </a:r>
            <a:r>
              <a:rPr lang="ru-RU" sz="2400" dirty="0" err="1"/>
              <a:t>late</a:t>
            </a:r>
            <a:r>
              <a:rPr lang="ru-RU" sz="2400" dirty="0"/>
              <a:t> </a:t>
            </a:r>
            <a:r>
              <a:rPr lang="ru-RU" sz="2400" dirty="0" err="1"/>
              <a:t>fusion</a:t>
            </a:r>
            <a:r>
              <a:rPr lang="ru-RU" sz="2400" dirty="0"/>
              <a:t> при формировании отчёта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Анализ </a:t>
            </a:r>
            <a:r>
              <a:rPr lang="ru-RU" sz="4000"/>
              <a:t>тональности текста</a:t>
            </a:r>
            <a:endParaRPr lang="en-US" sz="40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58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3FE67C-39AF-9CC6-D363-97D9E422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63" y="1079214"/>
            <a:ext cx="9368101" cy="46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/>
              <a:t>Изучена предметная область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Проведён обзор аналогов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Составлен перечень функциональных задач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модели ИНС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Спроектирована функциональная модель и декомпозиция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Выбраны средства разработки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Подготовлена пояснительная записка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Перспективы развития:</a:t>
            </a:r>
          </a:p>
          <a:p>
            <a:pPr algn="just"/>
            <a:r>
              <a:rPr lang="ru-RU" dirty="0"/>
              <a:t>Замена эвристических алгоритмов на нейросетевые модели агрегации</a:t>
            </a:r>
          </a:p>
          <a:p>
            <a:pPr algn="just"/>
            <a:r>
              <a:rPr lang="ru-RU" dirty="0"/>
              <a:t>Оптимизация потоковой </a:t>
            </a:r>
            <a:r>
              <a:rPr lang="ru-RU" dirty="0" err="1"/>
              <a:t>транскрибации</a:t>
            </a:r>
            <a:endParaRPr lang="ru-RU" dirty="0"/>
          </a:p>
          <a:p>
            <a:pPr algn="just"/>
            <a:r>
              <a:rPr lang="ru-RU" dirty="0"/>
              <a:t>Интеграция с корпоративными HRM-системами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555</Words>
  <Application>Microsoft Office PowerPoint</Application>
  <PresentationFormat>Широкоэкранный</PresentationFormat>
  <Paragraphs>137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Тема Office</vt:lpstr>
      <vt:lpstr>ВЫПУСКНАЯ КВАЛИФИКАЦИОННАЯ РАБОТА</vt:lpstr>
      <vt:lpstr>Цель и задачи практики</vt:lpstr>
      <vt:lpstr>Актуальность</vt:lpstr>
      <vt:lpstr>Существующие решения:</vt:lpstr>
      <vt:lpstr>BPMN-диаграмма бизнес-процесса</vt:lpstr>
      <vt:lpstr>IDEF0-диаграмма</vt:lpstr>
      <vt:lpstr>Декомпозиция IDEF0</vt:lpstr>
      <vt:lpstr>DFD-диаграмма потоков данных</vt:lpstr>
      <vt:lpstr>ER-модель базы данных</vt:lpstr>
      <vt:lpstr>Логическая модель базы данных</vt:lpstr>
      <vt:lpstr>Средства и технологии разработки</vt:lpstr>
      <vt:lpstr>Алгоритмическое обеспечение. Алгоритм работы программы</vt:lpstr>
      <vt:lpstr>Модуль анализа лица и эмоций</vt:lpstr>
      <vt:lpstr>Модуль распознавания речи</vt:lpstr>
      <vt:lpstr>Анализ тональности текста</vt:lpstr>
      <vt:lpstr>Модель MediaPipe Face Landmarker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</dc:title>
  <dc:creator>Роман Чирко</dc:creator>
  <cp:lastModifiedBy>Виталий Демьянцев</cp:lastModifiedBy>
  <cp:revision>215</cp:revision>
  <dcterms:created xsi:type="dcterms:W3CDTF">2024-05-28T15:56:43Z</dcterms:created>
  <dcterms:modified xsi:type="dcterms:W3CDTF">2026-06-26T03:55:29Z</dcterms:modified>
</cp:coreProperties>
</file>