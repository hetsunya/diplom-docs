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notesMasters/notesMaster1.xml" ContentType="application/vnd.openxmlformats-officedocument.presentationml.notesMaster+xml"/>
  <Override PartName="/ppt/handoutMasters/handoutMaster1.xml" ContentType="application/vnd.openxmlformats-officedocument.presentationml.handout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howSpecialPlsOnTitleSld="0" saveSubsetFonts="1">
  <p:sldMasterIdLst>
    <p:sldMasterId id="2147483648" r:id="rId1"/>
  </p:sldMasterIdLst>
  <p:notesMasterIdLst>
    <p:notesMasterId r:id="rId22"/>
  </p:notesMasterIdLst>
  <p:handoutMasterIdLst>
    <p:handoutMasterId r:id="rId23"/>
  </p:handoutMasterIdLst>
  <p:sldIdLst>
    <p:sldId id="256" r:id="rId2"/>
    <p:sldId id="257" r:id="rId3"/>
    <p:sldId id="258" r:id="rId4"/>
    <p:sldId id="296" r:id="rId5"/>
    <p:sldId id="297" r:id="rId6"/>
    <p:sldId id="298" r:id="rId7"/>
    <p:sldId id="299" r:id="rId8"/>
    <p:sldId id="300" r:id="rId9"/>
    <p:sldId id="301" r:id="rId10"/>
    <p:sldId id="295" r:id="rId11"/>
    <p:sldId id="259" r:id="rId12"/>
    <p:sldId id="287" r:id="rId13"/>
    <p:sldId id="294" r:id="rId14"/>
    <p:sldId id="266" r:id="rId15"/>
    <p:sldId id="260" r:id="rId16"/>
    <p:sldId id="288" r:id="rId17"/>
    <p:sldId id="302" r:id="rId18"/>
    <p:sldId id="284" r:id="rId19"/>
    <p:sldId id="289" r:id="rId20"/>
    <p:sldId id="280" r:id="rId21"/>
  </p:sldIdLst>
  <p:sldSz cx="12192000" cy="6858000"/>
  <p:notesSz cx="6858000" cy="9144000"/>
  <p:defaultTextStyle>
    <a:defPPr>
      <a:defRPr lang="ru-RU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>
      <p:cViewPr varScale="1">
        <p:scale>
          <a:sx n="105" d="100"/>
          <a:sy n="105" d="100"/>
        </p:scale>
        <p:origin x="798" y="78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theme" Target="theme/theme1.xml"/><Relationship Id="rId3" Type="http://schemas.openxmlformats.org/officeDocument/2006/relationships/slide" Target="slides/slide2.xml"/><Relationship Id="rId21" Type="http://schemas.openxmlformats.org/officeDocument/2006/relationships/slide" Target="slides/slide20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viewProps" Target="viewProps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presProps" Target="presProps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handoutMaster" Target="handoutMasters/handoutMaster1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notesMaster" Target="notesMasters/notesMaster1.xml"/><Relationship Id="rId27" Type="http://schemas.openxmlformats.org/officeDocument/2006/relationships/tableStyles" Target="tableStyles.xml"/></Relationships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Верхний колонтитул 1">
            <a:extLst>
              <a:ext uri="{FF2B5EF4-FFF2-40B4-BE49-F238E27FC236}">
                <a16:creationId xmlns:a16="http://schemas.microsoft.com/office/drawing/2014/main" id="{6EF1F35D-CE6B-ADDB-FDB9-CD9C55B407A5}"/>
              </a:ext>
            </a:extLst>
          </p:cNvPr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ru-RU"/>
          </a:p>
        </p:txBody>
      </p:sp>
      <p:sp>
        <p:nvSpPr>
          <p:cNvPr id="3" name="Дата 2">
            <a:extLst>
              <a:ext uri="{FF2B5EF4-FFF2-40B4-BE49-F238E27FC236}">
                <a16:creationId xmlns:a16="http://schemas.microsoft.com/office/drawing/2014/main" id="{88B66112-651F-AEBD-6B85-767E04E75FEE}"/>
              </a:ext>
            </a:extLst>
          </p:cNvPr>
          <p:cNvSpPr>
            <a:spLocks noGrp="1"/>
          </p:cNvSpPr>
          <p:nvPr>
            <p:ph type="dt" sz="quarter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7640263-EA9F-497A-96B0-1CCF8BC43BB1}" type="datetimeFigureOut">
              <a:rPr lang="ru-RU" smtClean="0"/>
              <a:t>22.06.2026</a:t>
            </a:fld>
            <a:endParaRPr lang="ru-RU"/>
          </a:p>
        </p:txBody>
      </p:sp>
      <p:sp>
        <p:nvSpPr>
          <p:cNvPr id="4" name="Нижний колонтитул 3">
            <a:extLst>
              <a:ext uri="{FF2B5EF4-FFF2-40B4-BE49-F238E27FC236}">
                <a16:creationId xmlns:a16="http://schemas.microsoft.com/office/drawing/2014/main" id="{797B29B0-EAB6-0B0C-CB03-B9C31452932B}"/>
              </a:ext>
            </a:extLst>
          </p:cNvPr>
          <p:cNvSpPr>
            <a:spLocks noGrp="1"/>
          </p:cNvSpPr>
          <p:nvPr>
            <p:ph type="ftr" sz="quarter" idx="2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ru-RU"/>
          </a:p>
        </p:txBody>
      </p:sp>
      <p:sp>
        <p:nvSpPr>
          <p:cNvPr id="5" name="Номер слайда 4">
            <a:extLst>
              <a:ext uri="{FF2B5EF4-FFF2-40B4-BE49-F238E27FC236}">
                <a16:creationId xmlns:a16="http://schemas.microsoft.com/office/drawing/2014/main" id="{22958B48-5A14-EDA4-AC95-A317551274BC}"/>
              </a:ext>
            </a:extLst>
          </p:cNvPr>
          <p:cNvSpPr>
            <a:spLocks noGrp="1"/>
          </p:cNvSpPr>
          <p:nvPr>
            <p:ph type="sldNum" sz="quarter" idx="3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E5FB2736-D875-4BC4-8EB6-BA4CC5004DCE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107027134"/>
      </p:ext>
    </p:extLst>
  </p:cSld>
  <p:clrMap bg1="lt1" tx1="dk1" bg2="lt2" tx2="dk2" accent1="accent1" accent2="accent2" accent3="accent3" accent4="accent4" accent5="accent5" accent6="accent6" hlink="hlink" folHlink="folHlink"/>
  <p:hf hdr="0" ftr="0" dt="0"/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Верхний колонтитул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ru-RU"/>
          </a:p>
        </p:txBody>
      </p:sp>
      <p:sp>
        <p:nvSpPr>
          <p:cNvPr id="3" name="Дата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66574A11-D777-4A21-A270-6F8A09B2D137}" type="datetimeFigureOut">
              <a:rPr lang="ru-RU" smtClean="0"/>
              <a:t>22.06.2026</a:t>
            </a:fld>
            <a:endParaRPr lang="ru-RU"/>
          </a:p>
        </p:txBody>
      </p:sp>
      <p:sp>
        <p:nvSpPr>
          <p:cNvPr id="4" name="Образ слайда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ru-RU"/>
          </a:p>
        </p:txBody>
      </p:sp>
      <p:sp>
        <p:nvSpPr>
          <p:cNvPr id="5" name="Заметки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6" name="Нижний колонтитул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ru-RU"/>
          </a:p>
        </p:txBody>
      </p:sp>
      <p:sp>
        <p:nvSpPr>
          <p:cNvPr id="7" name="Номер слайда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0DDB6E01-9A66-45F7-9913-E47108469099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375170411"/>
      </p:ext>
    </p:extLst>
  </p:cSld>
  <p:clrMap bg1="lt1" tx1="dk1" bg2="lt2" tx2="dk2" accent1="accent1" accent2="accent2" accent3="accent3" accent4="accent4" accent5="accent5" accent6="accent6" hlink="hlink" folHlink="folHlink"/>
  <p:hf hdr="0" ftr="0" dt="0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Титульный слай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C2C8BE10-CF6A-433B-A665-B07A0F5F131E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  <a:prstGeom prst="rect">
            <a:avLst/>
          </a:prstGeom>
        </p:spPr>
        <p:txBody>
          <a:bodyPr anchor="b"/>
          <a:lstStyle>
            <a:lvl1pPr algn="ctr">
              <a:defRPr sz="6000"/>
            </a:lvl1pPr>
          </a:lstStyle>
          <a:p>
            <a:r>
              <a:rPr lang="ru-RU"/>
              <a:t>Образец заголовка</a:t>
            </a:r>
          </a:p>
        </p:txBody>
      </p:sp>
      <p:sp>
        <p:nvSpPr>
          <p:cNvPr id="3" name="Подзаголовок 2">
            <a:extLst>
              <a:ext uri="{FF2B5EF4-FFF2-40B4-BE49-F238E27FC236}">
                <a16:creationId xmlns:a16="http://schemas.microsoft.com/office/drawing/2014/main" id="{7F2B8DFD-3DE7-4FBB-9379-4CA65BD5286B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  <a:prstGeom prst="rect">
            <a:avLst/>
          </a:prstGeo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ru-RU"/>
              <a:t>Образец подзаголовка</a:t>
            </a:r>
          </a:p>
        </p:txBody>
      </p:sp>
      <p:sp>
        <p:nvSpPr>
          <p:cNvPr id="4" name="Дата 3">
            <a:extLst>
              <a:ext uri="{FF2B5EF4-FFF2-40B4-BE49-F238E27FC236}">
                <a16:creationId xmlns:a16="http://schemas.microsoft.com/office/drawing/2014/main" id="{7E9C10B6-9AD9-48F7-8A51-653EBDA6B077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/>
          <a:lstStyle/>
          <a:p>
            <a:fld id="{E916E196-4804-4F42-898A-0FC902D9B484}" type="datetime1">
              <a:rPr lang="ru-RU" smtClean="0"/>
              <a:t>22.06.2026</a:t>
            </a:fld>
            <a:endParaRPr lang="ru-RU"/>
          </a:p>
        </p:txBody>
      </p:sp>
      <p:sp>
        <p:nvSpPr>
          <p:cNvPr id="5" name="Нижний колонтитул 4">
            <a:extLst>
              <a:ext uri="{FF2B5EF4-FFF2-40B4-BE49-F238E27FC236}">
                <a16:creationId xmlns:a16="http://schemas.microsoft.com/office/drawing/2014/main" id="{AD95CF36-2944-4819-9146-7A1DED1EA12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/>
          <a:lstStyle/>
          <a:p>
            <a:endParaRPr lang="ru-RU"/>
          </a:p>
        </p:txBody>
      </p:sp>
      <p:sp>
        <p:nvSpPr>
          <p:cNvPr id="6" name="Номер слайда 5">
            <a:extLst>
              <a:ext uri="{FF2B5EF4-FFF2-40B4-BE49-F238E27FC236}">
                <a16:creationId xmlns:a16="http://schemas.microsoft.com/office/drawing/2014/main" id="{75C57A1D-78F6-4A51-BE24-BBABD28DC03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F9DB6E4-81A8-48FA-A111-413E3E85E768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500926981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Заголовок и объект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DE171673-A45B-40E8-8606-A35A0D982B7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/>
          <a:lstStyle/>
          <a:p>
            <a:r>
              <a:rPr lang="ru-RU"/>
              <a:t>Образец заголовка</a:t>
            </a:r>
          </a:p>
        </p:txBody>
      </p:sp>
      <p:sp>
        <p:nvSpPr>
          <p:cNvPr id="3" name="Объект 2">
            <a:extLst>
              <a:ext uri="{FF2B5EF4-FFF2-40B4-BE49-F238E27FC236}">
                <a16:creationId xmlns:a16="http://schemas.microsoft.com/office/drawing/2014/main" id="{6E615B0D-2B65-4A3B-9210-B8D32D10BC7E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4" name="Дата 3">
            <a:extLst>
              <a:ext uri="{FF2B5EF4-FFF2-40B4-BE49-F238E27FC236}">
                <a16:creationId xmlns:a16="http://schemas.microsoft.com/office/drawing/2014/main" id="{74644779-8B0E-4870-BE22-68D8EC4E515B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/>
          <a:lstStyle/>
          <a:p>
            <a:fld id="{303C7D8F-2A26-4A8C-918C-F8DEED5C5692}" type="datetime1">
              <a:rPr lang="ru-RU" smtClean="0"/>
              <a:t>22.06.2026</a:t>
            </a:fld>
            <a:endParaRPr lang="ru-RU"/>
          </a:p>
        </p:txBody>
      </p:sp>
      <p:sp>
        <p:nvSpPr>
          <p:cNvPr id="5" name="Нижний колонтитул 4">
            <a:extLst>
              <a:ext uri="{FF2B5EF4-FFF2-40B4-BE49-F238E27FC236}">
                <a16:creationId xmlns:a16="http://schemas.microsoft.com/office/drawing/2014/main" id="{EB9BE05C-2C3A-41C6-8170-5C715265ADD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/>
          <a:lstStyle/>
          <a:p>
            <a:endParaRPr lang="ru-RU"/>
          </a:p>
        </p:txBody>
      </p:sp>
      <p:sp>
        <p:nvSpPr>
          <p:cNvPr id="6" name="Номер слайда 5">
            <a:extLst>
              <a:ext uri="{FF2B5EF4-FFF2-40B4-BE49-F238E27FC236}">
                <a16:creationId xmlns:a16="http://schemas.microsoft.com/office/drawing/2014/main" id="{255380D7-1212-4185-8C9F-DA456C4DC40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1059064" y="6521570"/>
            <a:ext cx="1124309" cy="336430"/>
          </a:xfrm>
        </p:spPr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fld id="{5F9DB6E4-81A8-48FA-A111-413E3E85E768}" type="slidenum">
              <a:rPr lang="ru-RU" smtClean="0"/>
              <a:pPr/>
              <a:t>‹#›</a:t>
            </a:fld>
            <a:endParaRPr lang="ru-RU" dirty="0"/>
          </a:p>
        </p:txBody>
      </p:sp>
    </p:spTree>
    <p:extLst>
      <p:ext uri="{BB962C8B-B14F-4D97-AF65-F5344CB8AC3E}">
        <p14:creationId xmlns:p14="http://schemas.microsoft.com/office/powerpoint/2010/main" val="1584264866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Заголовок раздела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800B186F-FA08-4D4E-967C-1F799E3163E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  <a:prstGeom prst="rect">
            <a:avLst/>
          </a:prstGeom>
        </p:spPr>
        <p:txBody>
          <a:bodyPr anchor="b"/>
          <a:lstStyle>
            <a:lvl1pPr>
              <a:defRPr sz="6000"/>
            </a:lvl1pPr>
          </a:lstStyle>
          <a:p>
            <a:r>
              <a:rPr lang="ru-RU"/>
              <a:t>Образец заголовка</a:t>
            </a:r>
          </a:p>
        </p:txBody>
      </p:sp>
      <p:sp>
        <p:nvSpPr>
          <p:cNvPr id="3" name="Текст 2">
            <a:extLst>
              <a:ext uri="{FF2B5EF4-FFF2-40B4-BE49-F238E27FC236}">
                <a16:creationId xmlns:a16="http://schemas.microsoft.com/office/drawing/2014/main" id="{E971C260-AFB2-4F3F-9F9D-D70FCC9CA899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ru-RU"/>
              <a:t>Образец текста</a:t>
            </a:r>
          </a:p>
        </p:txBody>
      </p:sp>
      <p:sp>
        <p:nvSpPr>
          <p:cNvPr id="4" name="Дата 3">
            <a:extLst>
              <a:ext uri="{FF2B5EF4-FFF2-40B4-BE49-F238E27FC236}">
                <a16:creationId xmlns:a16="http://schemas.microsoft.com/office/drawing/2014/main" id="{B56EF3DB-C509-46F4-A47B-CB52ED4287DB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/>
          <a:lstStyle/>
          <a:p>
            <a:fld id="{47F38BAD-298E-4C7C-BB8A-26FD3D33ECCE}" type="datetime1">
              <a:rPr lang="ru-RU" smtClean="0"/>
              <a:t>22.06.2026</a:t>
            </a:fld>
            <a:endParaRPr lang="ru-RU"/>
          </a:p>
        </p:txBody>
      </p:sp>
      <p:sp>
        <p:nvSpPr>
          <p:cNvPr id="5" name="Нижний колонтитул 4">
            <a:extLst>
              <a:ext uri="{FF2B5EF4-FFF2-40B4-BE49-F238E27FC236}">
                <a16:creationId xmlns:a16="http://schemas.microsoft.com/office/drawing/2014/main" id="{0E7B894F-8017-40E9-BE58-EE2B32DC780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/>
          <a:lstStyle/>
          <a:p>
            <a:endParaRPr lang="ru-RU"/>
          </a:p>
        </p:txBody>
      </p:sp>
      <p:sp>
        <p:nvSpPr>
          <p:cNvPr id="6" name="Номер слайда 5">
            <a:extLst>
              <a:ext uri="{FF2B5EF4-FFF2-40B4-BE49-F238E27FC236}">
                <a16:creationId xmlns:a16="http://schemas.microsoft.com/office/drawing/2014/main" id="{61885ACA-E8F7-448C-92B8-76FCF2F5158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F9DB6E4-81A8-48FA-A111-413E3E85E768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950864319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Два объекта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FA49F36F-C100-425F-A6D4-442C831C903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/>
          <a:lstStyle/>
          <a:p>
            <a:r>
              <a:rPr lang="ru-RU"/>
              <a:t>Образец заголовка</a:t>
            </a:r>
          </a:p>
        </p:txBody>
      </p:sp>
      <p:sp>
        <p:nvSpPr>
          <p:cNvPr id="3" name="Объект 2">
            <a:extLst>
              <a:ext uri="{FF2B5EF4-FFF2-40B4-BE49-F238E27FC236}">
                <a16:creationId xmlns:a16="http://schemas.microsoft.com/office/drawing/2014/main" id="{6F1CB49F-A20E-4BC1-B7B9-AB2678E66D54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  <a:prstGeom prst="rect">
            <a:avLst/>
          </a:prstGeom>
        </p:spPr>
        <p:txBody>
          <a:bodyPr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4" name="Объект 3">
            <a:extLst>
              <a:ext uri="{FF2B5EF4-FFF2-40B4-BE49-F238E27FC236}">
                <a16:creationId xmlns:a16="http://schemas.microsoft.com/office/drawing/2014/main" id="{8F6BDC06-E41E-45A8-92F3-F23B09C876F3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  <a:prstGeom prst="rect">
            <a:avLst/>
          </a:prstGeom>
        </p:spPr>
        <p:txBody>
          <a:bodyPr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5" name="Дата 4">
            <a:extLst>
              <a:ext uri="{FF2B5EF4-FFF2-40B4-BE49-F238E27FC236}">
                <a16:creationId xmlns:a16="http://schemas.microsoft.com/office/drawing/2014/main" id="{EDC4B84D-F0BD-41AC-B75E-7ED71D519581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/>
          <a:lstStyle/>
          <a:p>
            <a:fld id="{4F74C74B-F198-4F1D-A85F-7D813148100B}" type="datetime1">
              <a:rPr lang="ru-RU" smtClean="0"/>
              <a:t>22.06.2026</a:t>
            </a:fld>
            <a:endParaRPr lang="ru-RU"/>
          </a:p>
        </p:txBody>
      </p:sp>
      <p:sp>
        <p:nvSpPr>
          <p:cNvPr id="6" name="Нижний колонтитул 5">
            <a:extLst>
              <a:ext uri="{FF2B5EF4-FFF2-40B4-BE49-F238E27FC236}">
                <a16:creationId xmlns:a16="http://schemas.microsoft.com/office/drawing/2014/main" id="{77D1283D-6573-461F-BE8C-92BE392CF80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/>
          <a:lstStyle/>
          <a:p>
            <a:endParaRPr lang="ru-RU"/>
          </a:p>
        </p:txBody>
      </p:sp>
      <p:sp>
        <p:nvSpPr>
          <p:cNvPr id="7" name="Номер слайда 6">
            <a:extLst>
              <a:ext uri="{FF2B5EF4-FFF2-40B4-BE49-F238E27FC236}">
                <a16:creationId xmlns:a16="http://schemas.microsoft.com/office/drawing/2014/main" id="{135D11FB-AD6E-4F64-BA97-F9B790FCD4E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F9DB6E4-81A8-48FA-A111-413E3E85E768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418687319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Сравнение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3EE3FE31-F08D-4F78-BB13-D092EA9DD52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  <a:prstGeom prst="rect">
            <a:avLst/>
          </a:prstGeom>
        </p:spPr>
        <p:txBody>
          <a:bodyPr/>
          <a:lstStyle/>
          <a:p>
            <a:r>
              <a:rPr lang="ru-RU"/>
              <a:t>Образец заголовка</a:t>
            </a:r>
          </a:p>
        </p:txBody>
      </p:sp>
      <p:sp>
        <p:nvSpPr>
          <p:cNvPr id="3" name="Текст 2">
            <a:extLst>
              <a:ext uri="{FF2B5EF4-FFF2-40B4-BE49-F238E27FC236}">
                <a16:creationId xmlns:a16="http://schemas.microsoft.com/office/drawing/2014/main" id="{387FB431-4874-4F08-BB5A-F0A67B68B2FB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  <a:prstGeom prst="rect">
            <a:avLst/>
          </a:prstGeo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ru-RU"/>
              <a:t>Образец текста</a:t>
            </a:r>
          </a:p>
        </p:txBody>
      </p:sp>
      <p:sp>
        <p:nvSpPr>
          <p:cNvPr id="4" name="Объект 3">
            <a:extLst>
              <a:ext uri="{FF2B5EF4-FFF2-40B4-BE49-F238E27FC236}">
                <a16:creationId xmlns:a16="http://schemas.microsoft.com/office/drawing/2014/main" id="{058FB0E6-7B7E-4DA1-879B-E5DD6EACC78B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  <a:prstGeom prst="rect">
            <a:avLst/>
          </a:prstGeom>
        </p:spPr>
        <p:txBody>
          <a:bodyPr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5" name="Текст 4">
            <a:extLst>
              <a:ext uri="{FF2B5EF4-FFF2-40B4-BE49-F238E27FC236}">
                <a16:creationId xmlns:a16="http://schemas.microsoft.com/office/drawing/2014/main" id="{C53BC42D-0B1D-40F8-957F-3259926153F7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  <a:prstGeom prst="rect">
            <a:avLst/>
          </a:prstGeo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ru-RU"/>
              <a:t>Образец текста</a:t>
            </a:r>
          </a:p>
        </p:txBody>
      </p:sp>
      <p:sp>
        <p:nvSpPr>
          <p:cNvPr id="6" name="Объект 5">
            <a:extLst>
              <a:ext uri="{FF2B5EF4-FFF2-40B4-BE49-F238E27FC236}">
                <a16:creationId xmlns:a16="http://schemas.microsoft.com/office/drawing/2014/main" id="{2668AD02-CE5C-405A-B4AB-47C8A3E9F5AD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  <a:prstGeom prst="rect">
            <a:avLst/>
          </a:prstGeom>
        </p:spPr>
        <p:txBody>
          <a:bodyPr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7" name="Дата 6">
            <a:extLst>
              <a:ext uri="{FF2B5EF4-FFF2-40B4-BE49-F238E27FC236}">
                <a16:creationId xmlns:a16="http://schemas.microsoft.com/office/drawing/2014/main" id="{5ADF9323-1E59-422D-B5E1-53CEED964930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/>
          <a:lstStyle/>
          <a:p>
            <a:fld id="{2BB4B2F3-C8F7-4496-AB1D-5B712B52D4CC}" type="datetime1">
              <a:rPr lang="ru-RU" smtClean="0"/>
              <a:t>22.06.2026</a:t>
            </a:fld>
            <a:endParaRPr lang="ru-RU"/>
          </a:p>
        </p:txBody>
      </p:sp>
      <p:sp>
        <p:nvSpPr>
          <p:cNvPr id="8" name="Нижний колонтитул 7">
            <a:extLst>
              <a:ext uri="{FF2B5EF4-FFF2-40B4-BE49-F238E27FC236}">
                <a16:creationId xmlns:a16="http://schemas.microsoft.com/office/drawing/2014/main" id="{DCBBE23A-C69D-4BC4-A044-7DE420DFBBF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/>
          <a:lstStyle/>
          <a:p>
            <a:endParaRPr lang="ru-RU"/>
          </a:p>
        </p:txBody>
      </p:sp>
      <p:sp>
        <p:nvSpPr>
          <p:cNvPr id="9" name="Номер слайда 8">
            <a:extLst>
              <a:ext uri="{FF2B5EF4-FFF2-40B4-BE49-F238E27FC236}">
                <a16:creationId xmlns:a16="http://schemas.microsoft.com/office/drawing/2014/main" id="{E9FAECF8-2DB3-483A-A51A-72E3F321C3D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F9DB6E4-81A8-48FA-A111-413E3E85E768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31306198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Только заголовок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28525297-E1DF-4F49-844C-B5004B497D9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/>
          <a:lstStyle/>
          <a:p>
            <a:r>
              <a:rPr lang="ru-RU"/>
              <a:t>Образец заголовка</a:t>
            </a:r>
          </a:p>
        </p:txBody>
      </p:sp>
      <p:sp>
        <p:nvSpPr>
          <p:cNvPr id="3" name="Дата 2">
            <a:extLst>
              <a:ext uri="{FF2B5EF4-FFF2-40B4-BE49-F238E27FC236}">
                <a16:creationId xmlns:a16="http://schemas.microsoft.com/office/drawing/2014/main" id="{668D61B0-571E-4634-820D-BE8C43CDCCDC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/>
          <a:lstStyle/>
          <a:p>
            <a:fld id="{69017ECC-D4AC-4388-A12E-1F5EBDCBE0DE}" type="datetime1">
              <a:rPr lang="ru-RU" smtClean="0"/>
              <a:t>22.06.2026</a:t>
            </a:fld>
            <a:endParaRPr lang="ru-RU"/>
          </a:p>
        </p:txBody>
      </p:sp>
      <p:sp>
        <p:nvSpPr>
          <p:cNvPr id="4" name="Нижний колонтитул 3">
            <a:extLst>
              <a:ext uri="{FF2B5EF4-FFF2-40B4-BE49-F238E27FC236}">
                <a16:creationId xmlns:a16="http://schemas.microsoft.com/office/drawing/2014/main" id="{DC9AB50D-DED9-4F09-B633-0D1A479CCF2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/>
          <a:lstStyle/>
          <a:p>
            <a:endParaRPr lang="ru-RU"/>
          </a:p>
        </p:txBody>
      </p:sp>
      <p:sp>
        <p:nvSpPr>
          <p:cNvPr id="5" name="Номер слайда 4">
            <a:extLst>
              <a:ext uri="{FF2B5EF4-FFF2-40B4-BE49-F238E27FC236}">
                <a16:creationId xmlns:a16="http://schemas.microsoft.com/office/drawing/2014/main" id="{8AA73912-C4BB-4DEC-8A81-A4DC61ABE31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F9DB6E4-81A8-48FA-A111-413E3E85E768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657575014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Пустой слай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Дата 1">
            <a:extLst>
              <a:ext uri="{FF2B5EF4-FFF2-40B4-BE49-F238E27FC236}">
                <a16:creationId xmlns:a16="http://schemas.microsoft.com/office/drawing/2014/main" id="{2768E753-EE03-4932-B563-6CB3695FB516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/>
          <a:lstStyle/>
          <a:p>
            <a:fld id="{A7ABE4D9-AEC4-4B77-B4CC-7FBE63FE841C}" type="datetime1">
              <a:rPr lang="ru-RU" smtClean="0"/>
              <a:t>22.06.2026</a:t>
            </a:fld>
            <a:endParaRPr lang="ru-RU"/>
          </a:p>
        </p:txBody>
      </p:sp>
      <p:sp>
        <p:nvSpPr>
          <p:cNvPr id="3" name="Нижний колонтитул 2">
            <a:extLst>
              <a:ext uri="{FF2B5EF4-FFF2-40B4-BE49-F238E27FC236}">
                <a16:creationId xmlns:a16="http://schemas.microsoft.com/office/drawing/2014/main" id="{374E1FC9-E731-4E2E-A678-2EAC238D366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/>
          <a:lstStyle/>
          <a:p>
            <a:endParaRPr lang="ru-RU"/>
          </a:p>
        </p:txBody>
      </p:sp>
      <p:sp>
        <p:nvSpPr>
          <p:cNvPr id="4" name="Номер слайда 3">
            <a:extLst>
              <a:ext uri="{FF2B5EF4-FFF2-40B4-BE49-F238E27FC236}">
                <a16:creationId xmlns:a16="http://schemas.microsoft.com/office/drawing/2014/main" id="{A88D96B6-73F8-42DC-9693-AEA5C147F8F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F9DB6E4-81A8-48FA-A111-413E3E85E768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80170055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Объект с подписью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3D8F7A58-7B76-41EA-8ED3-277621617D3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  <a:prstGeom prst="rect">
            <a:avLst/>
          </a:prstGeom>
        </p:spPr>
        <p:txBody>
          <a:bodyPr anchor="b"/>
          <a:lstStyle>
            <a:lvl1pPr>
              <a:defRPr sz="3200"/>
            </a:lvl1pPr>
          </a:lstStyle>
          <a:p>
            <a:r>
              <a:rPr lang="ru-RU"/>
              <a:t>Образец заголовка</a:t>
            </a:r>
          </a:p>
        </p:txBody>
      </p:sp>
      <p:sp>
        <p:nvSpPr>
          <p:cNvPr id="3" name="Объект 2">
            <a:extLst>
              <a:ext uri="{FF2B5EF4-FFF2-40B4-BE49-F238E27FC236}">
                <a16:creationId xmlns:a16="http://schemas.microsoft.com/office/drawing/2014/main" id="{BBDCBBDE-E02C-456B-AFF6-4B3969FB4F7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  <a:prstGeom prst="rect">
            <a:avLst/>
          </a:prstGeo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4" name="Текст 3">
            <a:extLst>
              <a:ext uri="{FF2B5EF4-FFF2-40B4-BE49-F238E27FC236}">
                <a16:creationId xmlns:a16="http://schemas.microsoft.com/office/drawing/2014/main" id="{3713A34A-7160-46D2-B526-1ABBF48DDE5B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ru-RU"/>
              <a:t>Образец текста</a:t>
            </a:r>
          </a:p>
        </p:txBody>
      </p:sp>
      <p:sp>
        <p:nvSpPr>
          <p:cNvPr id="5" name="Дата 4">
            <a:extLst>
              <a:ext uri="{FF2B5EF4-FFF2-40B4-BE49-F238E27FC236}">
                <a16:creationId xmlns:a16="http://schemas.microsoft.com/office/drawing/2014/main" id="{2CD33588-48BF-4723-90C0-34EB6673A156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/>
          <a:lstStyle/>
          <a:p>
            <a:fld id="{21664E07-3D79-4A05-BB0B-898AD5671495}" type="datetime1">
              <a:rPr lang="ru-RU" smtClean="0"/>
              <a:t>22.06.2026</a:t>
            </a:fld>
            <a:endParaRPr lang="ru-RU"/>
          </a:p>
        </p:txBody>
      </p:sp>
      <p:sp>
        <p:nvSpPr>
          <p:cNvPr id="6" name="Нижний колонтитул 5">
            <a:extLst>
              <a:ext uri="{FF2B5EF4-FFF2-40B4-BE49-F238E27FC236}">
                <a16:creationId xmlns:a16="http://schemas.microsoft.com/office/drawing/2014/main" id="{24FBFF21-15CB-4547-87C3-5DF872D3A5C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/>
          <a:lstStyle/>
          <a:p>
            <a:endParaRPr lang="ru-RU"/>
          </a:p>
        </p:txBody>
      </p:sp>
      <p:sp>
        <p:nvSpPr>
          <p:cNvPr id="7" name="Номер слайда 6">
            <a:extLst>
              <a:ext uri="{FF2B5EF4-FFF2-40B4-BE49-F238E27FC236}">
                <a16:creationId xmlns:a16="http://schemas.microsoft.com/office/drawing/2014/main" id="{CAA8FAE0-BB62-42BB-832B-D94B813F2C3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F9DB6E4-81A8-48FA-A111-413E3E85E768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3923010826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Рисунок с подписью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3F6DFCD8-53BB-4463-BF82-6C7CA9DAB26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  <a:prstGeom prst="rect">
            <a:avLst/>
          </a:prstGeom>
        </p:spPr>
        <p:txBody>
          <a:bodyPr anchor="b"/>
          <a:lstStyle>
            <a:lvl1pPr>
              <a:defRPr sz="3200"/>
            </a:lvl1pPr>
          </a:lstStyle>
          <a:p>
            <a:r>
              <a:rPr lang="ru-RU"/>
              <a:t>Образец заголовка</a:t>
            </a:r>
          </a:p>
        </p:txBody>
      </p:sp>
      <p:sp>
        <p:nvSpPr>
          <p:cNvPr id="3" name="Рисунок 2">
            <a:extLst>
              <a:ext uri="{FF2B5EF4-FFF2-40B4-BE49-F238E27FC236}">
                <a16:creationId xmlns:a16="http://schemas.microsoft.com/office/drawing/2014/main" id="{D955AB4A-951B-4140-B839-C72779208F75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ru-RU"/>
          </a:p>
        </p:txBody>
      </p:sp>
      <p:sp>
        <p:nvSpPr>
          <p:cNvPr id="4" name="Текст 3">
            <a:extLst>
              <a:ext uri="{FF2B5EF4-FFF2-40B4-BE49-F238E27FC236}">
                <a16:creationId xmlns:a16="http://schemas.microsoft.com/office/drawing/2014/main" id="{D61F6312-54B5-4ADE-81FB-8EBE6FDA7DDF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ru-RU"/>
              <a:t>Образец текста</a:t>
            </a:r>
          </a:p>
        </p:txBody>
      </p:sp>
      <p:sp>
        <p:nvSpPr>
          <p:cNvPr id="5" name="Дата 4">
            <a:extLst>
              <a:ext uri="{FF2B5EF4-FFF2-40B4-BE49-F238E27FC236}">
                <a16:creationId xmlns:a16="http://schemas.microsoft.com/office/drawing/2014/main" id="{14805582-3CBF-48EF-8D6B-EF8C6060F79A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/>
          <a:lstStyle/>
          <a:p>
            <a:fld id="{69552C21-0914-4B44-973B-AE86C28FD0CC}" type="datetime1">
              <a:rPr lang="ru-RU" smtClean="0"/>
              <a:t>22.06.2026</a:t>
            </a:fld>
            <a:endParaRPr lang="ru-RU"/>
          </a:p>
        </p:txBody>
      </p:sp>
      <p:sp>
        <p:nvSpPr>
          <p:cNvPr id="6" name="Нижний колонтитул 5">
            <a:extLst>
              <a:ext uri="{FF2B5EF4-FFF2-40B4-BE49-F238E27FC236}">
                <a16:creationId xmlns:a16="http://schemas.microsoft.com/office/drawing/2014/main" id="{3290B654-3B75-40D0-83FE-24DFB98C55C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/>
          <a:lstStyle/>
          <a:p>
            <a:endParaRPr lang="ru-RU"/>
          </a:p>
        </p:txBody>
      </p:sp>
      <p:sp>
        <p:nvSpPr>
          <p:cNvPr id="7" name="Номер слайда 6">
            <a:extLst>
              <a:ext uri="{FF2B5EF4-FFF2-40B4-BE49-F238E27FC236}">
                <a16:creationId xmlns:a16="http://schemas.microsoft.com/office/drawing/2014/main" id="{72DCD482-790B-436A-A99F-2E534C50EE8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F9DB6E4-81A8-48FA-A111-413E3E85E768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74910694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Заголовок и вертикальный текст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109B58C2-21EA-44AA-B7F3-4E258A3FD81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/>
          <a:lstStyle/>
          <a:p>
            <a:r>
              <a:rPr lang="ru-RU"/>
              <a:t>Образец заголовка</a:t>
            </a:r>
          </a:p>
        </p:txBody>
      </p:sp>
      <p:sp>
        <p:nvSpPr>
          <p:cNvPr id="3" name="Вертикальный текст 2">
            <a:extLst>
              <a:ext uri="{FF2B5EF4-FFF2-40B4-BE49-F238E27FC236}">
                <a16:creationId xmlns:a16="http://schemas.microsoft.com/office/drawing/2014/main" id="{7BB08977-A57D-4110-80B2-538505DEF5C2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eaVert"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4" name="Дата 3">
            <a:extLst>
              <a:ext uri="{FF2B5EF4-FFF2-40B4-BE49-F238E27FC236}">
                <a16:creationId xmlns:a16="http://schemas.microsoft.com/office/drawing/2014/main" id="{17FB0C64-00AF-4066-9CEE-B34830B9F5A5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/>
          <a:lstStyle/>
          <a:p>
            <a:fld id="{665369D4-ACF4-452B-B065-8EB5038972C3}" type="datetime1">
              <a:rPr lang="ru-RU" smtClean="0"/>
              <a:t>22.06.2026</a:t>
            </a:fld>
            <a:endParaRPr lang="ru-RU"/>
          </a:p>
        </p:txBody>
      </p:sp>
      <p:sp>
        <p:nvSpPr>
          <p:cNvPr id="5" name="Нижний колонтитул 4">
            <a:extLst>
              <a:ext uri="{FF2B5EF4-FFF2-40B4-BE49-F238E27FC236}">
                <a16:creationId xmlns:a16="http://schemas.microsoft.com/office/drawing/2014/main" id="{D0415E4B-6CBF-47BB-BE97-CAE8A940B9C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/>
          <a:lstStyle/>
          <a:p>
            <a:endParaRPr lang="ru-RU"/>
          </a:p>
        </p:txBody>
      </p:sp>
      <p:sp>
        <p:nvSpPr>
          <p:cNvPr id="6" name="Номер слайда 5">
            <a:extLst>
              <a:ext uri="{FF2B5EF4-FFF2-40B4-BE49-F238E27FC236}">
                <a16:creationId xmlns:a16="http://schemas.microsoft.com/office/drawing/2014/main" id="{03A9E350-9987-4E2A-A7EC-08500BFBDD4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F9DB6E4-81A8-48FA-A111-413E3E85E768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3760371341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Вертикальный заголовок и текст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Вертикальный заголовок 1">
            <a:extLst>
              <a:ext uri="{FF2B5EF4-FFF2-40B4-BE49-F238E27FC236}">
                <a16:creationId xmlns:a16="http://schemas.microsoft.com/office/drawing/2014/main" id="{59CAE9B5-8DBF-43B5-9DE5-AF658E080FD1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  <a:prstGeom prst="rect">
            <a:avLst/>
          </a:prstGeom>
        </p:spPr>
        <p:txBody>
          <a:bodyPr vert="eaVert"/>
          <a:lstStyle/>
          <a:p>
            <a:r>
              <a:rPr lang="ru-RU"/>
              <a:t>Образец заголовка</a:t>
            </a:r>
          </a:p>
        </p:txBody>
      </p:sp>
      <p:sp>
        <p:nvSpPr>
          <p:cNvPr id="3" name="Вертикальный текст 2">
            <a:extLst>
              <a:ext uri="{FF2B5EF4-FFF2-40B4-BE49-F238E27FC236}">
                <a16:creationId xmlns:a16="http://schemas.microsoft.com/office/drawing/2014/main" id="{C72826EE-6F4D-4E7B-93E9-708EE53AB84E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  <a:prstGeom prst="rect">
            <a:avLst/>
          </a:prstGeom>
        </p:spPr>
        <p:txBody>
          <a:bodyPr vert="eaVert"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4" name="Дата 3">
            <a:extLst>
              <a:ext uri="{FF2B5EF4-FFF2-40B4-BE49-F238E27FC236}">
                <a16:creationId xmlns:a16="http://schemas.microsoft.com/office/drawing/2014/main" id="{6E69952D-ECC0-4EE7-AD58-1F630F8427DC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/>
          <a:lstStyle/>
          <a:p>
            <a:fld id="{51B40BE4-505E-422D-8FE2-7C14F619B5A8}" type="datetime1">
              <a:rPr lang="ru-RU" smtClean="0"/>
              <a:t>22.06.2026</a:t>
            </a:fld>
            <a:endParaRPr lang="ru-RU"/>
          </a:p>
        </p:txBody>
      </p:sp>
      <p:sp>
        <p:nvSpPr>
          <p:cNvPr id="5" name="Нижний колонтитул 4">
            <a:extLst>
              <a:ext uri="{FF2B5EF4-FFF2-40B4-BE49-F238E27FC236}">
                <a16:creationId xmlns:a16="http://schemas.microsoft.com/office/drawing/2014/main" id="{CDA583EC-4F2A-427F-8F43-695E9CE5444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/>
          <a:lstStyle/>
          <a:p>
            <a:endParaRPr lang="ru-RU"/>
          </a:p>
        </p:txBody>
      </p:sp>
      <p:sp>
        <p:nvSpPr>
          <p:cNvPr id="6" name="Номер слайда 5">
            <a:extLst>
              <a:ext uri="{FF2B5EF4-FFF2-40B4-BE49-F238E27FC236}">
                <a16:creationId xmlns:a16="http://schemas.microsoft.com/office/drawing/2014/main" id="{CFB9DE81-5F8C-488E-89F3-E93A1361AFF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F9DB6E4-81A8-48FA-A111-413E3E85E768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560784713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Номер слайда 5">
            <a:extLst>
              <a:ext uri="{FF2B5EF4-FFF2-40B4-BE49-F238E27FC236}">
                <a16:creationId xmlns:a16="http://schemas.microsoft.com/office/drawing/2014/main" id="{F8C1D08D-9EC8-40DB-9B46-669208259D44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067690" y="6521570"/>
            <a:ext cx="1124309" cy="336430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lang="ru-RU" smtClean="0"/>
            </a:lvl1pPr>
          </a:lstStyle>
          <a:p>
            <a:fld id="{5F9DB6E4-81A8-48FA-A111-413E3E85E768}" type="slidenum">
              <a:rPr lang="ru-RU" smtClean="0"/>
              <a:pPr/>
              <a:t>‹#›</a:t>
            </a:fld>
            <a:r>
              <a:rPr lang="ru-RU" dirty="0"/>
              <a:t>/12</a:t>
            </a:r>
          </a:p>
        </p:txBody>
      </p:sp>
    </p:spTree>
    <p:extLst>
      <p:ext uri="{BB962C8B-B14F-4D97-AF65-F5344CB8AC3E}">
        <p14:creationId xmlns:p14="http://schemas.microsoft.com/office/powerpoint/2010/main" val="1835956914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hf hdr="0" ftr="0" dt="0"/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ru-RU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jpeg"/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1.png"/><Relationship Id="rId5" Type="http://schemas.openxmlformats.org/officeDocument/2006/relationships/image" Target="../media/image10.jpeg"/><Relationship Id="rId4" Type="http://schemas.openxmlformats.org/officeDocument/2006/relationships/image" Target="../media/image9.png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2.png"/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image" Target="../media/image13.png"/><Relationship Id="rId1" Type="http://schemas.openxmlformats.org/officeDocument/2006/relationships/slideLayout" Target="../slideLayouts/slideLayout2.xml"/></Relationships>
</file>

<file path=ppt/slides/_rels/slide19.xml.rels><?xml version="1.0" encoding="UTF-8" standalone="yes"?>
<Relationships xmlns="http://schemas.openxmlformats.org/package/2006/relationships"><Relationship Id="rId2" Type="http://schemas.openxmlformats.org/officeDocument/2006/relationships/image" Target="../media/image14.png"/><Relationship Id="rId1" Type="http://schemas.openxmlformats.org/officeDocument/2006/relationships/slideLayout" Target="../slideLayouts/slideLayout2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B874B1E9-7B85-41C6-AC8B-242A6B603E17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406400"/>
            <a:ext cx="9144000" cy="2387600"/>
          </a:xfrm>
        </p:spPr>
        <p:txBody>
          <a:bodyPr>
            <a:normAutofit/>
          </a:bodyPr>
          <a:lstStyle/>
          <a:p>
            <a:r>
              <a:rPr lang="ru-RU" sz="5400" i="0" dirty="0"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ВЫПУСКНАЯ КВАЛИФИКАЦИОННАЯ РАБОТА</a:t>
            </a:r>
            <a:endParaRPr lang="ru-RU" sz="54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3" name="Подзаголовок 2">
            <a:extLst>
              <a:ext uri="{FF2B5EF4-FFF2-40B4-BE49-F238E27FC236}">
                <a16:creationId xmlns:a16="http://schemas.microsoft.com/office/drawing/2014/main" id="{2CE82BE8-E71E-47E7-B354-024530FDD718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795528" y="5101654"/>
            <a:ext cx="11106912" cy="1655762"/>
          </a:xfrm>
        </p:spPr>
        <p:txBody>
          <a:bodyPr/>
          <a:lstStyle/>
          <a:p>
            <a:pPr algn="r"/>
            <a:r>
              <a:rPr lang="ru-RU" dirty="0"/>
              <a:t>Выполнил: студент группы 606-22 Демьянцев В.В.</a:t>
            </a:r>
          </a:p>
          <a:p>
            <a:pPr algn="r"/>
            <a:r>
              <a:rPr lang="ru-RU" dirty="0"/>
              <a:t>Руководитель ВКР: канд. техн. наук Горбунов Дмитрий Владимирович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D5107838-5538-C0C2-D39D-35499CF23BB8}"/>
              </a:ext>
            </a:extLst>
          </p:cNvPr>
          <p:cNvSpPr txBox="1"/>
          <p:nvPr/>
        </p:nvSpPr>
        <p:spPr>
          <a:xfrm>
            <a:off x="2249424" y="2967334"/>
            <a:ext cx="7991856" cy="120032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ru-RU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Тема: </a:t>
            </a:r>
            <a:endParaRPr lang="en-US" sz="24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algn="ctr"/>
            <a:r>
              <a:rPr lang="ru-RU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«Система распознавания эмоций человека на основе искусственной нейронной сети»</a:t>
            </a:r>
          </a:p>
        </p:txBody>
      </p:sp>
    </p:spTree>
    <p:extLst>
      <p:ext uri="{BB962C8B-B14F-4D97-AF65-F5344CB8AC3E}">
        <p14:creationId xmlns:p14="http://schemas.microsoft.com/office/powerpoint/2010/main" val="2314773635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AD263BA0-F9D7-4AEB-A9F7-D9E30D49B81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/>
              <a:t>Цель и задачи практики</a:t>
            </a:r>
          </a:p>
        </p:txBody>
      </p:sp>
      <p:sp>
        <p:nvSpPr>
          <p:cNvPr id="3" name="Объект 2">
            <a:extLst>
              <a:ext uri="{FF2B5EF4-FFF2-40B4-BE49-F238E27FC236}">
                <a16:creationId xmlns:a16="http://schemas.microsoft.com/office/drawing/2014/main" id="{129CC613-FDC1-4225-B204-891E0DB45E0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30708" y="1014984"/>
            <a:ext cx="11530584" cy="4828031"/>
          </a:xfrm>
        </p:spPr>
        <p:txBody>
          <a:bodyPr>
            <a:noAutofit/>
          </a:bodyPr>
          <a:lstStyle/>
          <a:p>
            <a:pPr indent="0" algn="just">
              <a:lnSpc>
                <a:spcPct val="150000"/>
              </a:lnSpc>
              <a:spcBef>
                <a:spcPts val="0"/>
              </a:spcBef>
              <a:buNone/>
            </a:pPr>
            <a:r>
              <a:rPr lang="ru-RU" sz="2000" dirty="0"/>
              <a:t>Цель работы:</a:t>
            </a:r>
          </a:p>
          <a:p>
            <a:pPr indent="0" algn="just">
              <a:lnSpc>
                <a:spcPct val="150000"/>
              </a:lnSpc>
              <a:spcBef>
                <a:spcPts val="0"/>
              </a:spcBef>
              <a:buNone/>
            </a:pPr>
            <a:r>
              <a:rPr lang="ru-RU" sz="2000" dirty="0"/>
              <a:t>Исследовать предметную область, провести обзор аналогов, выбрать модель </a:t>
            </a:r>
          </a:p>
          <a:p>
            <a:pPr indent="0" algn="just">
              <a:lnSpc>
                <a:spcPct val="150000"/>
              </a:lnSpc>
              <a:spcBef>
                <a:spcPts val="0"/>
              </a:spcBef>
              <a:buNone/>
            </a:pPr>
            <a:r>
              <a:rPr lang="ru-RU" sz="2000" dirty="0"/>
              <a:t>искусственной нейронной сети и спроектировать систему для распознавания </a:t>
            </a:r>
          </a:p>
          <a:p>
            <a:pPr indent="0" algn="just">
              <a:lnSpc>
                <a:spcPct val="150000"/>
              </a:lnSpc>
              <a:spcBef>
                <a:spcPts val="0"/>
              </a:spcBef>
              <a:buNone/>
            </a:pPr>
            <a:r>
              <a:rPr lang="ru-RU" sz="2000" dirty="0"/>
              <a:t>эмоций человека на основе ИНС.</a:t>
            </a:r>
          </a:p>
          <a:p>
            <a:pPr indent="0" algn="just">
              <a:lnSpc>
                <a:spcPct val="150000"/>
              </a:lnSpc>
              <a:spcBef>
                <a:spcPts val="0"/>
              </a:spcBef>
              <a:buNone/>
            </a:pPr>
            <a:r>
              <a:rPr lang="ru-RU" sz="2000" dirty="0"/>
              <a:t>Задачи работы</a:t>
            </a:r>
            <a:r>
              <a:rPr lang="en-US" sz="2000" dirty="0"/>
              <a:t>:</a:t>
            </a:r>
            <a:endParaRPr lang="ru-RU" sz="2000" dirty="0"/>
          </a:p>
          <a:p>
            <a:pPr indent="0" algn="just">
              <a:lnSpc>
                <a:spcPct val="150000"/>
              </a:lnSpc>
              <a:spcBef>
                <a:spcPts val="0"/>
              </a:spcBef>
              <a:buNone/>
            </a:pPr>
            <a:r>
              <a:rPr lang="ru-RU" sz="2000" dirty="0"/>
              <a:t>1. Обследовать и изучить предметную область</a:t>
            </a:r>
          </a:p>
          <a:p>
            <a:pPr indent="0" algn="just">
              <a:lnSpc>
                <a:spcPct val="150000"/>
              </a:lnSpc>
              <a:spcBef>
                <a:spcPts val="0"/>
              </a:spcBef>
              <a:buNone/>
            </a:pPr>
            <a:r>
              <a:rPr lang="ru-RU" sz="2000" dirty="0"/>
              <a:t>2. Провести изучение аналогов и составить обзор</a:t>
            </a:r>
          </a:p>
          <a:p>
            <a:pPr indent="0" algn="just">
              <a:lnSpc>
                <a:spcPct val="150000"/>
              </a:lnSpc>
              <a:spcBef>
                <a:spcPts val="0"/>
              </a:spcBef>
              <a:buNone/>
            </a:pPr>
            <a:r>
              <a:rPr lang="ru-RU" sz="2000" dirty="0"/>
              <a:t>3. Составить перечень функциональных задач системы</a:t>
            </a:r>
          </a:p>
          <a:p>
            <a:pPr indent="0" algn="just">
              <a:lnSpc>
                <a:spcPct val="150000"/>
              </a:lnSpc>
              <a:spcBef>
                <a:spcPts val="0"/>
              </a:spcBef>
              <a:buNone/>
            </a:pPr>
            <a:r>
              <a:rPr lang="ru-RU" sz="2000" dirty="0"/>
              <a:t>4. Выбрать модель искусственной нейронной сети</a:t>
            </a:r>
          </a:p>
          <a:p>
            <a:pPr indent="0" algn="just">
              <a:lnSpc>
                <a:spcPct val="150000"/>
              </a:lnSpc>
              <a:spcBef>
                <a:spcPts val="0"/>
              </a:spcBef>
              <a:buNone/>
            </a:pPr>
            <a:r>
              <a:rPr lang="ru-RU" sz="2000" dirty="0"/>
              <a:t>5. Спроектировать функциональную модель системы и её декомпозицию</a:t>
            </a:r>
          </a:p>
          <a:p>
            <a:pPr indent="0" algn="just">
              <a:lnSpc>
                <a:spcPct val="150000"/>
              </a:lnSpc>
              <a:spcBef>
                <a:spcPts val="0"/>
              </a:spcBef>
              <a:buNone/>
            </a:pPr>
            <a:r>
              <a:rPr lang="ru-RU" sz="2000" dirty="0"/>
              <a:t>6. Выбрать средства проектирования и разработки</a:t>
            </a:r>
          </a:p>
          <a:p>
            <a:pPr indent="0" algn="just">
              <a:lnSpc>
                <a:spcPct val="150000"/>
              </a:lnSpc>
              <a:spcBef>
                <a:spcPts val="0"/>
              </a:spcBef>
              <a:buNone/>
            </a:pPr>
            <a:r>
              <a:rPr lang="ru-RU" sz="2000" dirty="0"/>
              <a:t>7. Подготовить пояснительную записку по ВКР</a:t>
            </a:r>
          </a:p>
        </p:txBody>
      </p:sp>
      <p:sp>
        <p:nvSpPr>
          <p:cNvPr id="5" name="Номер слайда 4">
            <a:extLst>
              <a:ext uri="{FF2B5EF4-FFF2-40B4-BE49-F238E27FC236}">
                <a16:creationId xmlns:a16="http://schemas.microsoft.com/office/drawing/2014/main" id="{EFBD14C5-A728-280F-7BFA-0B641D24C77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F9DB6E4-81A8-48FA-A111-413E3E85E768}" type="slidenum">
              <a:rPr lang="ru-RU" smtClean="0"/>
              <a:t>2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4080414093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9F89600A-14F2-4F8C-96F2-69CA1CCBAC5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94317" y="68231"/>
            <a:ext cx="10515600" cy="1325563"/>
          </a:xfrm>
        </p:spPr>
        <p:txBody>
          <a:bodyPr/>
          <a:lstStyle/>
          <a:p>
            <a:r>
              <a:rPr lang="ru-RU" dirty="0"/>
              <a:t>Актуальность</a:t>
            </a:r>
          </a:p>
        </p:txBody>
      </p:sp>
      <p:sp>
        <p:nvSpPr>
          <p:cNvPr id="3" name="Объект 2">
            <a:extLst>
              <a:ext uri="{FF2B5EF4-FFF2-40B4-BE49-F238E27FC236}">
                <a16:creationId xmlns:a16="http://schemas.microsoft.com/office/drawing/2014/main" id="{A0F3E649-ADA8-4250-87FF-0757785BBB12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23783" y="1118586"/>
            <a:ext cx="10830017" cy="5513033"/>
          </a:xfrm>
        </p:spPr>
        <p:txBody>
          <a:bodyPr>
            <a:normAutofit/>
          </a:bodyPr>
          <a:lstStyle/>
          <a:p>
            <a:pPr algn="just"/>
            <a:r>
              <a:rPr lang="ru-RU" dirty="0"/>
              <a:t>Рост значимости эмоционального интеллекта в HR</a:t>
            </a:r>
          </a:p>
          <a:p>
            <a:pPr algn="just"/>
            <a:r>
              <a:rPr lang="ru-RU" dirty="0"/>
              <a:t>Ограниченность традиционных методов </a:t>
            </a:r>
            <a:endParaRPr lang="en-US" dirty="0"/>
          </a:p>
          <a:p>
            <a:pPr algn="just"/>
            <a:r>
              <a:rPr lang="ru-RU" dirty="0"/>
              <a:t>Развитие технологий ИИ для анализа эмоций в реальном времени</a:t>
            </a:r>
          </a:p>
          <a:p>
            <a:pPr algn="just"/>
            <a:r>
              <a:rPr lang="ru-RU" dirty="0"/>
              <a:t>Потребность в мультимодальном анализе </a:t>
            </a:r>
            <a:endParaRPr lang="en-US" dirty="0"/>
          </a:p>
          <a:p>
            <a:pPr algn="just"/>
            <a:r>
              <a:rPr lang="ru-RU" dirty="0"/>
              <a:t>Соответствие требованиям ФЗ-152 о защите персональных данных</a:t>
            </a:r>
          </a:p>
          <a:p>
            <a:pPr algn="just"/>
            <a:r>
              <a:rPr lang="ru-RU" dirty="0"/>
              <a:t>Экономическая эффективность автоматизации HR-процессов</a:t>
            </a:r>
          </a:p>
        </p:txBody>
      </p:sp>
      <p:sp>
        <p:nvSpPr>
          <p:cNvPr id="5" name="Номер слайда 4">
            <a:extLst>
              <a:ext uri="{FF2B5EF4-FFF2-40B4-BE49-F238E27FC236}">
                <a16:creationId xmlns:a16="http://schemas.microsoft.com/office/drawing/2014/main" id="{61A45460-A723-7A87-8308-C202F8B17C4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F9DB6E4-81A8-48FA-A111-413E3E85E768}" type="slidenum">
              <a:rPr lang="ru-RU" smtClean="0"/>
              <a:t>3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3686301026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9F89600A-14F2-4F8C-96F2-69CA1CCBAC5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94317" y="68231"/>
            <a:ext cx="10515600" cy="1325563"/>
          </a:xfrm>
        </p:spPr>
        <p:txBody>
          <a:bodyPr/>
          <a:lstStyle/>
          <a:p>
            <a:r>
              <a:rPr lang="ru-RU" dirty="0"/>
              <a:t>Существующие решения:</a:t>
            </a:r>
          </a:p>
        </p:txBody>
      </p:sp>
      <p:sp>
        <p:nvSpPr>
          <p:cNvPr id="3" name="Объект 2">
            <a:extLst>
              <a:ext uri="{FF2B5EF4-FFF2-40B4-BE49-F238E27FC236}">
                <a16:creationId xmlns:a16="http://schemas.microsoft.com/office/drawing/2014/main" id="{A0F3E649-ADA8-4250-87FF-0757785BBB12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23783" y="1118586"/>
            <a:ext cx="10830017" cy="5513033"/>
          </a:xfrm>
        </p:spPr>
        <p:txBody>
          <a:bodyPr>
            <a:normAutofit fontScale="85000" lnSpcReduction="20000"/>
          </a:bodyPr>
          <a:lstStyle/>
          <a:p>
            <a:pPr algn="just"/>
            <a:r>
              <a:rPr lang="ru-RU" dirty="0" err="1"/>
              <a:t>Affectiva</a:t>
            </a:r>
            <a:r>
              <a:rPr lang="ru-RU" dirty="0"/>
              <a:t> (компьютерное зрение) — высокая точность, но нет </a:t>
            </a:r>
            <a:r>
              <a:rPr lang="ru-RU" dirty="0" err="1"/>
              <a:t>аудиоанализа</a:t>
            </a:r>
            <a:endParaRPr lang="ru-RU" dirty="0"/>
          </a:p>
          <a:p>
            <a:pPr algn="just"/>
            <a:r>
              <a:rPr lang="ru-RU" dirty="0" err="1"/>
              <a:t>Beyond</a:t>
            </a:r>
            <a:r>
              <a:rPr lang="ru-RU" dirty="0"/>
              <a:t> </a:t>
            </a:r>
            <a:r>
              <a:rPr lang="ru-RU" dirty="0" err="1"/>
              <a:t>Verbal</a:t>
            </a:r>
            <a:r>
              <a:rPr lang="ru-RU" dirty="0"/>
              <a:t> (</a:t>
            </a:r>
            <a:r>
              <a:rPr lang="ru-RU" dirty="0" err="1"/>
              <a:t>аудиоанализ</a:t>
            </a:r>
            <a:r>
              <a:rPr lang="ru-RU" dirty="0"/>
              <a:t>) — устойчивость к помехам, но нет визуальных данных</a:t>
            </a:r>
          </a:p>
          <a:p>
            <a:pPr algn="just"/>
            <a:r>
              <a:rPr lang="ru-RU" dirty="0" err="1"/>
              <a:t>Emotient</a:t>
            </a:r>
            <a:r>
              <a:rPr lang="ru-RU" dirty="0"/>
              <a:t> (мультимодальные) — высокая точность, но дорогая и не адаптирована под РФ</a:t>
            </a:r>
          </a:p>
          <a:p>
            <a:pPr algn="just"/>
            <a:endParaRPr lang="ru-RU" dirty="0"/>
          </a:p>
          <a:p>
            <a:pPr marL="0" indent="0" algn="just">
              <a:buNone/>
            </a:pPr>
            <a:r>
              <a:rPr lang="ru-RU" dirty="0"/>
              <a:t>Недостатки аналогов:</a:t>
            </a:r>
          </a:p>
          <a:p>
            <a:pPr algn="just"/>
            <a:r>
              <a:rPr lang="ru-RU" dirty="0"/>
              <a:t>Высокая стоимость лицензий</a:t>
            </a:r>
          </a:p>
          <a:p>
            <a:pPr algn="just"/>
            <a:r>
              <a:rPr lang="ru-RU" dirty="0"/>
              <a:t>Отсутствие адаптации под HR-сценарии</a:t>
            </a:r>
          </a:p>
          <a:p>
            <a:pPr algn="just"/>
            <a:r>
              <a:rPr lang="ru-RU" dirty="0"/>
              <a:t>Риски несоответствия ФЗ-152</a:t>
            </a:r>
          </a:p>
          <a:p>
            <a:pPr algn="just"/>
            <a:endParaRPr lang="ru-RU" dirty="0"/>
          </a:p>
          <a:p>
            <a:pPr marL="0" indent="0" algn="just">
              <a:buNone/>
            </a:pPr>
            <a:r>
              <a:rPr lang="ru-RU" dirty="0"/>
              <a:t>Разрабатываемая система:</a:t>
            </a:r>
          </a:p>
          <a:p>
            <a:pPr algn="just"/>
            <a:r>
              <a:rPr lang="ru-RU" dirty="0"/>
              <a:t>Специализация под HR</a:t>
            </a:r>
          </a:p>
          <a:p>
            <a:pPr algn="just"/>
            <a:r>
              <a:rPr lang="ru-RU" dirty="0"/>
              <a:t>Локальная обработка данных</a:t>
            </a:r>
          </a:p>
          <a:p>
            <a:pPr algn="just"/>
            <a:r>
              <a:rPr lang="ru-RU" dirty="0"/>
              <a:t>Открытый стек</a:t>
            </a:r>
          </a:p>
        </p:txBody>
      </p:sp>
      <p:sp>
        <p:nvSpPr>
          <p:cNvPr id="5" name="Номер слайда 4">
            <a:extLst>
              <a:ext uri="{FF2B5EF4-FFF2-40B4-BE49-F238E27FC236}">
                <a16:creationId xmlns:a16="http://schemas.microsoft.com/office/drawing/2014/main" id="{61A45460-A723-7A87-8308-C202F8B17C4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F9DB6E4-81A8-48FA-A111-413E3E85E768}" type="slidenum">
              <a:rPr lang="ru-RU" smtClean="0"/>
              <a:t>4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72975277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9F89600A-14F2-4F8C-96F2-69CA1CCBAC5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94317" y="68231"/>
            <a:ext cx="10515600" cy="1325563"/>
          </a:xfrm>
        </p:spPr>
        <p:txBody>
          <a:bodyPr/>
          <a:lstStyle/>
          <a:p>
            <a:r>
              <a:rPr lang="en-US" sz="4400" dirty="0"/>
              <a:t>BPMN-</a:t>
            </a:r>
            <a:r>
              <a:rPr lang="ru-RU" sz="4400" dirty="0"/>
              <a:t>диаграмма бизнес-процесса</a:t>
            </a:r>
            <a:endParaRPr lang="ru-RU" dirty="0"/>
          </a:p>
        </p:txBody>
      </p:sp>
      <p:sp>
        <p:nvSpPr>
          <p:cNvPr id="5" name="Номер слайда 4">
            <a:extLst>
              <a:ext uri="{FF2B5EF4-FFF2-40B4-BE49-F238E27FC236}">
                <a16:creationId xmlns:a16="http://schemas.microsoft.com/office/drawing/2014/main" id="{05FBF554-F197-8F3F-ACC5-5580642F622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F9DB6E4-81A8-48FA-A111-413E3E85E768}" type="slidenum">
              <a:rPr lang="ru-RU" smtClean="0"/>
              <a:t>5</a:t>
            </a:fld>
            <a:endParaRPr lang="ru-RU" dirty="0"/>
          </a:p>
        </p:txBody>
      </p:sp>
      <p:pic>
        <p:nvPicPr>
          <p:cNvPr id="7" name="Рисунок 6">
            <a:extLst>
              <a:ext uri="{FF2B5EF4-FFF2-40B4-BE49-F238E27FC236}">
                <a16:creationId xmlns:a16="http://schemas.microsoft.com/office/drawing/2014/main" id="{911ED75E-ADF1-FDC7-8078-2474E42BFA57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500965" y="915052"/>
            <a:ext cx="7190069" cy="5642917"/>
          </a:xfrm>
          <a:prstGeom prst="rect">
            <a:avLst/>
          </a:prstGeom>
          <a:noFill/>
          <a:ln>
            <a:noFill/>
          </a:ln>
        </p:spPr>
      </p:pic>
    </p:spTree>
    <p:extLst>
      <p:ext uri="{BB962C8B-B14F-4D97-AF65-F5344CB8AC3E}">
        <p14:creationId xmlns:p14="http://schemas.microsoft.com/office/powerpoint/2010/main" val="3977655228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9F89600A-14F2-4F8C-96F2-69CA1CCBAC5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94317" y="68231"/>
            <a:ext cx="10515600" cy="1325563"/>
          </a:xfrm>
        </p:spPr>
        <p:txBody>
          <a:bodyPr/>
          <a:lstStyle/>
          <a:p>
            <a:r>
              <a:rPr lang="en-US" sz="4400" dirty="0"/>
              <a:t>IDEF0-</a:t>
            </a:r>
            <a:r>
              <a:rPr lang="ru-RU" sz="4400" dirty="0"/>
              <a:t>диаграмма</a:t>
            </a:r>
            <a:endParaRPr lang="ru-RU" dirty="0"/>
          </a:p>
        </p:txBody>
      </p:sp>
      <p:sp>
        <p:nvSpPr>
          <p:cNvPr id="5" name="Номер слайда 4">
            <a:extLst>
              <a:ext uri="{FF2B5EF4-FFF2-40B4-BE49-F238E27FC236}">
                <a16:creationId xmlns:a16="http://schemas.microsoft.com/office/drawing/2014/main" id="{05FBF554-F197-8F3F-ACC5-5580642F622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F9DB6E4-81A8-48FA-A111-413E3E85E768}" type="slidenum">
              <a:rPr lang="ru-RU" smtClean="0"/>
              <a:t>6</a:t>
            </a:fld>
            <a:endParaRPr lang="ru-RU" dirty="0"/>
          </a:p>
        </p:txBody>
      </p:sp>
      <p:pic>
        <p:nvPicPr>
          <p:cNvPr id="3" name="Рисунок 2">
            <a:extLst>
              <a:ext uri="{FF2B5EF4-FFF2-40B4-BE49-F238E27FC236}">
                <a16:creationId xmlns:a16="http://schemas.microsoft.com/office/drawing/2014/main" id="{5E362F01-AE84-4346-82B7-CE5CD579C6A1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566320" y="747103"/>
            <a:ext cx="7059359" cy="5774467"/>
          </a:xfrm>
          <a:prstGeom prst="rect">
            <a:avLst/>
          </a:prstGeom>
          <a:noFill/>
          <a:ln>
            <a:noFill/>
          </a:ln>
        </p:spPr>
      </p:pic>
    </p:spTree>
    <p:extLst>
      <p:ext uri="{BB962C8B-B14F-4D97-AF65-F5344CB8AC3E}">
        <p14:creationId xmlns:p14="http://schemas.microsoft.com/office/powerpoint/2010/main" val="3585402169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9F89600A-14F2-4F8C-96F2-69CA1CCBAC5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94317" y="68231"/>
            <a:ext cx="10515600" cy="1325563"/>
          </a:xfrm>
        </p:spPr>
        <p:txBody>
          <a:bodyPr/>
          <a:lstStyle/>
          <a:p>
            <a:r>
              <a:rPr lang="ru-RU" sz="4400" dirty="0"/>
              <a:t>Декомпозиция </a:t>
            </a:r>
            <a:r>
              <a:rPr lang="en-US" sz="4400" dirty="0"/>
              <a:t>IDEF0</a:t>
            </a:r>
            <a:endParaRPr lang="ru-RU" dirty="0"/>
          </a:p>
        </p:txBody>
      </p:sp>
      <p:sp>
        <p:nvSpPr>
          <p:cNvPr id="5" name="Номер слайда 4">
            <a:extLst>
              <a:ext uri="{FF2B5EF4-FFF2-40B4-BE49-F238E27FC236}">
                <a16:creationId xmlns:a16="http://schemas.microsoft.com/office/drawing/2014/main" id="{05FBF554-F197-8F3F-ACC5-5580642F622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F9DB6E4-81A8-48FA-A111-413E3E85E768}" type="slidenum">
              <a:rPr lang="ru-RU" smtClean="0"/>
              <a:t>7</a:t>
            </a:fld>
            <a:endParaRPr lang="ru-RU" dirty="0"/>
          </a:p>
        </p:txBody>
      </p:sp>
      <p:pic>
        <p:nvPicPr>
          <p:cNvPr id="4" name="Рисунок 3">
            <a:extLst>
              <a:ext uri="{FF2B5EF4-FFF2-40B4-BE49-F238E27FC236}">
                <a16:creationId xmlns:a16="http://schemas.microsoft.com/office/drawing/2014/main" id="{3EE813B2-5909-97D5-A0AC-B0D2CB6E62E9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938525" y="969264"/>
            <a:ext cx="10314950" cy="5360282"/>
          </a:xfrm>
          <a:prstGeom prst="rect">
            <a:avLst/>
          </a:prstGeom>
          <a:noFill/>
          <a:ln>
            <a:noFill/>
          </a:ln>
        </p:spPr>
      </p:pic>
    </p:spTree>
    <p:extLst>
      <p:ext uri="{BB962C8B-B14F-4D97-AF65-F5344CB8AC3E}">
        <p14:creationId xmlns:p14="http://schemas.microsoft.com/office/powerpoint/2010/main" val="459085226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9F89600A-14F2-4F8C-96F2-69CA1CCBAC5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94317" y="68231"/>
            <a:ext cx="10515600" cy="1325563"/>
          </a:xfrm>
        </p:spPr>
        <p:txBody>
          <a:bodyPr/>
          <a:lstStyle/>
          <a:p>
            <a:r>
              <a:rPr lang="en-US" sz="4400" dirty="0"/>
              <a:t>DFD-</a:t>
            </a:r>
            <a:r>
              <a:rPr lang="ru-RU" sz="4400" dirty="0"/>
              <a:t>диаграмма потоков данных</a:t>
            </a:r>
            <a:endParaRPr lang="ru-RU" dirty="0"/>
          </a:p>
        </p:txBody>
      </p:sp>
      <p:sp>
        <p:nvSpPr>
          <p:cNvPr id="5" name="Номер слайда 4">
            <a:extLst>
              <a:ext uri="{FF2B5EF4-FFF2-40B4-BE49-F238E27FC236}">
                <a16:creationId xmlns:a16="http://schemas.microsoft.com/office/drawing/2014/main" id="{05FBF554-F197-8F3F-ACC5-5580642F622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F9DB6E4-81A8-48FA-A111-413E3E85E768}" type="slidenum">
              <a:rPr lang="ru-RU" smtClean="0"/>
              <a:t>8</a:t>
            </a:fld>
            <a:endParaRPr lang="ru-RU" dirty="0"/>
          </a:p>
        </p:txBody>
      </p:sp>
      <p:pic>
        <p:nvPicPr>
          <p:cNvPr id="3" name="Рисунок 2">
            <a:extLst>
              <a:ext uri="{FF2B5EF4-FFF2-40B4-BE49-F238E27FC236}">
                <a16:creationId xmlns:a16="http://schemas.microsoft.com/office/drawing/2014/main" id="{8ADA2D90-4A58-6C6F-0DE0-772AB18A30CD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589403" y="1393794"/>
            <a:ext cx="7013193" cy="4184046"/>
          </a:xfrm>
          <a:prstGeom prst="rect">
            <a:avLst/>
          </a:prstGeom>
          <a:noFill/>
          <a:ln>
            <a:noFill/>
          </a:ln>
        </p:spPr>
      </p:pic>
    </p:spTree>
    <p:extLst>
      <p:ext uri="{BB962C8B-B14F-4D97-AF65-F5344CB8AC3E}">
        <p14:creationId xmlns:p14="http://schemas.microsoft.com/office/powerpoint/2010/main" val="1209055721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9F89600A-14F2-4F8C-96F2-69CA1CCBAC5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94317" y="68231"/>
            <a:ext cx="10515600" cy="1325563"/>
          </a:xfrm>
        </p:spPr>
        <p:txBody>
          <a:bodyPr/>
          <a:lstStyle/>
          <a:p>
            <a:r>
              <a:rPr lang="en-US" sz="4400" dirty="0"/>
              <a:t>ER-</a:t>
            </a:r>
            <a:r>
              <a:rPr lang="ru-RU" sz="4400" dirty="0"/>
              <a:t>модель базы данных</a:t>
            </a:r>
            <a:endParaRPr lang="ru-RU" dirty="0"/>
          </a:p>
        </p:txBody>
      </p:sp>
      <p:sp>
        <p:nvSpPr>
          <p:cNvPr id="5" name="Номер слайда 4">
            <a:extLst>
              <a:ext uri="{FF2B5EF4-FFF2-40B4-BE49-F238E27FC236}">
                <a16:creationId xmlns:a16="http://schemas.microsoft.com/office/drawing/2014/main" id="{05FBF554-F197-8F3F-ACC5-5580642F622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F9DB6E4-81A8-48FA-A111-413E3E85E768}" type="slidenum">
              <a:rPr lang="ru-RU" smtClean="0"/>
              <a:t>9</a:t>
            </a:fld>
            <a:endParaRPr lang="ru-RU" dirty="0"/>
          </a:p>
        </p:txBody>
      </p:sp>
      <p:pic>
        <p:nvPicPr>
          <p:cNvPr id="4" name="Рисунок 3">
            <a:extLst>
              <a:ext uri="{FF2B5EF4-FFF2-40B4-BE49-F238E27FC236}">
                <a16:creationId xmlns:a16="http://schemas.microsoft.com/office/drawing/2014/main" id="{3DAA840C-06DE-BDF4-2382-9731C8C571EE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003666" y="1119474"/>
            <a:ext cx="10184667" cy="5107590"/>
          </a:xfrm>
          <a:prstGeom prst="rect">
            <a:avLst/>
          </a:prstGeom>
          <a:noFill/>
          <a:ln>
            <a:noFill/>
          </a:ln>
        </p:spPr>
      </p:pic>
    </p:spTree>
    <p:extLst>
      <p:ext uri="{BB962C8B-B14F-4D97-AF65-F5344CB8AC3E}">
        <p14:creationId xmlns:p14="http://schemas.microsoft.com/office/powerpoint/2010/main" val="241035666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554A4237-7384-4D65-B40A-9F7802E2C2B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/>
              <a:t>Логическая модель базы данных</a:t>
            </a:r>
          </a:p>
        </p:txBody>
      </p:sp>
      <p:sp>
        <p:nvSpPr>
          <p:cNvPr id="4" name="Номер слайда 3">
            <a:extLst>
              <a:ext uri="{FF2B5EF4-FFF2-40B4-BE49-F238E27FC236}">
                <a16:creationId xmlns:a16="http://schemas.microsoft.com/office/drawing/2014/main" id="{CC5BD3B4-94D6-9BF1-6ED5-AA71E42B8AE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F9DB6E4-81A8-48FA-A111-413E3E85E768}" type="slidenum">
              <a:rPr lang="ru-RU" smtClean="0"/>
              <a:t>10</a:t>
            </a:fld>
            <a:endParaRPr lang="ru-RU"/>
          </a:p>
        </p:txBody>
      </p:sp>
      <p:pic>
        <p:nvPicPr>
          <p:cNvPr id="8" name="Рисунок 7" descr="Изображение выглядит как снимок экрана, текст, Шрифт, дизайн&#10;&#10;Автоматически созданное описание">
            <a:extLst>
              <a:ext uri="{FF2B5EF4-FFF2-40B4-BE49-F238E27FC236}">
                <a16:creationId xmlns:a16="http://schemas.microsoft.com/office/drawing/2014/main" id="{96269F99-8B72-9FE2-47EC-9B6A86050459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818329" y="952874"/>
            <a:ext cx="8803170" cy="556869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644789760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6E8DEFDC-A437-4C47-B07D-6342E196D0E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75989" y="59192"/>
            <a:ext cx="10515600" cy="1325563"/>
          </a:xfrm>
        </p:spPr>
        <p:txBody>
          <a:bodyPr/>
          <a:lstStyle/>
          <a:p>
            <a:r>
              <a:rPr lang="ru-RU" dirty="0"/>
              <a:t>Средства и технологии разработки</a:t>
            </a:r>
          </a:p>
        </p:txBody>
      </p:sp>
      <p:pic>
        <p:nvPicPr>
          <p:cNvPr id="1028" name="Picture 4" descr="Picture background">
            <a:extLst>
              <a:ext uri="{FF2B5EF4-FFF2-40B4-BE49-F238E27FC236}">
                <a16:creationId xmlns:a16="http://schemas.microsoft.com/office/drawing/2014/main" id="{82F14302-1BF2-E1DF-19A8-0E74AB6A70B2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779663" y="2120804"/>
            <a:ext cx="3699318" cy="138146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030" name="Picture 6" descr="Picture background">
            <a:extLst>
              <a:ext uri="{FF2B5EF4-FFF2-40B4-BE49-F238E27FC236}">
                <a16:creationId xmlns:a16="http://schemas.microsoft.com/office/drawing/2014/main" id="{A339DE64-170F-3267-C6E5-0C47E9D9367C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8647176" y="1445684"/>
            <a:ext cx="1871472" cy="1871472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032" name="Picture 8" descr="Picture background">
            <a:extLst>
              <a:ext uri="{FF2B5EF4-FFF2-40B4-BE49-F238E27FC236}">
                <a16:creationId xmlns:a16="http://schemas.microsoft.com/office/drawing/2014/main" id="{28767BEC-E43E-ABAE-D052-1CD818E5D755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913382" y="3575536"/>
            <a:ext cx="2035466" cy="21006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036" name="Picture 12" descr="Picture background">
            <a:extLst>
              <a:ext uri="{FF2B5EF4-FFF2-40B4-BE49-F238E27FC236}">
                <a16:creationId xmlns:a16="http://schemas.microsoft.com/office/drawing/2014/main" id="{809F2891-D9F2-175C-53BA-BE3D9B227152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5" cstate="hq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596875" y="3575535"/>
            <a:ext cx="2100602" cy="2100602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038" name="Picture 14" descr="Picture background">
            <a:extLst>
              <a:ext uri="{FF2B5EF4-FFF2-40B4-BE49-F238E27FC236}">
                <a16:creationId xmlns:a16="http://schemas.microsoft.com/office/drawing/2014/main" id="{56A00DD1-6DEC-2ED3-2ECC-A70C200901C3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6" cstate="hq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000411" y="1328398"/>
            <a:ext cx="2278570" cy="2100602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3" name="Номер слайда 2">
            <a:extLst>
              <a:ext uri="{FF2B5EF4-FFF2-40B4-BE49-F238E27FC236}">
                <a16:creationId xmlns:a16="http://schemas.microsoft.com/office/drawing/2014/main" id="{703019EF-FE78-BCB1-DCCA-2ABAD458484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F9DB6E4-81A8-48FA-A111-413E3E85E768}" type="slidenum">
              <a:rPr lang="ru-RU" smtClean="0"/>
              <a:t>11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4236369762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9F89600A-14F2-4F8C-96F2-69CA1CCBAC5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94317" y="68231"/>
            <a:ext cx="10515600" cy="1325563"/>
          </a:xfrm>
        </p:spPr>
        <p:txBody>
          <a:bodyPr/>
          <a:lstStyle/>
          <a:p>
            <a:r>
              <a:rPr lang="ru-RU" sz="4400" dirty="0"/>
              <a:t>Средства и технологии разработки</a:t>
            </a:r>
            <a:endParaRPr lang="ru-RU" dirty="0"/>
          </a:p>
        </p:txBody>
      </p:sp>
      <p:sp>
        <p:nvSpPr>
          <p:cNvPr id="3" name="Объект 2">
            <a:extLst>
              <a:ext uri="{FF2B5EF4-FFF2-40B4-BE49-F238E27FC236}">
                <a16:creationId xmlns:a16="http://schemas.microsoft.com/office/drawing/2014/main" id="{A0F3E649-ADA8-4250-87FF-0757785BBB12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23783" y="1118586"/>
            <a:ext cx="10830017" cy="5513033"/>
          </a:xfrm>
        </p:spPr>
        <p:txBody>
          <a:bodyPr>
            <a:normAutofit fontScale="92500" lnSpcReduction="10000"/>
          </a:bodyPr>
          <a:lstStyle/>
          <a:p>
            <a:pPr algn="just"/>
            <a:r>
              <a:rPr lang="ru-RU" dirty="0"/>
              <a:t>Искусственный интеллект (ИИ) — это направление компьютерных наук, нацеленное на создание систем, способных выполнять задачи, требующие человеческого интеллекта.</a:t>
            </a:r>
            <a:endParaRPr lang="en-US" dirty="0"/>
          </a:p>
          <a:p>
            <a:pPr algn="just"/>
            <a:r>
              <a:rPr lang="ru-RU" dirty="0" err="1"/>
              <a:t>Свёрточные</a:t>
            </a:r>
            <a:r>
              <a:rPr lang="ru-RU" dirty="0"/>
              <a:t> нейронные сети (CNN) – архитектура глубокого обучения, автоматически извлекающая иерархические признаки из изображений. Идеально подходит для анализа мимики и детекции объектов в видеопотоке без ручного выделения характеристик.</a:t>
            </a:r>
          </a:p>
          <a:p>
            <a:pPr algn="just"/>
            <a:r>
              <a:rPr lang="ru-RU" dirty="0"/>
              <a:t>Рекуррентные нейронные сети и трансформеры – модели, оптимизированные для работы с последовательностями данных. Применяются для анализа аудиопотока, распознавания речи и выявления просодических маркеров эмоционального состояния.</a:t>
            </a:r>
          </a:p>
          <a:p>
            <a:pPr algn="just"/>
            <a:r>
              <a:rPr lang="ru-RU" dirty="0"/>
              <a:t>Мультимодальный анализ – методология совместной обработки разнородных данных (видео, аудио, текст), позволяющая компенсировать ограничения отдельных модальностей и повысить надёжность классификации в реальных условиях.</a:t>
            </a:r>
          </a:p>
        </p:txBody>
      </p:sp>
      <p:sp>
        <p:nvSpPr>
          <p:cNvPr id="5" name="Номер слайда 4">
            <a:extLst>
              <a:ext uri="{FF2B5EF4-FFF2-40B4-BE49-F238E27FC236}">
                <a16:creationId xmlns:a16="http://schemas.microsoft.com/office/drawing/2014/main" id="{05FBF554-F197-8F3F-ACC5-5580642F622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F9DB6E4-81A8-48FA-A111-413E3E85E768}" type="slidenum">
              <a:rPr lang="ru-RU" smtClean="0"/>
              <a:t>12</a:t>
            </a:fld>
            <a:endParaRPr lang="ru-RU" dirty="0"/>
          </a:p>
        </p:txBody>
      </p:sp>
    </p:spTree>
    <p:extLst>
      <p:ext uri="{BB962C8B-B14F-4D97-AF65-F5344CB8AC3E}">
        <p14:creationId xmlns:p14="http://schemas.microsoft.com/office/powerpoint/2010/main" val="2908790082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6AE47E73-D877-4497-A30F-9D6C2A47027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26720" y="502887"/>
            <a:ext cx="4806346" cy="1325563"/>
          </a:xfrm>
        </p:spPr>
        <p:txBody>
          <a:bodyPr>
            <a:normAutofit fontScale="90000"/>
          </a:bodyPr>
          <a:lstStyle/>
          <a:p>
            <a:r>
              <a:rPr lang="ru-RU" dirty="0"/>
              <a:t>Алгоритмическое обеспечение. Алгоритм работы программы</a:t>
            </a:r>
          </a:p>
        </p:txBody>
      </p:sp>
      <p:sp>
        <p:nvSpPr>
          <p:cNvPr id="3" name="Номер слайда 2">
            <a:extLst>
              <a:ext uri="{FF2B5EF4-FFF2-40B4-BE49-F238E27FC236}">
                <a16:creationId xmlns:a16="http://schemas.microsoft.com/office/drawing/2014/main" id="{7F01DB20-C1C1-2C1C-3C13-1BAAD2296A6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F9DB6E4-81A8-48FA-A111-413E3E85E768}" type="slidenum">
              <a:rPr lang="ru-RU" smtClean="0"/>
              <a:t>13</a:t>
            </a:fld>
            <a:endParaRPr lang="ru-RU" dirty="0"/>
          </a:p>
        </p:txBody>
      </p:sp>
      <p:pic>
        <p:nvPicPr>
          <p:cNvPr id="6" name="Рисунок 5" descr="Изображение выглядит как текст, снимок экрана, Шрифт, дизайн">
            <a:extLst>
              <a:ext uri="{FF2B5EF4-FFF2-40B4-BE49-F238E27FC236}">
                <a16:creationId xmlns:a16="http://schemas.microsoft.com/office/drawing/2014/main" id="{7706B93A-2B11-6CF7-0EF1-40E0C302D211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166616" y="368963"/>
            <a:ext cx="7855751" cy="612007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922315057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554A4237-7384-4D65-B40A-9F7802E2C2B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/>
              <a:t>Информационное обеспечение</a:t>
            </a:r>
          </a:p>
        </p:txBody>
      </p:sp>
      <p:sp>
        <p:nvSpPr>
          <p:cNvPr id="3" name="Объект 2">
            <a:extLst>
              <a:ext uri="{FF2B5EF4-FFF2-40B4-BE49-F238E27FC236}">
                <a16:creationId xmlns:a16="http://schemas.microsoft.com/office/drawing/2014/main" id="{A03513E5-CE54-4AB7-8986-EBEFE16031CF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76656" y="1690688"/>
            <a:ext cx="10677144" cy="4802187"/>
          </a:xfrm>
        </p:spPr>
        <p:txBody>
          <a:bodyPr>
            <a:normAutofit fontScale="92500" lnSpcReduction="20000"/>
          </a:bodyPr>
          <a:lstStyle/>
          <a:p>
            <a:pPr algn="just"/>
            <a:r>
              <a:rPr lang="ru-RU" dirty="0"/>
              <a:t>Информационное обеспечение АСУ – совокупность системно-ориентированных данных, описывающих принятый в системе словарь базовых описаний, классификаторы и актуализируемых данных о состоянии информационной модели на всех этапах жизненного цикла.</a:t>
            </a:r>
          </a:p>
          <a:p>
            <a:pPr algn="just"/>
            <a:r>
              <a:rPr lang="ru-RU" dirty="0"/>
              <a:t>Информационным обеспечением системы является набор обученных нейросетевых моделей, конфигурационных файлов и алгоритмов агрегации, с которыми взаимодействует программный комплекс.</a:t>
            </a:r>
          </a:p>
          <a:p>
            <a:pPr algn="just"/>
            <a:r>
              <a:rPr lang="ru-RU" dirty="0"/>
              <a:t>Входной информацией является:</a:t>
            </a:r>
          </a:p>
          <a:p>
            <a:pPr lvl="1" algn="just"/>
            <a:r>
              <a:rPr lang="ru-RU" dirty="0"/>
              <a:t>Видеопоток с веб-камеры (640×480+, 15–30 кадров/с, формат JPEG через </a:t>
            </a:r>
            <a:r>
              <a:rPr lang="ru-RU" dirty="0" err="1"/>
              <a:t>WebSocket</a:t>
            </a:r>
            <a:r>
              <a:rPr lang="ru-RU" dirty="0"/>
              <a:t>)</a:t>
            </a:r>
          </a:p>
          <a:p>
            <a:pPr lvl="1" algn="just"/>
            <a:r>
              <a:rPr lang="ru-RU" dirty="0"/>
              <a:t>Аудиопоток с микрофона (16 кГц, моно, формат </a:t>
            </a:r>
            <a:r>
              <a:rPr lang="ru-RU" dirty="0" err="1"/>
              <a:t>WebM</a:t>
            </a:r>
            <a:r>
              <a:rPr lang="ru-RU" dirty="0"/>
              <a:t>/Opus)</a:t>
            </a:r>
          </a:p>
          <a:p>
            <a:pPr algn="just"/>
            <a:r>
              <a:rPr lang="ru-RU" dirty="0"/>
              <a:t>Данные поступают непрерывно, обрабатываются в изолированных AI-шлюзах и сохраняются в реляционной СУБД с использованием формата JSONB для гибкого хранения разнородных аналитических событий.</a:t>
            </a:r>
          </a:p>
        </p:txBody>
      </p:sp>
      <p:sp>
        <p:nvSpPr>
          <p:cNvPr id="4" name="Номер слайда 3">
            <a:extLst>
              <a:ext uri="{FF2B5EF4-FFF2-40B4-BE49-F238E27FC236}">
                <a16:creationId xmlns:a16="http://schemas.microsoft.com/office/drawing/2014/main" id="{CC5BD3B4-94D6-9BF1-6ED5-AA71E42B8AE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F9DB6E4-81A8-48FA-A111-413E3E85E768}" type="slidenum">
              <a:rPr lang="ru-RU" smtClean="0"/>
              <a:t>14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419490598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Объект 2">
            <a:extLst>
              <a:ext uri="{FF2B5EF4-FFF2-40B4-BE49-F238E27FC236}">
                <a16:creationId xmlns:a16="http://schemas.microsoft.com/office/drawing/2014/main" id="{C9F7A7BF-345D-4464-BA61-1943803CE2E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74371" y="898762"/>
            <a:ext cx="11339093" cy="4011565"/>
          </a:xfrm>
        </p:spPr>
        <p:txBody>
          <a:bodyPr>
            <a:noAutofit/>
          </a:bodyPr>
          <a:lstStyle/>
          <a:p>
            <a:pPr marL="0" indent="0">
              <a:buNone/>
            </a:pPr>
            <a:r>
              <a:rPr lang="ru-RU" sz="2400" dirty="0"/>
              <a:t>Технологии:</a:t>
            </a:r>
          </a:p>
          <a:p>
            <a:pPr marL="0" indent="0">
              <a:buNone/>
            </a:pPr>
            <a:r>
              <a:rPr lang="ru-RU" sz="2400" dirty="0"/>
              <a:t>• MTCNN — детекция лиц и ключевых точек</a:t>
            </a:r>
          </a:p>
          <a:p>
            <a:pPr marL="0" indent="0">
              <a:buNone/>
            </a:pPr>
            <a:r>
              <a:rPr lang="ru-RU" sz="2400" dirty="0"/>
              <a:t>• </a:t>
            </a:r>
            <a:r>
              <a:rPr lang="ru-RU" sz="2400" dirty="0" err="1"/>
              <a:t>DeepFace</a:t>
            </a:r>
            <a:r>
              <a:rPr lang="ru-RU" sz="2400" dirty="0"/>
              <a:t> (VGG-Face, Facenet512) — классификация эмоций</a:t>
            </a:r>
          </a:p>
          <a:p>
            <a:pPr marL="0" indent="0">
              <a:buNone/>
            </a:pPr>
            <a:r>
              <a:rPr lang="ru-RU" sz="2400" dirty="0"/>
              <a:t>• </a:t>
            </a:r>
            <a:r>
              <a:rPr lang="ru-RU" sz="2400" dirty="0" err="1"/>
              <a:t>MediaPipe</a:t>
            </a:r>
            <a:r>
              <a:rPr lang="ru-RU" sz="2400" dirty="0"/>
              <a:t> Face </a:t>
            </a:r>
            <a:r>
              <a:rPr lang="ru-RU" sz="2400" dirty="0" err="1"/>
              <a:t>Landmarker</a:t>
            </a:r>
            <a:r>
              <a:rPr lang="ru-RU" sz="2400" dirty="0"/>
              <a:t> — 468 3D-точек, </a:t>
            </a:r>
            <a:r>
              <a:rPr lang="ru-RU" sz="2400" dirty="0" err="1"/>
              <a:t>blendshape</a:t>
            </a:r>
            <a:r>
              <a:rPr lang="ru-RU" sz="2400" dirty="0"/>
              <a:t>-коэффициенты</a:t>
            </a:r>
          </a:p>
          <a:p>
            <a:pPr marL="0" indent="0">
              <a:buNone/>
            </a:pPr>
            <a:r>
              <a:rPr lang="ru-RU" sz="2400" dirty="0"/>
              <a:t>Классификация по модели Пола Экмана:</a:t>
            </a:r>
          </a:p>
          <a:p>
            <a:pPr marL="0" indent="0">
              <a:buNone/>
            </a:pPr>
            <a:r>
              <a:rPr lang="ru-RU" sz="2400" dirty="0"/>
              <a:t>• Радость, грусть, гнев</a:t>
            </a:r>
          </a:p>
          <a:p>
            <a:pPr marL="0" indent="0">
              <a:buNone/>
            </a:pPr>
            <a:r>
              <a:rPr lang="ru-RU" sz="2400" dirty="0"/>
              <a:t>• Страх, удивление, отвращение</a:t>
            </a:r>
          </a:p>
          <a:p>
            <a:pPr marL="0" indent="0">
              <a:buNone/>
            </a:pPr>
            <a:r>
              <a:rPr lang="ru-RU" sz="2400" dirty="0"/>
              <a:t>Инженерная реализация:</a:t>
            </a:r>
          </a:p>
          <a:p>
            <a:pPr marL="0" indent="0">
              <a:buNone/>
            </a:pPr>
            <a:r>
              <a:rPr lang="ru-RU" sz="2400" dirty="0"/>
              <a:t>• Семафор для ограничения параллельных </a:t>
            </a:r>
            <a:r>
              <a:rPr lang="ru-RU" sz="2400" dirty="0" err="1"/>
              <a:t>инференсов</a:t>
            </a:r>
            <a:endParaRPr lang="ru-RU" sz="2400" dirty="0"/>
          </a:p>
          <a:p>
            <a:pPr marL="0" indent="0">
              <a:buNone/>
            </a:pPr>
            <a:r>
              <a:rPr lang="ru-RU" sz="2400" dirty="0"/>
              <a:t>• Адаптивная частота отправки кадров</a:t>
            </a:r>
          </a:p>
          <a:p>
            <a:pPr marL="0" indent="0">
              <a:buNone/>
            </a:pPr>
            <a:r>
              <a:rPr lang="ru-RU" sz="2400" dirty="0"/>
              <a:t>• Фильтрация ложных срабатываний</a:t>
            </a:r>
          </a:p>
        </p:txBody>
      </p:sp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1B58CB9A-86AF-B0B7-3E9B-73D49090883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74371" y="103553"/>
            <a:ext cx="10515600" cy="673688"/>
          </a:xfrm>
        </p:spPr>
        <p:txBody>
          <a:bodyPr>
            <a:normAutofit/>
          </a:bodyPr>
          <a:lstStyle/>
          <a:p>
            <a:r>
              <a:rPr lang="ru-RU" sz="4000" dirty="0"/>
              <a:t>Модуль анализа лица и эмоций</a:t>
            </a:r>
          </a:p>
        </p:txBody>
      </p:sp>
      <p:sp>
        <p:nvSpPr>
          <p:cNvPr id="5" name="Номер слайда 4">
            <a:extLst>
              <a:ext uri="{FF2B5EF4-FFF2-40B4-BE49-F238E27FC236}">
                <a16:creationId xmlns:a16="http://schemas.microsoft.com/office/drawing/2014/main" id="{6AC9E070-DAEE-B241-0A58-56DA4A87F8B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F9DB6E4-81A8-48FA-A111-413E3E85E768}" type="slidenum">
              <a:rPr lang="ru-RU" smtClean="0"/>
              <a:t>15</a:t>
            </a:fld>
            <a:endParaRPr lang="ru-RU" dirty="0"/>
          </a:p>
        </p:txBody>
      </p:sp>
    </p:spTree>
    <p:extLst>
      <p:ext uri="{BB962C8B-B14F-4D97-AF65-F5344CB8AC3E}">
        <p14:creationId xmlns:p14="http://schemas.microsoft.com/office/powerpoint/2010/main" val="3376878861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Объект 2">
            <a:extLst>
              <a:ext uri="{FF2B5EF4-FFF2-40B4-BE49-F238E27FC236}">
                <a16:creationId xmlns:a16="http://schemas.microsoft.com/office/drawing/2014/main" id="{C9F7A7BF-345D-4464-BA61-1943803CE2E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37032" y="839485"/>
            <a:ext cx="10515600" cy="5839612"/>
          </a:xfrm>
        </p:spPr>
        <p:txBody>
          <a:bodyPr>
            <a:noAutofit/>
          </a:bodyPr>
          <a:lstStyle/>
          <a:p>
            <a:pPr marL="0" indent="0" algn="just">
              <a:buNone/>
            </a:pPr>
            <a:r>
              <a:rPr lang="ru-RU" sz="2400" dirty="0"/>
              <a:t>Модель </a:t>
            </a:r>
            <a:r>
              <a:rPr lang="ru-RU" sz="2400" dirty="0" err="1"/>
              <a:t>Whisper</a:t>
            </a:r>
            <a:r>
              <a:rPr lang="ru-RU" sz="2400" dirty="0"/>
              <a:t> (OpenAI):</a:t>
            </a:r>
          </a:p>
          <a:p>
            <a:pPr marL="0" indent="0" algn="just">
              <a:buNone/>
            </a:pPr>
            <a:r>
              <a:rPr lang="ru-RU" sz="2400" dirty="0"/>
              <a:t>• </a:t>
            </a:r>
            <a:r>
              <a:rPr lang="ru-RU" sz="2400" dirty="0" err="1"/>
              <a:t>Encoder-decoder</a:t>
            </a:r>
            <a:r>
              <a:rPr lang="ru-RU" sz="2400" dirty="0"/>
              <a:t> трансформер</a:t>
            </a:r>
          </a:p>
          <a:p>
            <a:pPr marL="0" indent="0" algn="just">
              <a:buNone/>
            </a:pPr>
            <a:r>
              <a:rPr lang="ru-RU" sz="2400" dirty="0"/>
              <a:t>• Обучение на 680 000 часов аудиоданных</a:t>
            </a:r>
          </a:p>
          <a:p>
            <a:pPr marL="0" indent="0" algn="just">
              <a:buNone/>
            </a:pPr>
            <a:r>
              <a:rPr lang="ru-RU" sz="2400" dirty="0"/>
              <a:t>• Поддержка 99 языков</a:t>
            </a:r>
          </a:p>
          <a:p>
            <a:pPr marL="0" indent="0" algn="just">
              <a:buNone/>
            </a:pPr>
            <a:r>
              <a:rPr lang="ru-RU" sz="2400" dirty="0"/>
              <a:t>Оптимизация (</a:t>
            </a:r>
            <a:r>
              <a:rPr lang="ru-RU" sz="2400" dirty="0" err="1"/>
              <a:t>faster-whisper</a:t>
            </a:r>
            <a:r>
              <a:rPr lang="ru-RU" sz="2400" dirty="0"/>
              <a:t>):</a:t>
            </a:r>
          </a:p>
          <a:p>
            <a:pPr marL="0" indent="0" algn="just">
              <a:buNone/>
            </a:pPr>
            <a:r>
              <a:rPr lang="ru-RU" sz="2400" dirty="0"/>
              <a:t>• Квантование весов (float32 → int8/float16)</a:t>
            </a:r>
          </a:p>
          <a:p>
            <a:pPr marL="0" indent="0" algn="just">
              <a:buNone/>
            </a:pPr>
            <a:r>
              <a:rPr lang="ru-RU" sz="2400" dirty="0"/>
              <a:t>• Пакетная обработка (</a:t>
            </a:r>
            <a:r>
              <a:rPr lang="ru-RU" sz="2400" dirty="0" err="1"/>
              <a:t>batching</a:t>
            </a:r>
            <a:r>
              <a:rPr lang="ru-RU" sz="2400" dirty="0"/>
              <a:t>)</a:t>
            </a:r>
          </a:p>
          <a:p>
            <a:pPr marL="0" indent="0" algn="just">
              <a:buNone/>
            </a:pPr>
            <a:r>
              <a:rPr lang="ru-RU" sz="2400" dirty="0"/>
              <a:t>• Использование GPU</a:t>
            </a:r>
          </a:p>
          <a:p>
            <a:pPr marL="0" indent="0" algn="just">
              <a:buNone/>
            </a:pPr>
            <a:r>
              <a:rPr lang="ru-RU" sz="2400" dirty="0"/>
              <a:t>Результаты:</a:t>
            </a:r>
          </a:p>
          <a:p>
            <a:pPr marL="0" indent="0" algn="just">
              <a:buNone/>
            </a:pPr>
            <a:r>
              <a:rPr lang="ru-RU" sz="2400" dirty="0"/>
              <a:t>• </a:t>
            </a:r>
            <a:r>
              <a:rPr lang="ru-RU" sz="2400" dirty="0" err="1"/>
              <a:t>Транскрибация</a:t>
            </a:r>
            <a:r>
              <a:rPr lang="ru-RU" sz="2400" dirty="0"/>
              <a:t> речи в реальном времени</a:t>
            </a:r>
          </a:p>
          <a:p>
            <a:pPr marL="0" indent="0" algn="just">
              <a:buNone/>
            </a:pPr>
            <a:r>
              <a:rPr lang="ru-RU" sz="2400" dirty="0"/>
              <a:t>• Разделение реплик по участникам</a:t>
            </a:r>
          </a:p>
          <a:p>
            <a:pPr marL="0" indent="0" algn="just">
              <a:buNone/>
            </a:pPr>
            <a:r>
              <a:rPr lang="ru-RU" sz="2400" dirty="0"/>
              <a:t>• Временные метки для каждой реплики</a:t>
            </a:r>
          </a:p>
        </p:txBody>
      </p:sp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1B58CB9A-86AF-B0B7-3E9B-73D49090883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65811" y="176704"/>
            <a:ext cx="10515600" cy="1325563"/>
          </a:xfrm>
        </p:spPr>
        <p:txBody>
          <a:bodyPr>
            <a:normAutofit/>
          </a:bodyPr>
          <a:lstStyle/>
          <a:p>
            <a:r>
              <a:rPr lang="ru-RU" sz="4000" dirty="0"/>
              <a:t>Модуль распознавания речи (</a:t>
            </a:r>
            <a:r>
              <a:rPr lang="en-US" sz="4000" dirty="0"/>
              <a:t>ASR</a:t>
            </a:r>
            <a:r>
              <a:rPr lang="ru-RU" sz="4000" dirty="0"/>
              <a:t>)</a:t>
            </a:r>
          </a:p>
        </p:txBody>
      </p:sp>
      <p:sp>
        <p:nvSpPr>
          <p:cNvPr id="5" name="Номер слайда 4">
            <a:extLst>
              <a:ext uri="{FF2B5EF4-FFF2-40B4-BE49-F238E27FC236}">
                <a16:creationId xmlns:a16="http://schemas.microsoft.com/office/drawing/2014/main" id="{20F5E886-65AE-3D29-A128-93D0A6C755B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F9DB6E4-81A8-48FA-A111-413E3E85E768}" type="slidenum">
              <a:rPr lang="ru-RU" smtClean="0"/>
              <a:t>16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81831545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Объект 2">
            <a:extLst>
              <a:ext uri="{FF2B5EF4-FFF2-40B4-BE49-F238E27FC236}">
                <a16:creationId xmlns:a16="http://schemas.microsoft.com/office/drawing/2014/main" id="{C9F7A7BF-345D-4464-BA61-1943803CE2E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37032" y="839485"/>
            <a:ext cx="10515600" cy="5839612"/>
          </a:xfrm>
        </p:spPr>
        <p:txBody>
          <a:bodyPr>
            <a:noAutofit/>
          </a:bodyPr>
          <a:lstStyle/>
          <a:p>
            <a:pPr marL="0" indent="0" algn="just">
              <a:buNone/>
            </a:pPr>
            <a:r>
              <a:rPr lang="ru-RU" sz="2400" dirty="0"/>
              <a:t>Модуль </a:t>
            </a:r>
            <a:r>
              <a:rPr lang="ru-RU" sz="2400" dirty="0" err="1"/>
              <a:t>Sentiment</a:t>
            </a:r>
            <a:r>
              <a:rPr lang="ru-RU" sz="2400" dirty="0"/>
              <a:t> Analysis:</a:t>
            </a:r>
          </a:p>
          <a:p>
            <a:pPr marL="0" indent="0" algn="just">
              <a:buNone/>
            </a:pPr>
            <a:r>
              <a:rPr lang="ru-RU" sz="2400" dirty="0"/>
              <a:t>• Легковесная </a:t>
            </a:r>
            <a:r>
              <a:rPr lang="ru-RU" sz="2400" dirty="0" err="1"/>
              <a:t>трансформерная</a:t>
            </a:r>
            <a:r>
              <a:rPr lang="ru-RU" sz="2400" dirty="0"/>
              <a:t> модель </a:t>
            </a:r>
            <a:r>
              <a:rPr lang="ru-RU" sz="2400"/>
              <a:t>DistilBERT</a:t>
            </a:r>
            <a:endParaRPr lang="ru-RU" sz="2400" dirty="0"/>
          </a:p>
          <a:p>
            <a:pPr marL="0" indent="0" algn="just">
              <a:buNone/>
            </a:pPr>
            <a:r>
              <a:rPr lang="ru-RU" sz="2400" dirty="0"/>
              <a:t>• Классификация тональности: позитивная / нейтральная / негативная</a:t>
            </a:r>
          </a:p>
          <a:p>
            <a:pPr marL="0" indent="0" algn="just">
              <a:buNone/>
            </a:pPr>
            <a:r>
              <a:rPr lang="ru-RU" sz="2400" dirty="0"/>
              <a:t>Алгоритм работы:</a:t>
            </a:r>
          </a:p>
          <a:p>
            <a:pPr marL="0" indent="0" algn="just">
              <a:buNone/>
            </a:pPr>
            <a:r>
              <a:rPr lang="ru-RU" sz="2400" dirty="0"/>
              <a:t>1. Сегментация и </a:t>
            </a:r>
            <a:r>
              <a:rPr lang="ru-RU" sz="2400" dirty="0" err="1"/>
              <a:t>токенизация</a:t>
            </a:r>
            <a:r>
              <a:rPr lang="ru-RU" sz="2400" dirty="0"/>
              <a:t> транскрипта</a:t>
            </a:r>
          </a:p>
          <a:p>
            <a:pPr marL="0" indent="0" algn="just">
              <a:buNone/>
            </a:pPr>
            <a:r>
              <a:rPr lang="ru-RU" sz="2400" dirty="0"/>
              <a:t>2. </a:t>
            </a:r>
            <a:r>
              <a:rPr lang="ru-RU" sz="2400" dirty="0" err="1"/>
              <a:t>Инференс</a:t>
            </a:r>
            <a:r>
              <a:rPr lang="ru-RU" sz="2400" dirty="0"/>
              <a:t> модели</a:t>
            </a:r>
          </a:p>
          <a:p>
            <a:pPr marL="0" indent="0" algn="just">
              <a:buNone/>
            </a:pPr>
            <a:r>
              <a:rPr lang="ru-RU" sz="2400" dirty="0"/>
              <a:t>3. Присвоение метки тональности</a:t>
            </a:r>
          </a:p>
          <a:p>
            <a:pPr marL="0" indent="0" algn="just">
              <a:buNone/>
            </a:pPr>
            <a:r>
              <a:rPr lang="ru-RU" sz="2400" dirty="0"/>
              <a:t>Интеграция:</a:t>
            </a:r>
          </a:p>
          <a:p>
            <a:pPr marL="0" indent="0" algn="just">
              <a:buNone/>
            </a:pPr>
            <a:r>
              <a:rPr lang="ru-RU" sz="2400" dirty="0"/>
              <a:t>• Сохранение в JSONB с привязкой к временным меткам</a:t>
            </a:r>
          </a:p>
          <a:p>
            <a:pPr marL="0" indent="0" algn="just">
              <a:buNone/>
            </a:pPr>
            <a:r>
              <a:rPr lang="ru-RU" sz="2400" dirty="0"/>
              <a:t>• Сопоставление с визуальными и акустическими признаками</a:t>
            </a:r>
          </a:p>
          <a:p>
            <a:pPr marL="0" indent="0" algn="just">
              <a:buNone/>
            </a:pPr>
            <a:r>
              <a:rPr lang="ru-RU" sz="2400" dirty="0"/>
              <a:t>• Принцип </a:t>
            </a:r>
            <a:r>
              <a:rPr lang="ru-RU" sz="2400" dirty="0" err="1"/>
              <a:t>late</a:t>
            </a:r>
            <a:r>
              <a:rPr lang="ru-RU" sz="2400" dirty="0"/>
              <a:t> </a:t>
            </a:r>
            <a:r>
              <a:rPr lang="ru-RU" sz="2400" dirty="0" err="1"/>
              <a:t>fusion</a:t>
            </a:r>
            <a:r>
              <a:rPr lang="ru-RU" sz="2400" dirty="0"/>
              <a:t> при формировании отчёта</a:t>
            </a:r>
          </a:p>
        </p:txBody>
      </p:sp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1B58CB9A-86AF-B0B7-3E9B-73D49090883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65811" y="176704"/>
            <a:ext cx="10515600" cy="1325563"/>
          </a:xfrm>
        </p:spPr>
        <p:txBody>
          <a:bodyPr>
            <a:normAutofit/>
          </a:bodyPr>
          <a:lstStyle/>
          <a:p>
            <a:r>
              <a:rPr lang="ru-RU" sz="4000" dirty="0"/>
              <a:t>Анализ тональности текста (</a:t>
            </a:r>
            <a:r>
              <a:rPr lang="en-US" sz="4000" dirty="0"/>
              <a:t>NLP)</a:t>
            </a:r>
          </a:p>
        </p:txBody>
      </p:sp>
      <p:sp>
        <p:nvSpPr>
          <p:cNvPr id="5" name="Номер слайда 4">
            <a:extLst>
              <a:ext uri="{FF2B5EF4-FFF2-40B4-BE49-F238E27FC236}">
                <a16:creationId xmlns:a16="http://schemas.microsoft.com/office/drawing/2014/main" id="{20F5E886-65AE-3D29-A128-93D0A6C755B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F9DB6E4-81A8-48FA-A111-413E3E85E768}" type="slidenum">
              <a:rPr lang="ru-RU" smtClean="0"/>
              <a:t>17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215583211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Объект 2">
            <a:extLst>
              <a:ext uri="{FF2B5EF4-FFF2-40B4-BE49-F238E27FC236}">
                <a16:creationId xmlns:a16="http://schemas.microsoft.com/office/drawing/2014/main" id="{C9F7A7BF-345D-4464-BA61-1943803CE2E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19164" y="969118"/>
            <a:ext cx="4856924" cy="5839612"/>
          </a:xfrm>
        </p:spPr>
        <p:txBody>
          <a:bodyPr>
            <a:normAutofit/>
          </a:bodyPr>
          <a:lstStyle/>
          <a:p>
            <a:pPr algn="just"/>
            <a:r>
              <a:rPr lang="ru-RU" sz="1800" dirty="0"/>
              <a:t>В связи с необходимостью более детального анализа мимики и положения головы в пространстве, в систему интегрирована модель </a:t>
            </a:r>
            <a:r>
              <a:rPr lang="ru-RU" sz="1800" dirty="0" err="1"/>
              <a:t>MediaPipe</a:t>
            </a:r>
            <a:r>
              <a:rPr lang="ru-RU" sz="1800" dirty="0"/>
              <a:t> Face </a:t>
            </a:r>
            <a:r>
              <a:rPr lang="ru-RU" sz="1800" dirty="0" err="1"/>
              <a:t>Landmarker</a:t>
            </a:r>
            <a:r>
              <a:rPr lang="ru-RU" sz="1800" dirty="0"/>
              <a:t> от Google.</a:t>
            </a:r>
          </a:p>
          <a:p>
            <a:pPr algn="just"/>
            <a:r>
              <a:rPr lang="ru-RU" sz="1800" dirty="0"/>
              <a:t>На вход модели подаётся выровненное изображение лица. Модель строит плотную сетку из 468 трёхмерных ключевых точек, охватывающих контуры глаз, бровей, носа, губ и овала лица.</a:t>
            </a:r>
          </a:p>
          <a:p>
            <a:pPr algn="just"/>
            <a:r>
              <a:rPr lang="ru-RU" sz="1800" dirty="0"/>
              <a:t>На выходе формируются </a:t>
            </a:r>
            <a:r>
              <a:rPr lang="ru-RU" sz="1800" dirty="0" err="1"/>
              <a:t>blendshape</a:t>
            </a:r>
            <a:r>
              <a:rPr lang="ru-RU" sz="1800" dirty="0"/>
              <a:t>-коэффициенты (активность групп лицевых мышц), углы поворота головы (</a:t>
            </a:r>
            <a:r>
              <a:rPr lang="ru-RU" sz="1800" dirty="0" err="1"/>
              <a:t>yaw</a:t>
            </a:r>
            <a:r>
              <a:rPr lang="ru-RU" sz="1800" dirty="0"/>
              <a:t>, </a:t>
            </a:r>
            <a:r>
              <a:rPr lang="ru-RU" sz="1800" dirty="0" err="1"/>
              <a:t>pitch</a:t>
            </a:r>
            <a:r>
              <a:rPr lang="ru-RU" sz="1800" dirty="0"/>
              <a:t>, </a:t>
            </a:r>
            <a:r>
              <a:rPr lang="ru-RU" sz="1800" dirty="0" err="1"/>
              <a:t>roll</a:t>
            </a:r>
            <a:r>
              <a:rPr lang="ru-RU" sz="1800" dirty="0"/>
              <a:t>) и данные для отслеживания </a:t>
            </a:r>
            <a:r>
              <a:rPr lang="ru-RU" sz="1800" dirty="0" err="1"/>
              <a:t>микровыражений</a:t>
            </a:r>
            <a:r>
              <a:rPr lang="ru-RU" sz="1800" dirty="0"/>
              <a:t>.</a:t>
            </a:r>
          </a:p>
          <a:p>
            <a:pPr algn="just"/>
            <a:r>
              <a:rPr lang="ru-RU" sz="1800" dirty="0"/>
              <a:t>Модель перезаписывает и обогащает базовые данные классификации, позволяя системе учитывать не только статические эмоции, но и динамику мимики</a:t>
            </a:r>
            <a:r>
              <a:rPr lang="en-US" sz="1800" dirty="0"/>
              <a:t>.</a:t>
            </a:r>
            <a:endParaRPr lang="ru-RU" sz="1800" dirty="0"/>
          </a:p>
        </p:txBody>
      </p:sp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1B58CB9A-86AF-B0B7-3E9B-73D49090883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19164" y="103552"/>
            <a:ext cx="10515600" cy="1325563"/>
          </a:xfrm>
        </p:spPr>
        <p:txBody>
          <a:bodyPr>
            <a:normAutofit/>
          </a:bodyPr>
          <a:lstStyle/>
          <a:p>
            <a:r>
              <a:rPr lang="ru-RU" sz="4000" dirty="0"/>
              <a:t>Модель </a:t>
            </a:r>
            <a:r>
              <a:rPr lang="en-US" sz="4000" dirty="0" err="1"/>
              <a:t>MediaPipe</a:t>
            </a:r>
            <a:r>
              <a:rPr lang="en-US" sz="4000" dirty="0"/>
              <a:t> Face </a:t>
            </a:r>
            <a:r>
              <a:rPr lang="en-US" sz="4000" dirty="0" err="1"/>
              <a:t>Landmarker</a:t>
            </a:r>
            <a:endParaRPr lang="en-US" sz="4000" dirty="0"/>
          </a:p>
        </p:txBody>
      </p:sp>
      <p:pic>
        <p:nvPicPr>
          <p:cNvPr id="7" name="Рисунок 6" descr="Задача &quot;Опорный знак на лице&quot;">
            <a:extLst>
              <a:ext uri="{FF2B5EF4-FFF2-40B4-BE49-F238E27FC236}">
                <a16:creationId xmlns:a16="http://schemas.microsoft.com/office/drawing/2014/main" id="{AC6A1973-8F20-E21C-8984-347E22110987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832411" y="1429115"/>
            <a:ext cx="5940425" cy="3256280"/>
          </a:xfrm>
          <a:prstGeom prst="rect">
            <a:avLst/>
          </a:prstGeom>
          <a:noFill/>
          <a:ln>
            <a:noFill/>
          </a:ln>
        </p:spPr>
      </p:pic>
      <p:sp>
        <p:nvSpPr>
          <p:cNvPr id="5" name="Номер слайда 4">
            <a:extLst>
              <a:ext uri="{FF2B5EF4-FFF2-40B4-BE49-F238E27FC236}">
                <a16:creationId xmlns:a16="http://schemas.microsoft.com/office/drawing/2014/main" id="{C938FBF3-4A9B-D591-C9C7-E929397E9F7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F9DB6E4-81A8-48FA-A111-413E3E85E768}" type="slidenum">
              <a:rPr lang="ru-RU" smtClean="0"/>
              <a:t>18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441378147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Заголовок 8">
            <a:extLst>
              <a:ext uri="{FF2B5EF4-FFF2-40B4-BE49-F238E27FC236}">
                <a16:creationId xmlns:a16="http://schemas.microsoft.com/office/drawing/2014/main" id="{97468337-8816-F43C-CDDA-7015138208A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03504" y="93216"/>
            <a:ext cx="10515600" cy="1325563"/>
          </a:xfrm>
        </p:spPr>
        <p:txBody>
          <a:bodyPr/>
          <a:lstStyle/>
          <a:p>
            <a:r>
              <a:rPr lang="ru-RU" dirty="0"/>
              <a:t>Интерфейс системы</a:t>
            </a:r>
          </a:p>
        </p:txBody>
      </p:sp>
      <p:sp>
        <p:nvSpPr>
          <p:cNvPr id="2" name="Номер слайда 1">
            <a:extLst>
              <a:ext uri="{FF2B5EF4-FFF2-40B4-BE49-F238E27FC236}">
                <a16:creationId xmlns:a16="http://schemas.microsoft.com/office/drawing/2014/main" id="{2DA7844C-4845-591E-A755-516346161CE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F9DB6E4-81A8-48FA-A111-413E3E85E768}" type="slidenum">
              <a:rPr lang="ru-RU" smtClean="0"/>
              <a:t>19</a:t>
            </a:fld>
            <a:endParaRPr lang="ru-RU"/>
          </a:p>
        </p:txBody>
      </p:sp>
      <p:pic>
        <p:nvPicPr>
          <p:cNvPr id="3" name="Рисунок 2">
            <a:extLst>
              <a:ext uri="{FF2B5EF4-FFF2-40B4-BE49-F238E27FC236}">
                <a16:creationId xmlns:a16="http://schemas.microsoft.com/office/drawing/2014/main" id="{D33FE67C-39AF-9CC6-D363-97D9E422D54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690963" y="1079214"/>
            <a:ext cx="9368101" cy="469957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695925043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8E4679AE-9695-41ED-964A-F63B6DC860B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181992"/>
            <a:ext cx="10515600" cy="1325563"/>
          </a:xfrm>
        </p:spPr>
        <p:txBody>
          <a:bodyPr/>
          <a:lstStyle/>
          <a:p>
            <a:r>
              <a:rPr lang="ru-RU" dirty="0"/>
              <a:t>Заключение</a:t>
            </a:r>
          </a:p>
        </p:txBody>
      </p:sp>
      <p:sp>
        <p:nvSpPr>
          <p:cNvPr id="3" name="Объект 2">
            <a:extLst>
              <a:ext uri="{FF2B5EF4-FFF2-40B4-BE49-F238E27FC236}">
                <a16:creationId xmlns:a16="http://schemas.microsoft.com/office/drawing/2014/main" id="{8DA6D676-1DC8-4A9C-81A7-79527C288AD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367162"/>
            <a:ext cx="10515600" cy="5308846"/>
          </a:xfrm>
        </p:spPr>
        <p:txBody>
          <a:bodyPr>
            <a:normAutofit fontScale="92500" lnSpcReduction="10000"/>
          </a:bodyPr>
          <a:lstStyle/>
          <a:p>
            <a:pPr marL="514350" indent="-514350" algn="just">
              <a:buFont typeface="+mj-lt"/>
              <a:buAutoNum type="arabicPeriod"/>
            </a:pPr>
            <a:r>
              <a:rPr lang="ru-RU" dirty="0"/>
              <a:t>Изучена предметная область</a:t>
            </a:r>
          </a:p>
          <a:p>
            <a:pPr marL="514350" indent="-514350" algn="just">
              <a:buFont typeface="+mj-lt"/>
              <a:buAutoNum type="arabicPeriod"/>
            </a:pPr>
            <a:r>
              <a:rPr lang="ru-RU" dirty="0"/>
              <a:t>Проведён обзор аналогов</a:t>
            </a:r>
          </a:p>
          <a:p>
            <a:pPr marL="514350" indent="-514350" algn="just">
              <a:buFont typeface="+mj-lt"/>
              <a:buAutoNum type="arabicPeriod"/>
            </a:pPr>
            <a:r>
              <a:rPr lang="ru-RU" dirty="0"/>
              <a:t>Составлен перечень функциональных задач</a:t>
            </a:r>
          </a:p>
          <a:p>
            <a:pPr marL="514350" indent="-514350" algn="just">
              <a:buFont typeface="+mj-lt"/>
              <a:buAutoNum type="arabicPeriod"/>
            </a:pPr>
            <a:r>
              <a:rPr lang="ru-RU" dirty="0"/>
              <a:t>Выбраны модели ИНС (CNN, </a:t>
            </a:r>
            <a:r>
              <a:rPr lang="ru-RU" dirty="0" err="1"/>
              <a:t>Transformer</a:t>
            </a:r>
            <a:r>
              <a:rPr lang="ru-RU" dirty="0"/>
              <a:t>, NLP)</a:t>
            </a:r>
          </a:p>
          <a:p>
            <a:pPr marL="514350" indent="-514350" algn="just">
              <a:buFont typeface="+mj-lt"/>
              <a:buAutoNum type="arabicPeriod"/>
            </a:pPr>
            <a:r>
              <a:rPr lang="ru-RU" dirty="0"/>
              <a:t>Спроектирована функциональная модель и декомпозиция</a:t>
            </a:r>
          </a:p>
          <a:p>
            <a:pPr marL="514350" indent="-514350" algn="just">
              <a:buFont typeface="+mj-lt"/>
              <a:buAutoNum type="arabicPeriod"/>
            </a:pPr>
            <a:r>
              <a:rPr lang="ru-RU" dirty="0"/>
              <a:t>Выбраны средства разработки (</a:t>
            </a:r>
            <a:r>
              <a:rPr lang="ru-RU" dirty="0" err="1"/>
              <a:t>React</a:t>
            </a:r>
            <a:r>
              <a:rPr lang="ru-RU" dirty="0"/>
              <a:t>, Go, Python, </a:t>
            </a:r>
            <a:r>
              <a:rPr lang="ru-RU" dirty="0" err="1"/>
              <a:t>PostgreSQL</a:t>
            </a:r>
            <a:r>
              <a:rPr lang="ru-RU" dirty="0"/>
              <a:t>)</a:t>
            </a:r>
          </a:p>
          <a:p>
            <a:pPr marL="514350" indent="-514350" algn="just">
              <a:buFont typeface="+mj-lt"/>
              <a:buAutoNum type="arabicPeriod"/>
            </a:pPr>
            <a:r>
              <a:rPr lang="ru-RU" dirty="0"/>
              <a:t>Подготовлена пояснительная записка</a:t>
            </a:r>
          </a:p>
          <a:p>
            <a:pPr algn="just"/>
            <a:endParaRPr lang="ru-RU" dirty="0"/>
          </a:p>
          <a:p>
            <a:pPr marL="0" indent="0" algn="just">
              <a:buNone/>
            </a:pPr>
            <a:r>
              <a:rPr lang="ru-RU" dirty="0"/>
              <a:t>Перспективы развития:</a:t>
            </a:r>
          </a:p>
          <a:p>
            <a:pPr algn="just"/>
            <a:r>
              <a:rPr lang="ru-RU" dirty="0"/>
              <a:t>Замена эвристических алгоритмов на нейросетевые модели агрегации</a:t>
            </a:r>
          </a:p>
          <a:p>
            <a:pPr algn="just"/>
            <a:r>
              <a:rPr lang="ru-RU" dirty="0"/>
              <a:t>Оптимизация потоковой </a:t>
            </a:r>
            <a:r>
              <a:rPr lang="ru-RU" dirty="0" err="1"/>
              <a:t>транскрибации</a:t>
            </a:r>
            <a:r>
              <a:rPr lang="ru-RU" dirty="0"/>
              <a:t> (</a:t>
            </a:r>
            <a:r>
              <a:rPr lang="ru-RU" dirty="0" err="1"/>
              <a:t>streaming</a:t>
            </a:r>
            <a:r>
              <a:rPr lang="ru-RU" dirty="0"/>
              <a:t> ASR)</a:t>
            </a:r>
          </a:p>
          <a:p>
            <a:pPr algn="just"/>
            <a:r>
              <a:rPr lang="ru-RU" dirty="0"/>
              <a:t>Интеграция с корпоративными HRM-системами</a:t>
            </a:r>
          </a:p>
        </p:txBody>
      </p:sp>
      <p:sp>
        <p:nvSpPr>
          <p:cNvPr id="5" name="Номер слайда 4">
            <a:extLst>
              <a:ext uri="{FF2B5EF4-FFF2-40B4-BE49-F238E27FC236}">
                <a16:creationId xmlns:a16="http://schemas.microsoft.com/office/drawing/2014/main" id="{09D63931-887F-15C8-43DC-CD5EEB99069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F9DB6E4-81A8-48FA-A111-413E3E85E768}" type="slidenum">
              <a:rPr lang="ru-RU" smtClean="0"/>
              <a:t>20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3186821950"/>
      </p:ext>
    </p:extLst>
  </p:cSld>
  <p:clrMapOvr>
    <a:masterClrMapping/>
  </p:clrMapOvr>
</p:sld>
</file>

<file path=ppt/theme/theme1.xml><?xml version="1.0" encoding="utf-8"?>
<a:theme xmlns:a="http://schemas.openxmlformats.org/drawingml/2006/main" name="Тема Office">
  <a:themeElements>
    <a:clrScheme name="Стандартная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Стандартная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Стандартная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Тема Office">
  <a:themeElements>
    <a:clrScheme name="Стандартная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Стандартная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Стандартная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3.xml><?xml version="1.0" encoding="utf-8"?>
<a:theme xmlns:a="http://schemas.openxmlformats.org/drawingml/2006/main" name="Тема Office">
  <a:themeElements>
    <a:clrScheme name="Стандартная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Стандартная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Стандартная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319</TotalTime>
  <Words>876</Words>
  <Application>Microsoft Office PowerPoint</Application>
  <PresentationFormat>Широкоэкранный</PresentationFormat>
  <Paragraphs>134</Paragraphs>
  <Slides>20</Slides>
  <Notes>0</Notes>
  <HiddenSlides>0</HiddenSlides>
  <MMClips>0</MMClips>
  <ScaleCrop>false</ScaleCrop>
  <HeadingPairs>
    <vt:vector size="6" baseType="variant">
      <vt:variant>
        <vt:lpstr>Использованные шрифты</vt:lpstr>
      </vt:variant>
      <vt:variant>
        <vt:i4>4</vt:i4>
      </vt:variant>
      <vt:variant>
        <vt:lpstr>Тема</vt:lpstr>
      </vt:variant>
      <vt:variant>
        <vt:i4>1</vt:i4>
      </vt:variant>
      <vt:variant>
        <vt:lpstr>Заголовки слайдов</vt:lpstr>
      </vt:variant>
      <vt:variant>
        <vt:i4>20</vt:i4>
      </vt:variant>
    </vt:vector>
  </HeadingPairs>
  <TitlesOfParts>
    <vt:vector size="25" baseType="lpstr">
      <vt:lpstr>Aptos</vt:lpstr>
      <vt:lpstr>Arial</vt:lpstr>
      <vt:lpstr>Calibri</vt:lpstr>
      <vt:lpstr>Times New Roman</vt:lpstr>
      <vt:lpstr>Тема Office</vt:lpstr>
      <vt:lpstr>ВЫПУСКНАЯ КВАЛИФИКАЦИОННАЯ РАБОТА</vt:lpstr>
      <vt:lpstr>Цель и задачи практики</vt:lpstr>
      <vt:lpstr>Актуальность</vt:lpstr>
      <vt:lpstr>Существующие решения:</vt:lpstr>
      <vt:lpstr>BPMN-диаграмма бизнес-процесса</vt:lpstr>
      <vt:lpstr>IDEF0-диаграмма</vt:lpstr>
      <vt:lpstr>Декомпозиция IDEF0</vt:lpstr>
      <vt:lpstr>DFD-диаграмма потоков данных</vt:lpstr>
      <vt:lpstr>ER-модель базы данных</vt:lpstr>
      <vt:lpstr>Логическая модель базы данных</vt:lpstr>
      <vt:lpstr>Средства и технологии разработки</vt:lpstr>
      <vt:lpstr>Средства и технологии разработки</vt:lpstr>
      <vt:lpstr>Алгоритмическое обеспечение. Алгоритм работы программы</vt:lpstr>
      <vt:lpstr>Информационное обеспечение</vt:lpstr>
      <vt:lpstr>Модуль анализа лица и эмоций</vt:lpstr>
      <vt:lpstr>Модуль распознавания речи (ASR)</vt:lpstr>
      <vt:lpstr>Анализ тональности текста (NLP)</vt:lpstr>
      <vt:lpstr>Модель MediaPipe Face Landmarker</vt:lpstr>
      <vt:lpstr>Интерфейс системы</vt:lpstr>
      <vt:lpstr>Заключение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ПРОИЗВОДСТВЕННАЯ ПРАКТИКА, ПРЕДДИПЛОМНАЯ ПРАКТИКА</dc:title>
  <dc:creator>Роман Чирко</dc:creator>
  <cp:lastModifiedBy>Виталий Демьянцев</cp:lastModifiedBy>
  <cp:revision>195</cp:revision>
  <dcterms:created xsi:type="dcterms:W3CDTF">2024-05-28T15:56:43Z</dcterms:created>
  <dcterms:modified xsi:type="dcterms:W3CDTF">2026-06-22T07:25:03Z</dcterms:modified>
</cp:coreProperties>
</file>