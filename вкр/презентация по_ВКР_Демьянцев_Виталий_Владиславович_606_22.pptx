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96" r:id="rId5"/>
    <p:sldId id="297" r:id="rId6"/>
    <p:sldId id="298" r:id="rId7"/>
    <p:sldId id="299" r:id="rId8"/>
    <p:sldId id="300" r:id="rId9"/>
    <p:sldId id="301" r:id="rId10"/>
    <p:sldId id="295" r:id="rId11"/>
    <p:sldId id="259" r:id="rId12"/>
    <p:sldId id="287" r:id="rId13"/>
    <p:sldId id="294" r:id="rId14"/>
    <p:sldId id="266" r:id="rId15"/>
    <p:sldId id="260" r:id="rId16"/>
    <p:sldId id="288" r:id="rId17"/>
    <p:sldId id="302" r:id="rId18"/>
    <p:sldId id="284" r:id="rId19"/>
    <p:sldId id="289" r:id="rId20"/>
    <p:sldId id="280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EF1F35D-CE6B-ADDB-FDB9-CD9C55B407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8B66112-651F-AEBD-6B85-767E04E75F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40263-EA9F-497A-96B0-1CCF8BC43BB1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7B29B0-EAB6-0B0C-CB03-B9C31452932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958B48-5A14-EDA4-AC95-A317551274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B2736-D875-4BC4-8EB6-BA4CC5004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0271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74A11-D777-4A21-A270-6F8A09B2D137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B6E01-9A66-45F7-9913-E47108469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704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8BE10-CF6A-433B-A665-B07A0F5F1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2B8DFD-3DE7-4FBB-9379-4CA65BD52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9C10B6-9AD9-48F7-8A51-653EBDA6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6E196-4804-4F42-898A-0FC902D9B484}" type="datetime1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95CF36-2944-4819-9146-7A1DED1EA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57A1D-78F6-4A51-BE24-BBABD28DC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26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71673-A45B-40E8-8606-A35A0D982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615B0D-2B65-4A3B-9210-B8D32D10B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644779-8B0E-4870-BE22-68D8EC4E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03C7D8F-2A26-4A8C-918C-F8DEED5C5692}" type="datetime1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9BE05C-2C3A-41C6-8170-5C71526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5380D7-1212-4185-8C9F-DA456C4D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9064" y="6521570"/>
            <a:ext cx="1124309" cy="3364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9DB6E4-81A8-48FA-A111-413E3E85E7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426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B186F-FA08-4D4E-967C-1F799E31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71C260-AFB2-4F3F-9F9D-D70FCC9CA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6EF3DB-C509-46F4-A47B-CB52ED4287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F38BAD-298E-4C7C-BB8A-26FD3D33ECCE}" type="datetime1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7B894F-8017-40E9-BE58-EE2B32DC7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885ACA-E8F7-448C-92B8-76FCF2F5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86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9F36F-C100-425F-A6D4-442C831C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1CB49F-A20E-4BC1-B7B9-AB2678E66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6BDC06-E41E-45A8-92F3-F23B09C87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C4B84D-F0BD-41AC-B75E-7ED71D51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74C74B-F198-4F1D-A85F-7D813148100B}" type="datetime1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1283D-6573-461F-BE8C-92BE392CF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5D11FB-AD6E-4F64-BA97-F9B790FC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87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3FE31-F08D-4F78-BB13-D092EA9D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7FB431-4874-4F08-BB5A-F0A67B68B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8FB0E6-7B7E-4DA1-879B-E5DD6EACC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53BC42D-0B1D-40F8-957F-325992615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68AD02-CE5C-405A-B4AB-47C8A3E9F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DF9323-1E59-422D-B5E1-53CEED96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4B2F3-C8F7-4496-AB1D-5B712B52D4CC}" type="datetime1">
              <a:rPr lang="ru-RU" smtClean="0"/>
              <a:t>22.06.2026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CBBE23A-C69D-4BC4-A044-7DE420DF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9FAECF8-2DB3-483A-A51A-72E3F321C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06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525297-E1DF-4F49-844C-B5004B49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68D61B0-571E-4634-820D-BE8C43CD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017ECC-D4AC-4388-A12E-1F5EBDCBE0DE}" type="datetime1">
              <a:rPr lang="ru-RU" smtClean="0"/>
              <a:t>22.06.2026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C9AB50D-DED9-4F09-B633-0D1A479C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A73912-C4BB-4DEC-8A81-A4DC61AB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57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68E753-EE03-4932-B563-6CB3695FB5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ABE4D9-AEC4-4B77-B4CC-7FBE63FE841C}" type="datetime1">
              <a:rPr lang="ru-RU" smtClean="0"/>
              <a:t>22.06.2026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4E1FC9-E731-4E2E-A678-2EAC238D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8D96B6-73F8-42DC-9693-AEA5C147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700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F7A58-7B76-41EA-8ED3-27762161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DCBBDE-E02C-456B-AFF6-4B3969FB4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13A34A-7160-46D2-B526-1ABBF48DD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D33588-48BF-4723-90C0-34EB6673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664E07-3D79-4A05-BB0B-898AD5671495}" type="datetime1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FBFF21-15CB-4547-87C3-5DF872D3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A8FAE0-BB62-42BB-832B-D94B813F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01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DFCD8-53BB-4463-BF82-6C7CA9DAB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55AB4A-951B-4140-B839-C72779208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1F6312-54B5-4ADE-81FB-8EBE6FDA7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805582-3CBF-48EF-8D6B-EF8C6060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552C21-0914-4B44-973B-AE86C28FD0CC}" type="datetime1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90B654-3B75-40D0-83FE-24DFB98C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DCD482-790B-436A-A99F-2E534C50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10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9B58C2-21EA-44AA-B7F3-4E258A3F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B08977-A57D-4110-80B2-538505DEF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FB0C64-00AF-4066-9CEE-B34830B9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5369D4-ACF4-452B-B065-8EB5038972C3}" type="datetime1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415E4B-6CBF-47BB-BE97-CAE8A940B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A9E350-9987-4E2A-A7EC-08500BFB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37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CAE9B5-8DBF-43B5-9DE5-AF658E080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2826EE-6F4D-4E7B-93E9-708EE53AB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9952D-ECC0-4EE7-AD58-1F630F8427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B40BE4-505E-422D-8FE2-7C14F619B5A8}" type="datetime1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A583EC-4F2A-427F-8F43-695E9CE54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B9DE81-5F8C-488E-89F3-E93A1361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7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C1D08D-9EC8-40DB-9B46-669208259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7690" y="6521570"/>
            <a:ext cx="1124309" cy="336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mtClean="0"/>
            </a:lvl1pPr>
          </a:lstStyle>
          <a:p>
            <a:fld id="{5F9DB6E4-81A8-48FA-A111-413E3E85E768}" type="slidenum">
              <a:rPr lang="ru-RU" smtClean="0"/>
              <a:pPr/>
              <a:t>‹#›</a:t>
            </a:fld>
            <a:r>
              <a:rPr lang="ru-RU" dirty="0"/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1835956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4B1E9-7B85-41C6-AC8B-242A6B603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</p:spPr>
        <p:txBody>
          <a:bodyPr>
            <a:normAutofit/>
          </a:bodyPr>
          <a:lstStyle/>
          <a:p>
            <a:r>
              <a:rPr lang="ru-RU" sz="5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E82BE8-E71E-47E7-B354-024530FDD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528" y="5101654"/>
            <a:ext cx="11106912" cy="1655762"/>
          </a:xfrm>
        </p:spPr>
        <p:txBody>
          <a:bodyPr/>
          <a:lstStyle/>
          <a:p>
            <a:pPr algn="r"/>
            <a:r>
              <a:rPr lang="ru-RU" dirty="0"/>
              <a:t>Выполнил: студент группы 606-22 Демьянцев В.В.</a:t>
            </a:r>
          </a:p>
          <a:p>
            <a:pPr algn="r"/>
            <a:r>
              <a:rPr lang="ru-RU" dirty="0"/>
              <a:t>Руководитель ВКР: канд. техн. наук Горбунов Дмитрий Владимирович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107838-5538-C0C2-D39D-35499CF23BB8}"/>
              </a:ext>
            </a:extLst>
          </p:cNvPr>
          <p:cNvSpPr txBox="1"/>
          <p:nvPr/>
        </p:nvSpPr>
        <p:spPr>
          <a:xfrm>
            <a:off x="2249424" y="2967334"/>
            <a:ext cx="79918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Тема: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«Система распознавания эмоций человека на основе искусственной нейронной сети»</a:t>
            </a:r>
          </a:p>
        </p:txBody>
      </p:sp>
    </p:spTree>
    <p:extLst>
      <p:ext uri="{BB962C8B-B14F-4D97-AF65-F5344CB8AC3E}">
        <p14:creationId xmlns:p14="http://schemas.microsoft.com/office/powerpoint/2010/main" val="2314773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263BA0-F9D7-4AEB-A9F7-D9E30D49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практики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9CC613-FDC1-4225-B204-891E0DB45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708" y="1014984"/>
            <a:ext cx="11530584" cy="4828031"/>
          </a:xfrm>
        </p:spPr>
        <p:txBody>
          <a:bodyPr>
            <a:noAutofit/>
          </a:bodyPr>
          <a:lstStyle/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Цель работы: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Исследовать предметную область, провести обзор аналогов, выбрать модель 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искусственной нейронной сети и спроектировать систему для распознавания 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эмоций человека на основе ИНС.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Задачи работы</a:t>
            </a:r>
            <a:r>
              <a:rPr lang="en-US" sz="2000" dirty="0"/>
              <a:t>:</a:t>
            </a:r>
            <a:endParaRPr lang="ru-RU" sz="2000" dirty="0"/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1. Обследовать и изучить предметную область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2. Провести изучение аналогов и составить обзор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3. Составить перечень функциональных задач системы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4. Выбрать модель искусственной нейронной сети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5. Спроектировать функциональную модель системы и её декомпозицию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6. Выбрать средства проектирования и разработки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7. Подготовить пояснительную записку по ВКР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BD14C5-A728-280F-7BFA-0B641D24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414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3E649-ADA8-4250-87FF-0757785B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118586"/>
            <a:ext cx="10830017" cy="5513033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Рост значимости эмоционального интеллекта в HR</a:t>
            </a:r>
          </a:p>
          <a:p>
            <a:pPr algn="just"/>
            <a:r>
              <a:rPr lang="ru-RU" dirty="0"/>
              <a:t>Ограниченность традиционных методов </a:t>
            </a:r>
            <a:endParaRPr lang="en-US" dirty="0"/>
          </a:p>
          <a:p>
            <a:pPr algn="just"/>
            <a:r>
              <a:rPr lang="ru-RU" dirty="0"/>
              <a:t>Развитие технологий ИИ для анализа эмоций в реальном времени</a:t>
            </a:r>
          </a:p>
          <a:p>
            <a:pPr algn="just"/>
            <a:r>
              <a:rPr lang="ru-RU" dirty="0"/>
              <a:t>Потребность в мультимодальном анализе </a:t>
            </a:r>
            <a:endParaRPr lang="en-US" dirty="0"/>
          </a:p>
          <a:p>
            <a:pPr algn="just"/>
            <a:r>
              <a:rPr lang="ru-RU" dirty="0"/>
              <a:t>Соответствие требованиям ФЗ-152 о защите персональных данных</a:t>
            </a:r>
          </a:p>
          <a:p>
            <a:pPr algn="just"/>
            <a:r>
              <a:rPr lang="ru-RU" dirty="0"/>
              <a:t>Экономическая эффективность автоматизации HR-процессов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A45460-A723-7A87-8308-C202F8B1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30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dirty="0"/>
              <a:t>Существующие решения: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3E649-ADA8-4250-87FF-0757785B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118586"/>
            <a:ext cx="10830017" cy="551303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dirty="0" err="1"/>
              <a:t>Affectiva</a:t>
            </a:r>
            <a:r>
              <a:rPr lang="ru-RU" dirty="0"/>
              <a:t> (компьютерное зрение) — высокая точность, но нет </a:t>
            </a:r>
            <a:r>
              <a:rPr lang="ru-RU" dirty="0" err="1"/>
              <a:t>аудиоанализа</a:t>
            </a:r>
            <a:endParaRPr lang="ru-RU" dirty="0"/>
          </a:p>
          <a:p>
            <a:pPr algn="just"/>
            <a:r>
              <a:rPr lang="ru-RU" dirty="0" err="1"/>
              <a:t>Beyond</a:t>
            </a:r>
            <a:r>
              <a:rPr lang="ru-RU" dirty="0"/>
              <a:t> </a:t>
            </a:r>
            <a:r>
              <a:rPr lang="ru-RU" dirty="0" err="1"/>
              <a:t>Verbal</a:t>
            </a:r>
            <a:r>
              <a:rPr lang="ru-RU" dirty="0"/>
              <a:t> (</a:t>
            </a:r>
            <a:r>
              <a:rPr lang="ru-RU" dirty="0" err="1"/>
              <a:t>аудиоанализ</a:t>
            </a:r>
            <a:r>
              <a:rPr lang="ru-RU" dirty="0"/>
              <a:t>) — устойчивость к помехам, но нет визуальных данных</a:t>
            </a:r>
          </a:p>
          <a:p>
            <a:pPr algn="just"/>
            <a:r>
              <a:rPr lang="ru-RU" dirty="0" err="1"/>
              <a:t>Emotient</a:t>
            </a:r>
            <a:r>
              <a:rPr lang="ru-RU" dirty="0"/>
              <a:t> (мультимодальные) — высокая точность, но дорогая и не адаптирована под РФ</a:t>
            </a:r>
          </a:p>
          <a:p>
            <a:pPr algn="just"/>
            <a:endParaRPr lang="ru-RU" dirty="0"/>
          </a:p>
          <a:p>
            <a:pPr marL="0" indent="0" algn="just">
              <a:buNone/>
            </a:pPr>
            <a:r>
              <a:rPr lang="ru-RU" dirty="0"/>
              <a:t>Недостатки аналогов:</a:t>
            </a:r>
          </a:p>
          <a:p>
            <a:pPr algn="just"/>
            <a:r>
              <a:rPr lang="ru-RU" dirty="0"/>
              <a:t>Высокая стоимость лицензий</a:t>
            </a:r>
          </a:p>
          <a:p>
            <a:pPr algn="just"/>
            <a:r>
              <a:rPr lang="ru-RU" dirty="0"/>
              <a:t>Отсутствие адаптации под HR-сценарии</a:t>
            </a:r>
          </a:p>
          <a:p>
            <a:pPr algn="just"/>
            <a:r>
              <a:rPr lang="ru-RU" dirty="0"/>
              <a:t>Риски несоответствия ФЗ-152</a:t>
            </a:r>
          </a:p>
          <a:p>
            <a:pPr algn="just"/>
            <a:endParaRPr lang="ru-RU" dirty="0"/>
          </a:p>
          <a:p>
            <a:pPr marL="0" indent="0" algn="just">
              <a:buNone/>
            </a:pPr>
            <a:r>
              <a:rPr lang="ru-RU" dirty="0"/>
              <a:t>Разрабатываемая система:</a:t>
            </a:r>
          </a:p>
          <a:p>
            <a:pPr algn="just"/>
            <a:r>
              <a:rPr lang="ru-RU" dirty="0"/>
              <a:t>Специализация под HR</a:t>
            </a:r>
          </a:p>
          <a:p>
            <a:pPr algn="just"/>
            <a:r>
              <a:rPr lang="ru-RU" dirty="0"/>
              <a:t>Локальная обработка данных</a:t>
            </a:r>
          </a:p>
          <a:p>
            <a:pPr algn="just"/>
            <a:r>
              <a:rPr lang="ru-RU" dirty="0"/>
              <a:t>Открытый стек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A45460-A723-7A87-8308-C202F8B1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75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en-US" sz="4400" dirty="0"/>
              <a:t>BPMN-</a:t>
            </a:r>
            <a:r>
              <a:rPr lang="ru-RU" sz="4400" dirty="0"/>
              <a:t>диаграмма бизнес-процесса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5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1ED75E-ADF1-FDC7-8078-2474E42BF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965" y="915052"/>
            <a:ext cx="7190069" cy="56429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7655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en-US" sz="4400" dirty="0"/>
              <a:t>IDEF0-</a:t>
            </a:r>
            <a:r>
              <a:rPr lang="ru-RU" sz="4400" dirty="0"/>
              <a:t>диаграмма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6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362F01-AE84-4346-82B7-CE5CD579C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320" y="747103"/>
            <a:ext cx="7059359" cy="5774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5402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sz="4400" dirty="0"/>
              <a:t>Декомпозиция </a:t>
            </a:r>
            <a:r>
              <a:rPr lang="en-US" sz="4400" dirty="0"/>
              <a:t>IDEF0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7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E813B2-5909-97D5-A0AC-B0D2CB6E62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525" y="969264"/>
            <a:ext cx="10314950" cy="53602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9085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en-US" sz="4400" dirty="0"/>
              <a:t>DFD-</a:t>
            </a:r>
            <a:r>
              <a:rPr lang="ru-RU" sz="4400" dirty="0"/>
              <a:t>диаграмма потоков данных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8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DA2D90-4A58-6C6F-0DE0-772AB18A3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403" y="1393794"/>
            <a:ext cx="7013193" cy="41840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9055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en-US" sz="4400" dirty="0"/>
              <a:t>ER-</a:t>
            </a:r>
            <a:r>
              <a:rPr lang="ru-RU" sz="4400" dirty="0"/>
              <a:t>модель базы данных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9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DAA840C-06DE-BDF4-2382-9731C8C571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666" y="1119474"/>
            <a:ext cx="10184667" cy="51075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035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Логическая модель базы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5BD3B4-94D6-9BF1-6ED5-AA71E42B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10</a:t>
            </a:fld>
            <a:endParaRPr lang="ru-RU"/>
          </a:p>
        </p:txBody>
      </p:sp>
      <p:pic>
        <p:nvPicPr>
          <p:cNvPr id="8" name="Рисунок 7" descr="Изображение выглядит как снимок экрана, текст, Шрифт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96269F99-8B72-9FE2-47EC-9B6A86050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329" y="952874"/>
            <a:ext cx="8803170" cy="556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789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DEFDC-A437-4C47-B07D-6342E196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89" y="59192"/>
            <a:ext cx="10515600" cy="1325563"/>
          </a:xfrm>
        </p:spPr>
        <p:txBody>
          <a:bodyPr/>
          <a:lstStyle/>
          <a:p>
            <a:r>
              <a:rPr lang="ru-RU" dirty="0"/>
              <a:t>Средства и технологии разработки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82F14302-1BF2-E1DF-19A8-0E74AB6A7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663" y="2120804"/>
            <a:ext cx="3699318" cy="1381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A339DE64-170F-3267-C6E5-0C47E9D93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176" y="1445684"/>
            <a:ext cx="1871472" cy="187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28767BEC-E43E-ABAE-D052-1CD818E5D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382" y="3575536"/>
            <a:ext cx="2035466" cy="210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809F2891-D9F2-175C-53BA-BE3D9B227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75" y="3575535"/>
            <a:ext cx="2100602" cy="210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icture background">
            <a:extLst>
              <a:ext uri="{FF2B5EF4-FFF2-40B4-BE49-F238E27FC236}">
                <a16:creationId xmlns:a16="http://schemas.microsoft.com/office/drawing/2014/main" id="{56A00DD1-6DEC-2ED3-2ECC-A70C20090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411" y="1328398"/>
            <a:ext cx="2278570" cy="210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3019EF-FE78-BCB1-DCCA-2ABAD4584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6369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sz="4400" dirty="0"/>
              <a:t>Средства и технологии разработки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3E649-ADA8-4250-87FF-0757785B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118586"/>
            <a:ext cx="10830017" cy="551303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Искусственный интеллект (ИИ) — это направление компьютерных наук, нацеленное на создание систем, способных выполнять задачи, требующие человеческого интеллекта.</a:t>
            </a:r>
            <a:endParaRPr lang="en-US" dirty="0"/>
          </a:p>
          <a:p>
            <a:pPr algn="just"/>
            <a:r>
              <a:rPr lang="ru-RU" dirty="0" err="1"/>
              <a:t>Свёрточные</a:t>
            </a:r>
            <a:r>
              <a:rPr lang="ru-RU" dirty="0"/>
              <a:t> нейронные сети (CNN) – архитектура глубокого обучения, автоматически извлекающая иерархические признаки из изображений. Идеально подходит для анализа мимики и детекции объектов в видеопотоке без ручного выделения характеристик.</a:t>
            </a:r>
          </a:p>
          <a:p>
            <a:pPr algn="just"/>
            <a:r>
              <a:rPr lang="ru-RU" dirty="0"/>
              <a:t>Рекуррентные нейронные сети и трансформеры – модели, оптимизированные для работы с последовательностями данных. Применяются для анализа аудиопотока, распознавания речи и выявления просодических маркеров эмоционального состояния.</a:t>
            </a:r>
          </a:p>
          <a:p>
            <a:pPr algn="just"/>
            <a:r>
              <a:rPr lang="ru-RU" dirty="0"/>
              <a:t>Мультимодальный анализ – методология совместной обработки разнородных данных (видео, аудио, текст), позволяющая компенсировать ограничения отдельных модальностей и повысить надёжность классификации в реальных условиях.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8790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47E73-D877-4497-A30F-9D6C2A47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502887"/>
            <a:ext cx="4806346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Алгоритмическое обеспечение. Алгоритм работы программы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F01DB20-C1C1-2C1C-3C13-1BAAD229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13</a:t>
            </a:fld>
            <a:endParaRPr lang="ru-RU" dirty="0"/>
          </a:p>
        </p:txBody>
      </p:sp>
      <p:pic>
        <p:nvPicPr>
          <p:cNvPr id="6" name="Рисунок 5" descr="Изображение выглядит как текст, снимок экрана, Шрифт, дизайн">
            <a:extLst>
              <a:ext uri="{FF2B5EF4-FFF2-40B4-BE49-F238E27FC236}">
                <a16:creationId xmlns:a16="http://schemas.microsoft.com/office/drawing/2014/main" id="{7706B93A-2B11-6CF7-0EF1-40E0C302D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616" y="368963"/>
            <a:ext cx="7855751" cy="612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315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Информационное обеспечение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90688"/>
            <a:ext cx="10677144" cy="480218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/>
              <a:t>Информационное обеспечение АСУ – совокупность системно-ориентированных данных, описывающих принятый в системе словарь базовых описаний, классификаторы и актуализируемых данных о состоянии информационной модели на всех этапах жизненного цикла.</a:t>
            </a:r>
          </a:p>
          <a:p>
            <a:pPr algn="just"/>
            <a:r>
              <a:rPr lang="ru-RU" dirty="0"/>
              <a:t>Информационным обеспечением системы является набор обученных нейросетевых моделей, конфигурационных файлов и алгоритмов агрегации, с которыми взаимодействует программный комплекс.</a:t>
            </a:r>
          </a:p>
          <a:p>
            <a:pPr algn="just"/>
            <a:r>
              <a:rPr lang="ru-RU" dirty="0"/>
              <a:t>Входной информацией является:</a:t>
            </a:r>
          </a:p>
          <a:p>
            <a:pPr lvl="1" algn="just"/>
            <a:r>
              <a:rPr lang="ru-RU" dirty="0"/>
              <a:t>Видеопоток с веб-камеры (640×480+, 15–30 кадров/с, формат JPEG через </a:t>
            </a:r>
            <a:r>
              <a:rPr lang="ru-RU" dirty="0" err="1"/>
              <a:t>WebSocket</a:t>
            </a:r>
            <a:r>
              <a:rPr lang="ru-RU" dirty="0"/>
              <a:t>)</a:t>
            </a:r>
          </a:p>
          <a:p>
            <a:pPr lvl="1" algn="just"/>
            <a:r>
              <a:rPr lang="ru-RU" dirty="0"/>
              <a:t>Аудиопоток с микрофона (16 кГц, моно, формат </a:t>
            </a:r>
            <a:r>
              <a:rPr lang="ru-RU" dirty="0" err="1"/>
              <a:t>WebM</a:t>
            </a:r>
            <a:r>
              <a:rPr lang="ru-RU" dirty="0"/>
              <a:t>/Opus)</a:t>
            </a:r>
          </a:p>
          <a:p>
            <a:pPr algn="just"/>
            <a:r>
              <a:rPr lang="ru-RU" dirty="0"/>
              <a:t>Данные поступают непрерывно, обрабатываются в изолированных AI-шлюзах и сохраняются в реляционной СУБД с использованием формата JSONB для гибкого хранения разнородных аналитических событий.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5BD3B4-94D6-9BF1-6ED5-AA71E42B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9490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371" y="898762"/>
            <a:ext cx="11339093" cy="40115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Технологии:</a:t>
            </a:r>
          </a:p>
          <a:p>
            <a:pPr marL="0" indent="0">
              <a:buNone/>
            </a:pPr>
            <a:r>
              <a:rPr lang="ru-RU" sz="2400" dirty="0"/>
              <a:t>• MTCNN — детекция лиц и ключевых точек</a:t>
            </a:r>
          </a:p>
          <a:p>
            <a:pPr marL="0" indent="0">
              <a:buNone/>
            </a:pPr>
            <a:r>
              <a:rPr lang="ru-RU" sz="2400" dirty="0"/>
              <a:t>• </a:t>
            </a:r>
            <a:r>
              <a:rPr lang="ru-RU" sz="2400" dirty="0" err="1"/>
              <a:t>DeepFace</a:t>
            </a:r>
            <a:r>
              <a:rPr lang="ru-RU" sz="2400" dirty="0"/>
              <a:t> (VGG-Face, Facenet512) — классификация эмоций</a:t>
            </a:r>
          </a:p>
          <a:p>
            <a:pPr marL="0" indent="0">
              <a:buNone/>
            </a:pPr>
            <a:r>
              <a:rPr lang="ru-RU" sz="2400" dirty="0"/>
              <a:t>• </a:t>
            </a:r>
            <a:r>
              <a:rPr lang="ru-RU" sz="2400" dirty="0" err="1"/>
              <a:t>MediaPipe</a:t>
            </a:r>
            <a:r>
              <a:rPr lang="ru-RU" sz="2400" dirty="0"/>
              <a:t> Face </a:t>
            </a:r>
            <a:r>
              <a:rPr lang="ru-RU" sz="2400" dirty="0" err="1"/>
              <a:t>Landmarker</a:t>
            </a:r>
            <a:r>
              <a:rPr lang="ru-RU" sz="2400" dirty="0"/>
              <a:t> — 468 3D-точек, </a:t>
            </a:r>
            <a:r>
              <a:rPr lang="ru-RU" sz="2400" dirty="0" err="1"/>
              <a:t>blendshape</a:t>
            </a:r>
            <a:r>
              <a:rPr lang="ru-RU" sz="2400" dirty="0"/>
              <a:t>-коэффициенты</a:t>
            </a:r>
          </a:p>
          <a:p>
            <a:pPr marL="0" indent="0">
              <a:buNone/>
            </a:pPr>
            <a:r>
              <a:rPr lang="ru-RU" sz="2400" dirty="0"/>
              <a:t>Классификация по модели Пола Экмана:</a:t>
            </a:r>
          </a:p>
          <a:p>
            <a:pPr marL="0" indent="0">
              <a:buNone/>
            </a:pPr>
            <a:r>
              <a:rPr lang="ru-RU" sz="2400" dirty="0"/>
              <a:t>• Радость, грусть, гнев</a:t>
            </a:r>
          </a:p>
          <a:p>
            <a:pPr marL="0" indent="0">
              <a:buNone/>
            </a:pPr>
            <a:r>
              <a:rPr lang="ru-RU" sz="2400" dirty="0"/>
              <a:t>• Страх, удивление, отвращение</a:t>
            </a:r>
          </a:p>
          <a:p>
            <a:pPr marL="0" indent="0">
              <a:buNone/>
            </a:pPr>
            <a:r>
              <a:rPr lang="ru-RU" sz="2400" dirty="0"/>
              <a:t>Инженерная реализация:</a:t>
            </a:r>
          </a:p>
          <a:p>
            <a:pPr marL="0" indent="0">
              <a:buNone/>
            </a:pPr>
            <a:r>
              <a:rPr lang="ru-RU" sz="2400" dirty="0"/>
              <a:t>• Семафор для ограничения параллельных </a:t>
            </a:r>
            <a:r>
              <a:rPr lang="ru-RU" sz="2400" dirty="0" err="1"/>
              <a:t>инференсов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• Адаптивная частота отправки кадров</a:t>
            </a:r>
          </a:p>
          <a:p>
            <a:pPr marL="0" indent="0">
              <a:buNone/>
            </a:pPr>
            <a:r>
              <a:rPr lang="ru-RU" sz="2400" dirty="0"/>
              <a:t>• Фильтрация ложных срабатываний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1" y="103553"/>
            <a:ext cx="10515600" cy="673688"/>
          </a:xfrm>
        </p:spPr>
        <p:txBody>
          <a:bodyPr>
            <a:normAutofit/>
          </a:bodyPr>
          <a:lstStyle/>
          <a:p>
            <a:r>
              <a:rPr lang="ru-RU" sz="4000" dirty="0"/>
              <a:t>Модуль анализа лица и эмоций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AC9E070-DAEE-B241-0A58-56DA4A87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6878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032" y="839485"/>
            <a:ext cx="10515600" cy="58396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400" dirty="0"/>
              <a:t>Модель </a:t>
            </a:r>
            <a:r>
              <a:rPr lang="ru-RU" sz="2400" dirty="0" err="1"/>
              <a:t>Whisper</a:t>
            </a:r>
            <a:r>
              <a:rPr lang="ru-RU" sz="2400" dirty="0"/>
              <a:t> (OpenAI):</a:t>
            </a:r>
          </a:p>
          <a:p>
            <a:pPr marL="0" indent="0" algn="just">
              <a:buNone/>
            </a:pPr>
            <a:r>
              <a:rPr lang="ru-RU" sz="2400" dirty="0"/>
              <a:t>• </a:t>
            </a:r>
            <a:r>
              <a:rPr lang="ru-RU" sz="2400" dirty="0" err="1"/>
              <a:t>Encoder-decoder</a:t>
            </a:r>
            <a:r>
              <a:rPr lang="ru-RU" sz="2400" dirty="0"/>
              <a:t> трансформер</a:t>
            </a:r>
          </a:p>
          <a:p>
            <a:pPr marL="0" indent="0" algn="just">
              <a:buNone/>
            </a:pPr>
            <a:r>
              <a:rPr lang="ru-RU" sz="2400" dirty="0"/>
              <a:t>• Обеспечивает высокое качество </a:t>
            </a:r>
            <a:r>
              <a:rPr lang="ru-RU" sz="2400" dirty="0" err="1"/>
              <a:t>транскрибации</a:t>
            </a:r>
            <a:r>
              <a:rPr lang="ru-RU" sz="2400" dirty="0"/>
              <a:t> речи</a:t>
            </a:r>
          </a:p>
          <a:p>
            <a:pPr marL="0" indent="0" algn="just">
              <a:buNone/>
            </a:pPr>
            <a:r>
              <a:rPr lang="ru-RU" sz="2400" dirty="0"/>
              <a:t>• Поддержка множества языков</a:t>
            </a:r>
          </a:p>
          <a:p>
            <a:pPr marL="0" indent="0" algn="just">
              <a:buNone/>
            </a:pPr>
            <a:r>
              <a:rPr lang="ru-RU" sz="2400" dirty="0"/>
              <a:t>Оптимизация (</a:t>
            </a:r>
            <a:r>
              <a:rPr lang="ru-RU" sz="2400" dirty="0" err="1"/>
              <a:t>faster-whisper</a:t>
            </a:r>
            <a:r>
              <a:rPr lang="ru-RU" sz="2400" dirty="0"/>
              <a:t>):</a:t>
            </a:r>
          </a:p>
          <a:p>
            <a:pPr marL="0" indent="0" algn="just">
              <a:buNone/>
            </a:pPr>
            <a:r>
              <a:rPr lang="ru-RU" sz="2400" dirty="0"/>
              <a:t>• Квантование весов (float32 → int8/float16)</a:t>
            </a:r>
          </a:p>
          <a:p>
            <a:pPr marL="0" indent="0" algn="just">
              <a:buNone/>
            </a:pPr>
            <a:r>
              <a:rPr lang="ru-RU" sz="2400" dirty="0"/>
              <a:t>• Пакетная обработка (</a:t>
            </a:r>
            <a:r>
              <a:rPr lang="ru-RU" sz="2400" dirty="0" err="1"/>
              <a:t>batching</a:t>
            </a:r>
            <a:r>
              <a:rPr lang="ru-RU" sz="2400" dirty="0"/>
              <a:t>)</a:t>
            </a:r>
          </a:p>
          <a:p>
            <a:pPr marL="0" indent="0" algn="just">
              <a:buNone/>
            </a:pPr>
            <a:r>
              <a:rPr lang="ru-RU" sz="2400" dirty="0"/>
              <a:t>• Использование GPU</a:t>
            </a:r>
          </a:p>
          <a:p>
            <a:pPr marL="0" indent="0" algn="just">
              <a:buNone/>
            </a:pPr>
            <a:r>
              <a:rPr lang="ru-RU" sz="2400" dirty="0"/>
              <a:t>Результаты:</a:t>
            </a:r>
          </a:p>
          <a:p>
            <a:pPr marL="0" indent="0" algn="just">
              <a:buNone/>
            </a:pPr>
            <a:r>
              <a:rPr lang="ru-RU" sz="2400" dirty="0"/>
              <a:t>• </a:t>
            </a:r>
            <a:r>
              <a:rPr lang="ru-RU" sz="2400" dirty="0" err="1"/>
              <a:t>Транскрибация</a:t>
            </a:r>
            <a:r>
              <a:rPr lang="ru-RU" sz="2400" dirty="0"/>
              <a:t> речи в реальном времени</a:t>
            </a:r>
          </a:p>
          <a:p>
            <a:pPr marL="0" indent="0" algn="just">
              <a:buNone/>
            </a:pPr>
            <a:r>
              <a:rPr lang="ru-RU" sz="2400" dirty="0"/>
              <a:t>• Разделение реплик по участникам</a:t>
            </a:r>
          </a:p>
          <a:p>
            <a:pPr marL="0" indent="0" algn="just">
              <a:buNone/>
            </a:pPr>
            <a:r>
              <a:rPr lang="ru-RU" sz="2400" dirty="0"/>
              <a:t>• Временные метки для каждой реплики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11" y="176704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Модуль распознавания речи (</a:t>
            </a:r>
            <a:r>
              <a:rPr lang="en-US" sz="4000" dirty="0"/>
              <a:t>ASR</a:t>
            </a:r>
            <a:r>
              <a:rPr lang="ru-RU" sz="4000" dirty="0"/>
              <a:t>)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0F5E886-65AE-3D29-A128-93D0A6C7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31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032" y="839485"/>
            <a:ext cx="10515600" cy="58396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400" dirty="0"/>
              <a:t>Модуль </a:t>
            </a:r>
            <a:r>
              <a:rPr lang="ru-RU" sz="2400" dirty="0" err="1"/>
              <a:t>Sentiment</a:t>
            </a:r>
            <a:r>
              <a:rPr lang="ru-RU" sz="2400" dirty="0"/>
              <a:t> Analysis:</a:t>
            </a:r>
          </a:p>
          <a:p>
            <a:pPr marL="0" indent="0" algn="just">
              <a:buNone/>
            </a:pPr>
            <a:r>
              <a:rPr lang="ru-RU" sz="2400" dirty="0"/>
              <a:t>• Легковесная </a:t>
            </a:r>
            <a:r>
              <a:rPr lang="ru-RU" sz="2400" dirty="0" err="1"/>
              <a:t>трансформерная</a:t>
            </a:r>
            <a:r>
              <a:rPr lang="ru-RU" sz="2400" dirty="0"/>
              <a:t> модель </a:t>
            </a:r>
            <a:r>
              <a:rPr lang="ru-RU" sz="2400"/>
              <a:t>DistilBERT</a:t>
            </a:r>
            <a:endParaRPr lang="ru-RU" sz="2400" dirty="0"/>
          </a:p>
          <a:p>
            <a:pPr marL="0" indent="0" algn="just">
              <a:buNone/>
            </a:pPr>
            <a:r>
              <a:rPr lang="ru-RU" sz="2400" dirty="0"/>
              <a:t>• Классификация тональности: позитивная / нейтральная / негативная</a:t>
            </a:r>
          </a:p>
          <a:p>
            <a:pPr marL="0" indent="0" algn="just">
              <a:buNone/>
            </a:pPr>
            <a:r>
              <a:rPr lang="ru-RU" sz="2400" dirty="0"/>
              <a:t>Алгоритм работы:</a:t>
            </a:r>
          </a:p>
          <a:p>
            <a:pPr marL="0" indent="0" algn="just">
              <a:buNone/>
            </a:pPr>
            <a:r>
              <a:rPr lang="ru-RU" sz="2400" dirty="0"/>
              <a:t>1. Сегментация и </a:t>
            </a:r>
            <a:r>
              <a:rPr lang="ru-RU" sz="2400" dirty="0" err="1"/>
              <a:t>токенизация</a:t>
            </a:r>
            <a:r>
              <a:rPr lang="ru-RU" sz="2400" dirty="0"/>
              <a:t> транскрипта</a:t>
            </a:r>
          </a:p>
          <a:p>
            <a:pPr marL="0" indent="0" algn="just">
              <a:buNone/>
            </a:pPr>
            <a:r>
              <a:rPr lang="ru-RU" sz="2400" dirty="0"/>
              <a:t>2. </a:t>
            </a:r>
            <a:r>
              <a:rPr lang="ru-RU" sz="2400" dirty="0" err="1"/>
              <a:t>Инференс</a:t>
            </a:r>
            <a:r>
              <a:rPr lang="ru-RU" sz="2400" dirty="0"/>
              <a:t> модели</a:t>
            </a:r>
          </a:p>
          <a:p>
            <a:pPr marL="0" indent="0" algn="just">
              <a:buNone/>
            </a:pPr>
            <a:r>
              <a:rPr lang="ru-RU" sz="2400" dirty="0"/>
              <a:t>3. Присвоение метки тональности</a:t>
            </a:r>
          </a:p>
          <a:p>
            <a:pPr marL="0" indent="0" algn="just">
              <a:buNone/>
            </a:pPr>
            <a:r>
              <a:rPr lang="ru-RU" sz="2400" dirty="0"/>
              <a:t>Интеграция:</a:t>
            </a:r>
          </a:p>
          <a:p>
            <a:pPr marL="0" indent="0" algn="just">
              <a:buNone/>
            </a:pPr>
            <a:r>
              <a:rPr lang="ru-RU" sz="2400" dirty="0"/>
              <a:t>• Сохранение в JSONB с привязкой к временным меткам</a:t>
            </a:r>
          </a:p>
          <a:p>
            <a:pPr marL="0" indent="0" algn="just">
              <a:buNone/>
            </a:pPr>
            <a:r>
              <a:rPr lang="ru-RU" sz="2400" dirty="0"/>
              <a:t>• Сопоставление с визуальными и акустическими признаками</a:t>
            </a:r>
          </a:p>
          <a:p>
            <a:pPr marL="0" indent="0" algn="just">
              <a:buNone/>
            </a:pPr>
            <a:r>
              <a:rPr lang="ru-RU" sz="2400" dirty="0"/>
              <a:t>• Принцип </a:t>
            </a:r>
            <a:r>
              <a:rPr lang="ru-RU" sz="2400" dirty="0" err="1"/>
              <a:t>late</a:t>
            </a:r>
            <a:r>
              <a:rPr lang="ru-RU" sz="2400" dirty="0"/>
              <a:t> </a:t>
            </a:r>
            <a:r>
              <a:rPr lang="ru-RU" sz="2400" dirty="0" err="1"/>
              <a:t>fusion</a:t>
            </a:r>
            <a:r>
              <a:rPr lang="ru-RU" sz="2400" dirty="0"/>
              <a:t> при формировании отчёта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11" y="176704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Анализ тональности текста (</a:t>
            </a:r>
            <a:r>
              <a:rPr lang="en-US" sz="4000" dirty="0"/>
              <a:t>NLP)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0F5E886-65AE-3D29-A128-93D0A6C7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583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64" y="969118"/>
            <a:ext cx="4856924" cy="5839612"/>
          </a:xfrm>
        </p:spPr>
        <p:txBody>
          <a:bodyPr>
            <a:normAutofit/>
          </a:bodyPr>
          <a:lstStyle/>
          <a:p>
            <a:pPr algn="just"/>
            <a:r>
              <a:rPr lang="ru-RU" sz="1800" dirty="0"/>
              <a:t>В связи с необходимостью более детального анализа мимики и положения головы в пространстве, в систему интегрирована модель </a:t>
            </a:r>
            <a:r>
              <a:rPr lang="ru-RU" sz="1800" dirty="0" err="1"/>
              <a:t>MediaPipe</a:t>
            </a:r>
            <a:r>
              <a:rPr lang="ru-RU" sz="1800" dirty="0"/>
              <a:t> Face </a:t>
            </a:r>
            <a:r>
              <a:rPr lang="ru-RU" sz="1800" dirty="0" err="1"/>
              <a:t>Landmarker</a:t>
            </a:r>
            <a:r>
              <a:rPr lang="ru-RU" sz="1800" dirty="0"/>
              <a:t> от Google.</a:t>
            </a:r>
          </a:p>
          <a:p>
            <a:pPr algn="just"/>
            <a:r>
              <a:rPr lang="ru-RU" sz="1800" dirty="0"/>
              <a:t>На вход модели подаётся выровненное изображение лица. Модель строит плотную сетку из 468 трёхмерных ключевых точек, охватывающих контуры глаз, бровей, носа, губ и овала лица.</a:t>
            </a:r>
          </a:p>
          <a:p>
            <a:pPr algn="just"/>
            <a:r>
              <a:rPr lang="ru-RU" sz="1800" dirty="0"/>
              <a:t>На выходе формируются </a:t>
            </a:r>
            <a:r>
              <a:rPr lang="ru-RU" sz="1800" dirty="0" err="1"/>
              <a:t>blendshape</a:t>
            </a:r>
            <a:r>
              <a:rPr lang="ru-RU" sz="1800" dirty="0"/>
              <a:t>-коэффициенты (активность групп лицевых мышц), углы поворота головы (</a:t>
            </a:r>
            <a:r>
              <a:rPr lang="ru-RU" sz="1800" dirty="0" err="1"/>
              <a:t>yaw</a:t>
            </a:r>
            <a:r>
              <a:rPr lang="ru-RU" sz="1800" dirty="0"/>
              <a:t>, </a:t>
            </a:r>
            <a:r>
              <a:rPr lang="ru-RU" sz="1800" dirty="0" err="1"/>
              <a:t>pitch</a:t>
            </a:r>
            <a:r>
              <a:rPr lang="ru-RU" sz="1800" dirty="0"/>
              <a:t>, </a:t>
            </a:r>
            <a:r>
              <a:rPr lang="ru-RU" sz="1800" dirty="0" err="1"/>
              <a:t>roll</a:t>
            </a:r>
            <a:r>
              <a:rPr lang="ru-RU" sz="1800" dirty="0"/>
              <a:t>) и данные для отслеживания </a:t>
            </a:r>
            <a:r>
              <a:rPr lang="ru-RU" sz="1800" dirty="0" err="1"/>
              <a:t>микровыражений</a:t>
            </a:r>
            <a:r>
              <a:rPr lang="ru-RU" sz="1800" dirty="0"/>
              <a:t>.</a:t>
            </a:r>
          </a:p>
          <a:p>
            <a:pPr algn="just"/>
            <a:r>
              <a:rPr lang="ru-RU" sz="1800" dirty="0"/>
              <a:t>Модель перезаписывает и обогащает базовые данные классификации, позволяя системе учитывать не только статические эмоции, но и динамику мимики</a:t>
            </a:r>
            <a:r>
              <a:rPr lang="en-US" sz="1800" dirty="0"/>
              <a:t>.</a:t>
            </a:r>
            <a:endParaRPr lang="ru-RU" sz="18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64" y="103552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Модель </a:t>
            </a:r>
            <a:r>
              <a:rPr lang="en-US" sz="4000" dirty="0" err="1"/>
              <a:t>MediaPipe</a:t>
            </a:r>
            <a:r>
              <a:rPr lang="en-US" sz="4000" dirty="0"/>
              <a:t> Face </a:t>
            </a:r>
            <a:r>
              <a:rPr lang="en-US" sz="4000" dirty="0" err="1"/>
              <a:t>Landmarker</a:t>
            </a:r>
            <a:endParaRPr lang="en-US" sz="4000" dirty="0"/>
          </a:p>
        </p:txBody>
      </p:sp>
      <p:pic>
        <p:nvPicPr>
          <p:cNvPr id="7" name="Рисунок 6" descr="Задача &quot;Опорный знак на лице&quot;">
            <a:extLst>
              <a:ext uri="{FF2B5EF4-FFF2-40B4-BE49-F238E27FC236}">
                <a16:creationId xmlns:a16="http://schemas.microsoft.com/office/drawing/2014/main" id="{AC6A1973-8F20-E21C-8984-347E22110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411" y="1429115"/>
            <a:ext cx="5940425" cy="32562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938FBF3-4A9B-D591-C9C7-E929397E9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378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97468337-8816-F43C-CDDA-70151382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93216"/>
            <a:ext cx="10515600" cy="1325563"/>
          </a:xfrm>
        </p:spPr>
        <p:txBody>
          <a:bodyPr/>
          <a:lstStyle/>
          <a:p>
            <a:r>
              <a:rPr lang="ru-RU" dirty="0"/>
              <a:t>Интерфейс системы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DA7844C-4845-591E-A755-516346161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19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3FE67C-39AF-9CC6-D363-97D9E422D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963" y="1079214"/>
            <a:ext cx="9368101" cy="469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25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679AE-9695-41ED-964A-F63B6DC86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992"/>
            <a:ext cx="10515600" cy="1325563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A6D676-1DC8-4A9C-81A7-79527C288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162"/>
            <a:ext cx="10515600" cy="5308846"/>
          </a:xfrm>
        </p:spPr>
        <p:txBody>
          <a:bodyPr>
            <a:normAutofit fontScale="92500"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dirty="0"/>
              <a:t>Изучена предметная область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Проведён обзор аналогов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Составлен перечень функциональных задач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Выбраны модели ИНС (CNN, </a:t>
            </a:r>
            <a:r>
              <a:rPr lang="ru-RU" dirty="0" err="1"/>
              <a:t>Transformer</a:t>
            </a:r>
            <a:r>
              <a:rPr lang="ru-RU" dirty="0"/>
              <a:t>, NLP)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Спроектирована функциональная модель и декомпозиция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Выбраны средства разработки (</a:t>
            </a:r>
            <a:r>
              <a:rPr lang="ru-RU" dirty="0" err="1"/>
              <a:t>React</a:t>
            </a:r>
            <a:r>
              <a:rPr lang="ru-RU" dirty="0"/>
              <a:t>, Go, Python, </a:t>
            </a:r>
            <a:r>
              <a:rPr lang="ru-RU" dirty="0" err="1"/>
              <a:t>PostgreSQL</a:t>
            </a:r>
            <a:r>
              <a:rPr lang="ru-RU" dirty="0"/>
              <a:t>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Подготовлена пояснительная записка</a:t>
            </a:r>
          </a:p>
          <a:p>
            <a:pPr algn="just"/>
            <a:endParaRPr lang="ru-RU" dirty="0"/>
          </a:p>
          <a:p>
            <a:pPr marL="0" indent="0" algn="just">
              <a:buNone/>
            </a:pPr>
            <a:r>
              <a:rPr lang="ru-RU" dirty="0"/>
              <a:t>Перспективы развития:</a:t>
            </a:r>
          </a:p>
          <a:p>
            <a:pPr algn="just"/>
            <a:r>
              <a:rPr lang="ru-RU" dirty="0"/>
              <a:t>Замена эвристических алгоритмов на нейросетевые модели агрегации</a:t>
            </a:r>
          </a:p>
          <a:p>
            <a:pPr algn="just"/>
            <a:r>
              <a:rPr lang="ru-RU" dirty="0"/>
              <a:t>Оптимизация потоковой </a:t>
            </a:r>
            <a:r>
              <a:rPr lang="ru-RU" dirty="0" err="1"/>
              <a:t>транскрибации</a:t>
            </a:r>
            <a:r>
              <a:rPr lang="ru-RU" dirty="0"/>
              <a:t> (</a:t>
            </a:r>
            <a:r>
              <a:rPr lang="ru-RU" dirty="0" err="1"/>
              <a:t>streaming</a:t>
            </a:r>
            <a:r>
              <a:rPr lang="ru-RU" dirty="0"/>
              <a:t> ASR)</a:t>
            </a:r>
          </a:p>
          <a:p>
            <a:pPr algn="just"/>
            <a:r>
              <a:rPr lang="ru-RU" dirty="0"/>
              <a:t>Интеграция с корпоративными HRM-системами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9D63931-887F-15C8-43DC-CD5EEB99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8219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875</Words>
  <Application>Microsoft Office PowerPoint</Application>
  <PresentationFormat>Широкоэкранный</PresentationFormat>
  <Paragraphs>134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Times New Roman</vt:lpstr>
      <vt:lpstr>Тема Office</vt:lpstr>
      <vt:lpstr>ВЫПУСКНАЯ КВАЛИФИКАЦИОННАЯ РАБОТА</vt:lpstr>
      <vt:lpstr>Цель и задачи практики</vt:lpstr>
      <vt:lpstr>Актуальность</vt:lpstr>
      <vt:lpstr>Существующие решения:</vt:lpstr>
      <vt:lpstr>BPMN-диаграмма бизнес-процесса</vt:lpstr>
      <vt:lpstr>IDEF0-диаграмма</vt:lpstr>
      <vt:lpstr>Декомпозиция IDEF0</vt:lpstr>
      <vt:lpstr>DFD-диаграмма потоков данных</vt:lpstr>
      <vt:lpstr>ER-модель базы данных</vt:lpstr>
      <vt:lpstr>Логическая модель базы данных</vt:lpstr>
      <vt:lpstr>Средства и технологии разработки</vt:lpstr>
      <vt:lpstr>Средства и технологии разработки</vt:lpstr>
      <vt:lpstr>Алгоритмическое обеспечение. Алгоритм работы программы</vt:lpstr>
      <vt:lpstr>Информационное обеспечение</vt:lpstr>
      <vt:lpstr>Модуль анализа лица и эмоций</vt:lpstr>
      <vt:lpstr>Модуль распознавания речи (ASR)</vt:lpstr>
      <vt:lpstr>Анализ тональности текста (NLP)</vt:lpstr>
      <vt:lpstr>Модель MediaPipe Face Landmarker</vt:lpstr>
      <vt:lpstr>Интерфейс системы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ПРОИЗВОДСТВЕННАЯ ПРАКТИКА, ПРЕДДИПЛОМНАЯ ПРАКТИКА</dc:title>
  <dc:creator>Роман Чирко</dc:creator>
  <cp:lastModifiedBy>Виталий Демьянцев</cp:lastModifiedBy>
  <cp:revision>196</cp:revision>
  <dcterms:created xsi:type="dcterms:W3CDTF">2024-05-28T15:56:43Z</dcterms:created>
  <dcterms:modified xsi:type="dcterms:W3CDTF">2026-06-22T08:16:49Z</dcterms:modified>
</cp:coreProperties>
</file>